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b81e7a529d4a4a" /><Relationship Type="http://schemas.openxmlformats.org/officeDocument/2006/relationships/extended-properties" Target="/docProps/app.xml" Id="R739289b1a3b54897" /><Relationship Type="http://schemas.openxmlformats.org/officeDocument/2006/relationships/officeDocument" Target="/ppt/presentation.xml" Id="Rf40ed7e3ef5c4b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c97ad9db6543ec"/>
  </p:sldMasterIdLst>
  <p:notesMasterIdLst>
    <p:notesMasterId xmlns:r="http://schemas.openxmlformats.org/officeDocument/2006/relationships" r:id="Re7f47b244dc64902"/>
  </p:notesMasterIdLst>
  <p:sldIdLst>
    <p:sldId xmlns:r="http://schemas.openxmlformats.org/officeDocument/2006/relationships" id="256" r:id="R3dacabd696b043a8"/>
    <p:sldId xmlns:r="http://schemas.openxmlformats.org/officeDocument/2006/relationships" id="257" r:id="Rce5e86b8f3a348e8"/>
    <p:sldId xmlns:r="http://schemas.openxmlformats.org/officeDocument/2006/relationships" id="258" r:id="Re727ec9aa3014888"/>
    <p:sldId xmlns:r="http://schemas.openxmlformats.org/officeDocument/2006/relationships" id="259" r:id="R799f8a27bcf74c2b"/>
    <p:sldId xmlns:r="http://schemas.openxmlformats.org/officeDocument/2006/relationships" id="260" r:id="R5e0a1b6fabc54eab"/>
    <p:sldId xmlns:r="http://schemas.openxmlformats.org/officeDocument/2006/relationships" id="261" r:id="Rb31910d66ffe4972"/>
    <p:sldId xmlns:r="http://schemas.openxmlformats.org/officeDocument/2006/relationships" id="262" r:id="R3f5b714fd55a4755"/>
    <p:sldId xmlns:r="http://schemas.openxmlformats.org/officeDocument/2006/relationships" id="263" r:id="Rc86b515afadf47e3"/>
    <p:sldId xmlns:r="http://schemas.openxmlformats.org/officeDocument/2006/relationships" id="264" r:id="Rd502b1d2409445ef"/>
    <p:sldId xmlns:r="http://schemas.openxmlformats.org/officeDocument/2006/relationships" id="265" r:id="R1b4373e2639a4e64"/>
    <p:sldId xmlns:r="http://schemas.openxmlformats.org/officeDocument/2006/relationships" id="266" r:id="Rd81620d966e643d9"/>
    <p:sldId xmlns:r="http://schemas.openxmlformats.org/officeDocument/2006/relationships" id="267" r:id="R42199034a5a648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19818a9eb84b6e" /><Relationship Type="http://schemas.openxmlformats.org/officeDocument/2006/relationships/slideMaster" Target="/ppt/slideMasters/slideMaster1.xml" Id="Rf1c97ad9db6543ec" /><Relationship Type="http://schemas.openxmlformats.org/officeDocument/2006/relationships/notesMaster" Target="/ppt/notesMasters/notesMaster1.xml" Id="Re7f47b244dc64902" /><Relationship Type="http://schemas.openxmlformats.org/officeDocument/2006/relationships/presProps" Target="/ppt/presProps.xml" Id="R5489ba2abdf14b07" /><Relationship Type="http://schemas.openxmlformats.org/officeDocument/2006/relationships/tableStyles" Target="/ppt/tableStyles.xml" Id="Rf3e11f1110fa4fc1" /><Relationship Type="http://schemas.openxmlformats.org/officeDocument/2006/relationships/slide" Target="/ppt/slides/slide1.xml" Id="R3dacabd696b043a8" /><Relationship Type="http://schemas.openxmlformats.org/officeDocument/2006/relationships/slide" Target="/ppt/slides/slide2.xml" Id="Rce5e86b8f3a348e8" /><Relationship Type="http://schemas.openxmlformats.org/officeDocument/2006/relationships/slide" Target="/ppt/slides/slide3.xml" Id="Re727ec9aa3014888" /><Relationship Type="http://schemas.openxmlformats.org/officeDocument/2006/relationships/slide" Target="/ppt/slides/slide4.xml" Id="R799f8a27bcf74c2b" /><Relationship Type="http://schemas.openxmlformats.org/officeDocument/2006/relationships/slide" Target="/ppt/slides/slide5.xml" Id="R5e0a1b6fabc54eab" /><Relationship Type="http://schemas.openxmlformats.org/officeDocument/2006/relationships/slide" Target="/ppt/slides/slide6.xml" Id="Rb31910d66ffe4972" /><Relationship Type="http://schemas.openxmlformats.org/officeDocument/2006/relationships/slide" Target="/ppt/slides/slide7.xml" Id="R3f5b714fd55a4755" /><Relationship Type="http://schemas.openxmlformats.org/officeDocument/2006/relationships/slide" Target="/ppt/slides/slide8.xml" Id="Rc86b515afadf47e3" /><Relationship Type="http://schemas.openxmlformats.org/officeDocument/2006/relationships/slide" Target="/ppt/slides/slide9.xml" Id="Rd502b1d2409445ef" /><Relationship Type="http://schemas.openxmlformats.org/officeDocument/2006/relationships/slide" Target="/ppt/slides/slide10.xml" Id="R1b4373e2639a4e64" /><Relationship Type="http://schemas.openxmlformats.org/officeDocument/2006/relationships/slide" Target="/ppt/slides/slide11.xml" Id="Rd81620d966e643d9" /><Relationship Type="http://schemas.openxmlformats.org/officeDocument/2006/relationships/slide" Target="/ppt/slides/slide12.xml" Id="R42199034a5a648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5eaa48807d4c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c671e972ab4d90" /><Relationship Type="http://schemas.openxmlformats.org/officeDocument/2006/relationships/notesMaster" Target="/ppt/notesMasters/notesMaster1.xml" Id="R1aa49982fe464c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0d9f4202f743c3" /><Relationship Type="http://schemas.openxmlformats.org/officeDocument/2006/relationships/notesMaster" Target="/ppt/notesMasters/notesMaster1.xml" Id="R29047e46c5aa43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e58d3e7d074652" /><Relationship Type="http://schemas.openxmlformats.org/officeDocument/2006/relationships/notesMaster" Target="/ppt/notesMasters/notesMaster1.xml" Id="R82fba819b4b946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35288472b6421f" /><Relationship Type="http://schemas.openxmlformats.org/officeDocument/2006/relationships/notesMaster" Target="/ppt/notesMasters/notesMaster1.xml" Id="R23c7122157724e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00a861690348ab" /><Relationship Type="http://schemas.openxmlformats.org/officeDocument/2006/relationships/notesMaster" Target="/ppt/notesMasters/notesMaster1.xml" Id="R6f673b00e2b048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1e6f281e18423b" /><Relationship Type="http://schemas.openxmlformats.org/officeDocument/2006/relationships/notesMaster" Target="/ppt/notesMasters/notesMaster1.xml" Id="R35e408ee06ac4b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53e08436f64778" /><Relationship Type="http://schemas.openxmlformats.org/officeDocument/2006/relationships/notesMaster" Target="/ppt/notesMasters/notesMaster1.xml" Id="Rc9993c7616da41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172ee3eb8a4bdf" /><Relationship Type="http://schemas.openxmlformats.org/officeDocument/2006/relationships/notesMaster" Target="/ppt/notesMasters/notesMaster1.xml" Id="R18170270d6ce4a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b02fffb32b4f59" /><Relationship Type="http://schemas.openxmlformats.org/officeDocument/2006/relationships/notesMaster" Target="/ppt/notesMasters/notesMaster1.xml" Id="R8c80c14f2a434b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a2c9ca72bf4ddf" /><Relationship Type="http://schemas.openxmlformats.org/officeDocument/2006/relationships/notesMaster" Target="/ppt/notesMasters/notesMaster1.xml" Id="R6ccb9c02fd574d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509d960ccf4cd8" /><Relationship Type="http://schemas.openxmlformats.org/officeDocument/2006/relationships/notesMaster" Target="/ppt/notesMasters/notesMaster1.xml" Id="Ra501b20b9cbe4d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6957ffa1104d50" /><Relationship Type="http://schemas.openxmlformats.org/officeDocument/2006/relationships/notesMaster" Target="/ppt/notesMasters/notesMaster1.xml" Id="R7b7b22ccdd034f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 分钟</a:t>
            </a:r>
          </a:p>
          <a:p xmlns:a="http://schemas.openxmlformats.org/drawingml/2006/main">
            <a:r>
              <a:t>讲师提示：开场先说明：本讲不要求记住全部框架代码，目标是建立后续所有课程共用的地图。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D:\Git\0.KH.WMS\docs\backend\后端开发指引V3教程\README.md</a:t>
            </a:r>
          </a:p>
          <a:p xmlns:a="http://schemas.openxmlformats.org/drawingml/2006/main">
            <a:r>
              <a:t>- D:\Git\0.KH.WMS\docs\backend\后端开发指引V3教程\00-这份文档怎么读.md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讲师提示：逐列说明本讲边界，明确底层机制只讲到业务开发需要理解的程度。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D:\Git\0.KH.WMS\docs\backend\后端开发指引V3教程\README.md</a:t>
            </a:r>
          </a:p>
          <a:p xmlns:a="http://schemas.openxmlformats.org/drawingml/2006/main">
            <a:r>
              <a:t>- D:\Git\0.KH.WMS\docs\backend\后端开发指引V3教程\00-这份文档怎么读.md</a:t>
            </a:r>
          </a:p>
          <a:p xmlns:a="http://schemas.openxmlformats.org/drawingml/2006/main">
            <a:r>
              <a:t>- D:\Git\0.KH.WMS\docs\backend\后端底层概念\README.md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讲师提示：让听众用自己最近一个需求回答四个问题。后续课程会分别解决这四类判断。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D:\Git\0.KH.WMS\docs\backend\后端开发指引V3教程\00-这份文档怎么读.md</a:t>
            </a:r>
          </a:p>
          <a:p xmlns:a="http://schemas.openxmlformats.org/drawingml/2006/main">
            <a:r>
              <a:t>- D:\Git\0.KH.WMS\docs\backend\后端开发指引V3教程\08-后端开发标准流程.md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讲师提示：强调模块不是页面目录，而是业务能力边界。新增需求先找到能力归属方。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D:\Git\0.KH.WMS\docs\backend\后端开发指引V3教程\01-KH.WMS后端整体地图.md</a:t>
            </a:r>
          </a:p>
          <a:p xmlns:a="http://schemas.openxmlformats.org/drawingml/2006/main">
            <a:r>
              <a:t>- D:\Git\0.KH.WMS\docs\backend\后端底层概念\02-模块边界与分层职责.md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讲师提示：用“修改一条库存”举例：外部模块不能绕过 Inventory Contract 直接改库存表。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D:\Git\0.KH.WMS\docs\backend\后端开发指引V3教程\04-职责边界.md</a:t>
            </a:r>
          </a:p>
          <a:p xmlns:a="http://schemas.openxmlformats.org/drawingml/2006/main">
            <a:r>
              <a:t>- D:\Git\0.KH.WMS\docs\backend\后端底层概念\02-模块边界与分层职责.md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讲师提示：指出启动阶段的错误通常表现为构建失败、注入失败或 Swagger 缺失，不要直接怀疑业务方法。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D:\Git\0.KH.WMS\docs\backend\后端开发指引V3教程\02-后端基础配置与启动机制.md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- D:\Git\0.KH.WMS\docs\backend\后端底层概念\01-启动入口与程序集扫描.md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建议时长：7 分钟</a:t>
            </a:r>
          </a:p>
          <a:p xmlns:a="http://schemas.openxmlformats.org/drawingml/2006/main">
            <a:r>
              <a:t>讲师提示：代码只读主线，不展开反射细节。让听众记住“引用、命名、扫描、发现”四层。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D:\Git\0.KH.WMS\docs\backend\后端底层概念\01-启动入口与程序集扫描.md</a:t>
            </a:r>
          </a:p>
          <a:p xmlns:a="http://schemas.openxmlformats.org/drawingml/2006/main">
            <a:r>
              <a:t>- D:\Git\0.KH.WMS\docs\backend\后端底层概念\16-Swagger与OpenAPI接口文档底座.md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讲师提示：说明“注册了服务”不等于“中间件已启用”，限流会在第 8 讲特别说明。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D:\Git\0.KH.WMS\docs\backend\后端开发指引V3教程\02-后端基础配置与启动机制.md</a:t>
            </a:r>
          </a:p>
          <a:p xmlns:a="http://schemas.openxmlformats.org/drawingml/2006/main">
            <a:r>
              <a:t>- D:\Git\0.KH.WMS\docs\backend\后端底层概念\15-应用配置Options与运行时配置边界.md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讲师提示：强调 Swagger 发现和接口调用是两条链：能看到但调用失败时继续查请求管道。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D:\Git\0.KH.WMS\docs\backend\后端底层概念\01-启动入口与程序集扫描.md</a:t>
            </a:r>
          </a:p>
          <a:p xmlns:a="http://schemas.openxmlformats.org/drawingml/2006/main">
            <a:r>
              <a:t>- D:\Git\0.KH.WMS\docs\backend\后端底层概念\16-Swagger与OpenAPI接口文档底座.md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讲师提示：本页只建立概念，第 2 讲再展开 AOP 代理和生命周期。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D:\Git\0.KH.WMS\docs\backend\后端开发指引V3教程\05-服务自动注册RegisteredService.md</a:t>
            </a:r>
          </a:p>
          <a:p xmlns:a="http://schemas.openxmlformats.org/drawingml/2006/main">
            <a:r>
              <a:t>- D:\Git\0.KH.WMS\docs\backend\后端底层概念\03-依赖注入自动注册与AOP代理.md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讲师提示：补充当前 DataMap/InterfaceMiddleware 不是普通业务开发主路径，UseInterfaceMiddleware 处于注释状态。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D:\Git\0.KH.WMS\docs\backend\后端底层概念\10-Config配置底座.md</a:t>
            </a:r>
          </a:p>
          <a:p xmlns:a="http://schemas.openxmlformats.org/drawingml/2006/main">
            <a:r>
              <a:t>- D:\Git\0.KH.WMS\docs\backend\后端底层概念\15-应用配置Options与运行时配置边界.md</a:t>
            </a:r>
          </a:p>
          <a:p xmlns:a="http://schemas.openxmlformats.org/drawingml/2006/main">
            <a:r>
              <a:t>- D:\Git\0.KH.WMS\docs\backend\后端底层概念\README.md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建议时长：7 分钟（含答疑）</a:t>
            </a:r>
          </a:p>
          <a:p xmlns:a="http://schemas.openxmlformats.org/drawingml/2006/main">
            <a:r>
              <a:t>讲师提示：先让成员口头回答，再根据备注补全。最后预告第 2 讲。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D:\Git\0.KH.WMS\docs\backend\后端开发指引V3教程\00-这份文档怎么读.md</a:t>
            </a:r>
          </a:p>
          <a:p xmlns:a="http://schemas.openxmlformats.org/drawingml/2006/main">
            <a:r>
              <a:t>- D:\Git\0.KH.WMS\docs\backend\后端底层概念\README.md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小测参考答案：1. 检查项目引用、.Modules. 命名、程序集扫描、ApplicationPart 注册和构造依赖。2. Controller 管 HTTP，Service 管模块业务，Contract 管跨模块能力。3. 业务运行期规则优先进入 Config 配置库或系统参数。4. 避免自动推断到非预期接口并保证代理注册明确。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21fd87be64d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778dd448304fe7" /><Relationship Type="http://schemas.openxmlformats.org/officeDocument/2006/relationships/slideLayout" Target="/ppt/slideLayouts/slideLayout1.xml" Id="R79f96e97f2684e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f96e97f2684e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c79b772e8438f" /><Relationship Type="http://schemas.openxmlformats.org/officeDocument/2006/relationships/notesSlide" Target="/ppt/notesSlides/notesSlide1.xml" Id="R2c210e16db984d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580cd8454402d" /><Relationship Type="http://schemas.openxmlformats.org/officeDocument/2006/relationships/notesSlide" Target="/ppt/notesSlides/notesSlide2.xml" Id="Rfad6715521ed43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f183ec7d14a77" /><Relationship Type="http://schemas.openxmlformats.org/officeDocument/2006/relationships/notesSlide" Target="/ppt/notesSlides/notesSlide3.xml" Id="R7e9c8d25d3704a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a103a46bd4ab6" /><Relationship Type="http://schemas.openxmlformats.org/officeDocument/2006/relationships/notesSlide" Target="/ppt/notesSlides/notesSlide4.xml" Id="R7a0e387ecd9e42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344c52d09411f" /><Relationship Type="http://schemas.openxmlformats.org/officeDocument/2006/relationships/notesSlide" Target="/ppt/notesSlides/notesSlide5.xml" Id="R9b05d6b9ed1f40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079c5856f4756" /><Relationship Type="http://schemas.openxmlformats.org/officeDocument/2006/relationships/notesSlide" Target="/ppt/notesSlides/notesSlide6.xml" Id="R0bc03e215c9442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814fc89004b3a" /><Relationship Type="http://schemas.openxmlformats.org/officeDocument/2006/relationships/notesSlide" Target="/ppt/notesSlides/notesSlide7.xml" Id="Rf216ef244a624a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5915329084908" /><Relationship Type="http://schemas.openxmlformats.org/officeDocument/2006/relationships/notesSlide" Target="/ppt/notesSlides/notesSlide8.xml" Id="Rfe8845eb99f349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dc4dcfdd24995" /><Relationship Type="http://schemas.openxmlformats.org/officeDocument/2006/relationships/notesSlide" Target="/ppt/notesSlides/notesSlide9.xml" Id="R6aa16f04827f4d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af2c29fde4bfd" /><Relationship Type="http://schemas.openxmlformats.org/officeDocument/2006/relationships/notesSlide" Target="/ppt/notesSlides/notesSlide10.xml" Id="Rc02be975ac404d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7bc9fbe9040cd" /><Relationship Type="http://schemas.openxmlformats.org/officeDocument/2006/relationships/notesSlide" Target="/ppt/notesSlides/notesSlide11.xml" Id="Rc50c6c49c17449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5d1345d0745fe" /><Relationship Type="http://schemas.openxmlformats.org/officeDocument/2006/relationships/notesSlide" Target="/ppt/notesSlides/notesSlide12.xml" Id="R10c5ac9c391f4c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4FC8ABE1-760B-4EAE-8BF2-6E556DEA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47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KH.WMS 后端培训系列  ·  01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186DF3DF-C557-4AB5-8059-4B15BC9D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12776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KH.WMS 后端全景与启动机制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9C55231-7C24-4B11-A904-5DA5C365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EEF593A-0CCA-49B5-9697-210EDD49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723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先建立系统地图，再理解代码为什么能够被发现和运行</a:t>
            </a:r>
          </a:p>
        </p:txBody>
      </p:sp>
      <p:sp>
        <p:nvSpPr>
          <p:cNvPr id="5" name="audience">
            <a:extLst xmlns:a="http://schemas.openxmlformats.org/drawingml/2006/main">
              <a:ext uri="{FF2B5EF4-FFF2-40B4-BE49-F238E27FC236}">
                <a16:creationId xmlns:a16="http://schemas.microsoft.com/office/drawing/2014/main" id="{E57938F3-165A-4336-8914-3D8D18A3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面向：后端新人及已有项目经验成员</a:t>
            </a:r>
          </a:p>
        </p:txBody>
      </p:sp>
    </p:spTree>
    <p:extLst>
      <p:ext uri="{BB962C8B-B14F-4D97-AF65-F5344CB8AC3E}">
        <p14:creationId xmlns:p14="http://schemas.microsoft.com/office/powerpoint/2010/main" val="16482591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0AE76F-DEA4-4A01-A0EB-F326DE4A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本次培训讲哪些知识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7632DB8-C295-4F0B-B0FB-7DAF101C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3EE09085-9C65-4A21-A94D-831048F4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01 · 后端全景与启动机制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2859CD1-CBB2-4D91-84BF-45D9E008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12</a:t>
            </a:r>
          </a:p>
        </p:txBody>
      </p:sp>
      <p:sp>
        <p:nvSpPr>
          <p:cNvPr id="5" name="scope-band-0">
            <a:extLst xmlns:a="http://schemas.openxmlformats.org/drawingml/2006/main">
              <a:ext uri="{FF2B5EF4-FFF2-40B4-BE49-F238E27FC236}">
                <a16:creationId xmlns:a16="http://schemas.microsoft.com/office/drawing/2014/main" id="{67FC68CE-6532-412D-8E10-9896199A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scope-label-0">
            <a:extLst xmlns:a="http://schemas.openxmlformats.org/drawingml/2006/main">
              <a:ext uri="{FF2B5EF4-FFF2-40B4-BE49-F238E27FC236}">
                <a16:creationId xmlns:a16="http://schemas.microsoft.com/office/drawing/2014/main" id="{CB9B7221-009F-4580-9B68-77374A2F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知识范围</a:t>
            </a:r>
          </a:p>
        </p:txBody>
      </p:sp>
      <p:sp>
        <p:nvSpPr>
          <p:cNvPr id="7" name="scope-body-0">
            <a:extLst xmlns:a="http://schemas.openxmlformats.org/drawingml/2006/main">
              <a:ext uri="{FF2B5EF4-FFF2-40B4-BE49-F238E27FC236}">
                <a16:creationId xmlns:a16="http://schemas.microsoft.com/office/drawing/2014/main" id="{F881F908-8C45-4579-92CE-C35DA374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培训路线与四个开发判断
• 业务模块、分层职责与引用方向
• Program 启动、基础设施注册和程序集扫描
• 启动配置与运行时业务配置边界</a:t>
            </a:r>
          </a:p>
        </p:txBody>
      </p:sp>
      <p:sp>
        <p:nvSpPr>
          <p:cNvPr id="8" name="scope-band-1">
            <a:extLst xmlns:a="http://schemas.openxmlformats.org/drawingml/2006/main">
              <a:ext uri="{FF2B5EF4-FFF2-40B4-BE49-F238E27FC236}">
                <a16:creationId xmlns:a16="http://schemas.microsoft.com/office/drawing/2014/main" id="{D06EDCAB-FD71-43DB-8CFF-A73A7BC8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scope-label-1">
            <a:extLst xmlns:a="http://schemas.openxmlformats.org/drawingml/2006/main">
              <a:ext uri="{FF2B5EF4-FFF2-40B4-BE49-F238E27FC236}">
                <a16:creationId xmlns:a16="http://schemas.microsoft.com/office/drawing/2014/main" id="{6858B41B-7723-46DB-BCA3-06EEF2D4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前置知识</a:t>
            </a:r>
          </a:p>
        </p:txBody>
      </p:sp>
      <p:sp>
        <p:nvSpPr>
          <p:cNvPr id="10" name="scope-body-1">
            <a:extLst xmlns:a="http://schemas.openxmlformats.org/drawingml/2006/main">
              <a:ext uri="{FF2B5EF4-FFF2-40B4-BE49-F238E27FC236}">
                <a16:creationId xmlns:a16="http://schemas.microsoft.com/office/drawing/2014/main" id="{80E1FE04-83D2-48F5-948E-84802128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了解 C#、ASP.NET Core 基础概念
• 能在仓库中定位项目和目录
• 暂不要求熟悉 Autofac、SqlSugar 或 AOP</a:t>
            </a:r>
          </a:p>
        </p:txBody>
      </p:sp>
      <p:sp>
        <p:nvSpPr>
          <p:cNvPr id="11" name="scope-band-2">
            <a:extLst xmlns:a="http://schemas.openxmlformats.org/drawingml/2006/main">
              <a:ext uri="{FF2B5EF4-FFF2-40B4-BE49-F238E27FC236}">
                <a16:creationId xmlns:a16="http://schemas.microsoft.com/office/drawing/2014/main" id="{2FBCE362-DC9F-4ECD-A3B0-4EDCB054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solidFill>
              <a:srgbClr val="EEF7F1"/>
            </a:solidFill>
            <a:prstDash val="solid"/>
          </a:ln>
        </p:spPr>
      </p:sp>
      <p:sp>
        <p:nvSpPr>
          <p:cNvPr id="12" name="scope-label-2">
            <a:extLst xmlns:a="http://schemas.openxmlformats.org/drawingml/2006/main">
              <a:ext uri="{FF2B5EF4-FFF2-40B4-BE49-F238E27FC236}">
                <a16:creationId xmlns:a16="http://schemas.microsoft.com/office/drawing/2014/main" id="{2D87533C-5EDB-4785-BB8C-94103475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学完应会</a:t>
            </a:r>
          </a:p>
        </p:txBody>
      </p:sp>
      <p:sp>
        <p:nvSpPr>
          <p:cNvPr id="13" name="scope-body-2">
            <a:extLst xmlns:a="http://schemas.openxmlformats.org/drawingml/2006/main">
              <a:ext uri="{FF2B5EF4-FFF2-40B4-BE49-F238E27FC236}">
                <a16:creationId xmlns:a16="http://schemas.microsoft.com/office/drawing/2014/main" id="{2C89EDAF-B8A4-4318-A601-31EB3CDE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接到需求时先判断归属模块和需求类型
• 能解释 Controller、Service、Contract 各自职责
• Swagger 缺接口时知道检查扫描链路
• 知道配置应放 appsettings 还是 Config 底座</a:t>
            </a:r>
          </a:p>
        </p:txBody>
      </p:sp>
    </p:spTree>
    <p:extLst>
      <p:ext uri="{BB962C8B-B14F-4D97-AF65-F5344CB8AC3E}">
        <p14:creationId xmlns:p14="http://schemas.microsoft.com/office/powerpoint/2010/main" val="1711497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FD7616-2B2B-44CD-BFBD-C5ED0FE6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开始写代码前，先回答四个问题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94F808B-8815-452A-BD12-409DCB17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ED0859B6-0A0F-403E-8398-21E5856C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01 · 后端全景与启动机制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4527CE-467E-4E6B-B539-9D046E0E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12</a:t>
            </a:r>
          </a:p>
        </p:txBody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C1377DFD-5631-45C3-9601-2A7D7718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代码写得快，不代表落点正确；先做边界判断，才能少返工。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270D9892-4285-4DBC-AE04-9EE315C9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tatement-index-0">
            <a:extLst xmlns:a="http://schemas.openxmlformats.org/drawingml/2006/main">
              <a:ext uri="{FF2B5EF4-FFF2-40B4-BE49-F238E27FC236}">
                <a16:creationId xmlns:a16="http://schemas.microsoft.com/office/drawing/2014/main" id="{5A1D85C2-5AC3-4874-B7CE-025F59CD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statement-point-0">
            <a:extLst xmlns:a="http://schemas.openxmlformats.org/drawingml/2006/main">
              <a:ext uri="{FF2B5EF4-FFF2-40B4-BE49-F238E27FC236}">
                <a16:creationId xmlns:a16="http://schemas.microsoft.com/office/drawing/2014/main" id="{2608CA52-9BB5-472E-9B72-2CDEA44C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需求归属哪个业务模块？</a:t>
            </a:r>
          </a:p>
        </p:txBody>
      </p:sp>
      <p:sp>
        <p:nvSpPr>
          <p:cNvPr id="9" name="statement-index-1">
            <a:extLst xmlns:a="http://schemas.openxmlformats.org/drawingml/2006/main">
              <a:ext uri="{FF2B5EF4-FFF2-40B4-BE49-F238E27FC236}">
                <a16:creationId xmlns:a16="http://schemas.microsoft.com/office/drawing/2014/main" id="{25509DAD-25C3-48AF-A45C-C2EE929F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statement-point-1">
            <a:extLst xmlns:a="http://schemas.openxmlformats.org/drawingml/2006/main">
              <a:ext uri="{FF2B5EF4-FFF2-40B4-BE49-F238E27FC236}">
                <a16:creationId xmlns:a16="http://schemas.microsoft.com/office/drawing/2014/main" id="{6A129DCD-430B-448A-AD87-7F0D17AD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是普通 CRUD 还是流程型接口？</a:t>
            </a:r>
          </a:p>
        </p:txBody>
      </p:sp>
      <p:sp>
        <p:nvSpPr>
          <p:cNvPr id="11" name="statement-index-2">
            <a:extLst xmlns:a="http://schemas.openxmlformats.org/drawingml/2006/main">
              <a:ext uri="{FF2B5EF4-FFF2-40B4-BE49-F238E27FC236}">
                <a16:creationId xmlns:a16="http://schemas.microsoft.com/office/drawing/2014/main" id="{DD058D99-D566-4F69-B12A-9F385607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2" name="statement-point-2">
            <a:extLst xmlns:a="http://schemas.openxmlformats.org/drawingml/2006/main">
              <a:ext uri="{FF2B5EF4-FFF2-40B4-BE49-F238E27FC236}">
                <a16:creationId xmlns:a16="http://schemas.microsoft.com/office/drawing/2014/main" id="{FE365E2F-C69D-4ECC-8B72-D53435C3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是否需要跨模块 Contract？</a:t>
            </a:r>
          </a:p>
        </p:txBody>
      </p:sp>
      <p:sp>
        <p:nvSpPr>
          <p:cNvPr id="13" name="statement-index-3">
            <a:extLst xmlns:a="http://schemas.openxmlformats.org/drawingml/2006/main">
              <a:ext uri="{FF2B5EF4-FFF2-40B4-BE49-F238E27FC236}">
                <a16:creationId xmlns:a16="http://schemas.microsoft.com/office/drawing/2014/main" id="{AA4FE064-328D-4381-82A0-5599C453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4" name="statement-point-3">
            <a:extLst xmlns:a="http://schemas.openxmlformats.org/drawingml/2006/main">
              <a:ext uri="{FF2B5EF4-FFF2-40B4-BE49-F238E27FC236}">
                <a16:creationId xmlns:a16="http://schemas.microsoft.com/office/drawing/2014/main" id="{3557C812-D990-4E0A-84AA-E31F0794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是否涉及事务或可配置校验？</a:t>
            </a:r>
          </a:p>
        </p:txBody>
      </p:sp>
    </p:spTree>
    <p:extLst>
      <p:ext uri="{BB962C8B-B14F-4D97-AF65-F5344CB8AC3E}">
        <p14:creationId xmlns:p14="http://schemas.microsoft.com/office/powerpoint/2010/main" val="166630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AEEDFC-BE21-4DF1-9B62-D3BAAFC3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后端由业务模块和共享底座共同组成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A224392-B772-47F0-9C3D-0E2901EE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249F67C4-7759-45FB-9044-CB836AC2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01 · 后端全景与启动机制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0BC42F8-ADEC-4181-85DF-C2E15D67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12</a:t>
            </a:r>
          </a:p>
        </p:txBody>
      </p:sp>
      <p:sp>
        <p:nvSpPr>
          <p:cNvPr id="5" name="grid-intro">
            <a:extLst xmlns:a="http://schemas.openxmlformats.org/drawingml/2006/main">
              <a:ext uri="{FF2B5EF4-FFF2-40B4-BE49-F238E27FC236}">
                <a16:creationId xmlns:a16="http://schemas.microsoft.com/office/drawing/2014/main" id="{4F43F208-9A06-4248-A113-831B9D2A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业务能力按领域拆分；共享能力放在 Core、Config、Contracts、Algorithms 等底座中。</a:t>
            </a:r>
          </a:p>
        </p:txBody>
      </p:sp>
      <p:sp>
        <p:nvSpPr>
          <p:cNvPr id="6" name="grid-panel-0">
            <a:extLst xmlns:a="http://schemas.openxmlformats.org/drawingml/2006/main">
              <a:ext uri="{FF2B5EF4-FFF2-40B4-BE49-F238E27FC236}">
                <a16:creationId xmlns:a16="http://schemas.microsoft.com/office/drawing/2014/main" id="{C8EEB045-A28C-4E37-B2B8-FA073C67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61937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7" name="grid-title-0">
            <a:extLst xmlns:a="http://schemas.openxmlformats.org/drawingml/2006/main">
              <a:ext uri="{FF2B5EF4-FFF2-40B4-BE49-F238E27FC236}">
                <a16:creationId xmlns:a16="http://schemas.microsoft.com/office/drawing/2014/main" id="{1DCE4952-4369-4B95-9412-B88BF377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2276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BaseData</a:t>
            </a:r>
          </a:p>
        </p:txBody>
      </p:sp>
      <p:sp>
        <p:nvSpPr>
          <p:cNvPr id="8" name="grid-body-0">
            <a:extLst xmlns:a="http://schemas.openxmlformats.org/drawingml/2006/main">
              <a:ext uri="{FF2B5EF4-FFF2-40B4-BE49-F238E27FC236}">
                <a16:creationId xmlns:a16="http://schemas.microsoft.com/office/drawing/2014/main" id="{CB958CEB-556B-49C5-A2CC-81F83EA1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2276475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物料、客户、供应商等基础资料。</a:t>
            </a:r>
          </a:p>
        </p:txBody>
      </p:sp>
      <p:sp>
        <p:nvSpPr>
          <p:cNvPr id="9" name="grid-panel-1">
            <a:extLst xmlns:a="http://schemas.openxmlformats.org/drawingml/2006/main">
              <a:ext uri="{FF2B5EF4-FFF2-40B4-BE49-F238E27FC236}">
                <a16:creationId xmlns:a16="http://schemas.microsoft.com/office/drawing/2014/main" id="{CC262621-731E-4B06-8B97-EFA695B0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81200"/>
            <a:ext cx="261937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solidFill>
              <a:srgbClr val="F8F9FA"/>
            </a:solidFill>
            <a:prstDash val="solid"/>
          </a:ln>
        </p:spPr>
      </p:sp>
      <p:sp>
        <p:nvSpPr>
          <p:cNvPr id="10" name="grid-title-1">
            <a:extLst xmlns:a="http://schemas.openxmlformats.org/drawingml/2006/main">
              <a:ext uri="{FF2B5EF4-FFF2-40B4-BE49-F238E27FC236}">
                <a16:creationId xmlns:a16="http://schemas.microsoft.com/office/drawing/2014/main" id="{23D95D33-DD51-4332-B009-88D970CB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52650"/>
            <a:ext cx="2276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Inbound</a:t>
            </a:r>
          </a:p>
        </p:txBody>
      </p:sp>
      <p:sp>
        <p:nvSpPr>
          <p:cNvPr id="11" name="grid-body-1">
            <a:extLst xmlns:a="http://schemas.openxmlformats.org/drawingml/2006/main">
              <a:ext uri="{FF2B5EF4-FFF2-40B4-BE49-F238E27FC236}">
                <a16:creationId xmlns:a16="http://schemas.microsoft.com/office/drawing/2014/main" id="{7781811F-3649-4AE8-9B82-43E5AF2B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705100"/>
            <a:ext cx="2276475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入库订单、组盘、上架请求。</a:t>
            </a:r>
          </a:p>
        </p:txBody>
      </p:sp>
      <p:sp>
        <p:nvSpPr>
          <p:cNvPr id="12" name="grid-panel-2">
            <a:extLst xmlns:a="http://schemas.openxmlformats.org/drawingml/2006/main">
              <a:ext uri="{FF2B5EF4-FFF2-40B4-BE49-F238E27FC236}">
                <a16:creationId xmlns:a16="http://schemas.microsoft.com/office/drawing/2014/main" id="{8D2696DB-B33A-497D-9A34-B81FB81C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81200"/>
            <a:ext cx="261937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3" name="grid-title-2">
            <a:extLst xmlns:a="http://schemas.openxmlformats.org/drawingml/2006/main">
              <a:ext uri="{FF2B5EF4-FFF2-40B4-BE49-F238E27FC236}">
                <a16:creationId xmlns:a16="http://schemas.microsoft.com/office/drawing/2014/main" id="{2BC6A4A4-55AC-498B-A833-C23B5071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2276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Inventory</a:t>
            </a:r>
          </a:p>
        </p:txBody>
      </p:sp>
      <p:sp>
        <p:nvSpPr>
          <p:cNvPr id="14" name="grid-body-2">
            <a:extLst xmlns:a="http://schemas.openxmlformats.org/drawingml/2006/main">
              <a:ext uri="{FF2B5EF4-FFF2-40B4-BE49-F238E27FC236}">
                <a16:creationId xmlns:a16="http://schemas.microsoft.com/office/drawing/2014/main" id="{E509C926-6DA8-4FC6-88C3-DDB9AC12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5100"/>
            <a:ext cx="2276475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库存、库存移动与占用。</a:t>
            </a:r>
          </a:p>
        </p:txBody>
      </p:sp>
      <p:sp>
        <p:nvSpPr>
          <p:cNvPr id="15" name="grid-panel-3">
            <a:extLst xmlns:a="http://schemas.openxmlformats.org/drawingml/2006/main">
              <a:ext uri="{FF2B5EF4-FFF2-40B4-BE49-F238E27FC236}">
                <a16:creationId xmlns:a16="http://schemas.microsoft.com/office/drawing/2014/main" id="{C27858E6-886A-45FC-AE4E-238ED078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981200"/>
            <a:ext cx="261937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solidFill>
              <a:srgbClr val="F8F9FA"/>
            </a:solidFill>
            <a:prstDash val="solid"/>
          </a:ln>
        </p:spPr>
      </p:sp>
      <p:sp>
        <p:nvSpPr>
          <p:cNvPr id="16" name="grid-title-3">
            <a:extLst xmlns:a="http://schemas.openxmlformats.org/drawingml/2006/main">
              <a:ext uri="{FF2B5EF4-FFF2-40B4-BE49-F238E27FC236}">
                <a16:creationId xmlns:a16="http://schemas.microsoft.com/office/drawing/2014/main" id="{5F8FA771-C52E-4A1E-96EE-01D83AFE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52650"/>
            <a:ext cx="2276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Outbound</a:t>
            </a:r>
          </a:p>
        </p:txBody>
      </p:sp>
      <p:sp>
        <p:nvSpPr>
          <p:cNvPr id="17" name="grid-body-3">
            <a:extLst xmlns:a="http://schemas.openxmlformats.org/drawingml/2006/main">
              <a:ext uri="{FF2B5EF4-FFF2-40B4-BE49-F238E27FC236}">
                <a16:creationId xmlns:a16="http://schemas.microsoft.com/office/drawing/2014/main" id="{69741DE7-0364-4E5E-9F9C-359EE4EE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05100"/>
            <a:ext cx="2276475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出库订单、分配与拣货。</a:t>
            </a:r>
          </a:p>
        </p:txBody>
      </p:sp>
      <p:sp>
        <p:nvSpPr>
          <p:cNvPr id="18" name="grid-panel-4">
            <a:extLst xmlns:a="http://schemas.openxmlformats.org/drawingml/2006/main">
              <a:ext uri="{FF2B5EF4-FFF2-40B4-BE49-F238E27FC236}">
                <a16:creationId xmlns:a16="http://schemas.microsoft.com/office/drawing/2014/main" id="{BB798E7C-423B-4EC0-965E-BB265C2A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261937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9" name="grid-title-4">
            <a:extLst xmlns:a="http://schemas.openxmlformats.org/drawingml/2006/main">
              <a:ext uri="{FF2B5EF4-FFF2-40B4-BE49-F238E27FC236}">
                <a16:creationId xmlns:a16="http://schemas.microsoft.com/office/drawing/2014/main" id="{16ACADE5-EFEA-48D2-ADFE-645A45C1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2276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Task</a:t>
            </a:r>
          </a:p>
        </p:txBody>
      </p:sp>
      <p:sp>
        <p:nvSpPr>
          <p:cNvPr id="20" name="grid-body-4">
            <a:extLst xmlns:a="http://schemas.openxmlformats.org/drawingml/2006/main">
              <a:ext uri="{FF2B5EF4-FFF2-40B4-BE49-F238E27FC236}">
                <a16:creationId xmlns:a16="http://schemas.microsoft.com/office/drawing/2014/main" id="{F5C48EF7-5E45-4004-B02A-002A2063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2276475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任务生成、执行与完成。</a:t>
            </a:r>
          </a:p>
        </p:txBody>
      </p:sp>
      <p:sp>
        <p:nvSpPr>
          <p:cNvPr id="21" name="grid-panel-5">
            <a:extLst xmlns:a="http://schemas.openxmlformats.org/drawingml/2006/main">
              <a:ext uri="{FF2B5EF4-FFF2-40B4-BE49-F238E27FC236}">
                <a16:creationId xmlns:a16="http://schemas.microsoft.com/office/drawing/2014/main" id="{01951E98-F210-4ADA-B974-84525C7C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381500"/>
            <a:ext cx="261937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solidFill>
              <a:srgbClr val="F8F9FA"/>
            </a:solidFill>
            <a:prstDash val="solid"/>
          </a:ln>
        </p:spPr>
      </p:sp>
      <p:sp>
        <p:nvSpPr>
          <p:cNvPr id="22" name="grid-title-5">
            <a:extLst xmlns:a="http://schemas.openxmlformats.org/drawingml/2006/main">
              <a:ext uri="{FF2B5EF4-FFF2-40B4-BE49-F238E27FC236}">
                <a16:creationId xmlns:a16="http://schemas.microsoft.com/office/drawing/2014/main" id="{26ABB246-6D8F-4F0B-8DDE-B39F329C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552950"/>
            <a:ext cx="2276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Warehouse</a:t>
            </a:r>
          </a:p>
        </p:txBody>
      </p:sp>
      <p:sp>
        <p:nvSpPr>
          <p:cNvPr id="23" name="grid-body-5">
            <a:extLst xmlns:a="http://schemas.openxmlformats.org/drawingml/2006/main">
              <a:ext uri="{FF2B5EF4-FFF2-40B4-BE49-F238E27FC236}">
                <a16:creationId xmlns:a16="http://schemas.microsoft.com/office/drawing/2014/main" id="{D24AF66D-4BC5-4686-AA25-2722B82A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105400"/>
            <a:ext cx="2276475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仓库、库区、货位等仓储基础。</a:t>
            </a:r>
          </a:p>
        </p:txBody>
      </p:sp>
      <p:sp>
        <p:nvSpPr>
          <p:cNvPr id="24" name="grid-panel-6">
            <a:extLst xmlns:a="http://schemas.openxmlformats.org/drawingml/2006/main">
              <a:ext uri="{FF2B5EF4-FFF2-40B4-BE49-F238E27FC236}">
                <a16:creationId xmlns:a16="http://schemas.microsoft.com/office/drawing/2014/main" id="{586482D0-E1BD-476E-8423-5AC3B26E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81500"/>
            <a:ext cx="261937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5" name="grid-title-6">
            <a:extLst xmlns:a="http://schemas.openxmlformats.org/drawingml/2006/main">
              <a:ext uri="{FF2B5EF4-FFF2-40B4-BE49-F238E27FC236}">
                <a16:creationId xmlns:a16="http://schemas.microsoft.com/office/drawing/2014/main" id="{CE3D3ED1-5028-4104-9913-A2DDF1A4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52950"/>
            <a:ext cx="2276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System</a:t>
            </a:r>
          </a:p>
        </p:txBody>
      </p:sp>
      <p:sp>
        <p:nvSpPr>
          <p:cNvPr id="26" name="grid-body-6">
            <a:extLst xmlns:a="http://schemas.openxmlformats.org/drawingml/2006/main">
              <a:ext uri="{FF2B5EF4-FFF2-40B4-BE49-F238E27FC236}">
                <a16:creationId xmlns:a16="http://schemas.microsoft.com/office/drawing/2014/main" id="{6B85F78A-A8B3-463B-BDC4-861452C5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2276475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用户、角色、权限与系统维护。</a:t>
            </a:r>
          </a:p>
        </p:txBody>
      </p:sp>
      <p:sp>
        <p:nvSpPr>
          <p:cNvPr id="27" name="grid-panel-7">
            <a:extLst xmlns:a="http://schemas.openxmlformats.org/drawingml/2006/main">
              <a:ext uri="{FF2B5EF4-FFF2-40B4-BE49-F238E27FC236}">
                <a16:creationId xmlns:a16="http://schemas.microsoft.com/office/drawing/2014/main" id="{C70D39DA-2A9E-4A67-9751-B4F7DF7C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381500"/>
            <a:ext cx="261937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solidFill>
              <a:srgbClr val="F8F9FA"/>
            </a:solidFill>
            <a:prstDash val="solid"/>
          </a:ln>
        </p:spPr>
      </p:sp>
      <p:sp>
        <p:nvSpPr>
          <p:cNvPr id="28" name="grid-title-7">
            <a:extLst xmlns:a="http://schemas.openxmlformats.org/drawingml/2006/main">
              <a:ext uri="{FF2B5EF4-FFF2-40B4-BE49-F238E27FC236}">
                <a16:creationId xmlns:a16="http://schemas.microsoft.com/office/drawing/2014/main" id="{5F73D844-5D9B-489F-AC5B-A81C67C7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552950"/>
            <a:ext cx="22764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Dashboard</a:t>
            </a:r>
          </a:p>
        </p:txBody>
      </p:sp>
      <p:sp>
        <p:nvSpPr>
          <p:cNvPr id="29" name="grid-body-7">
            <a:extLst xmlns:a="http://schemas.openxmlformats.org/drawingml/2006/main">
              <a:ext uri="{FF2B5EF4-FFF2-40B4-BE49-F238E27FC236}">
                <a16:creationId xmlns:a16="http://schemas.microsoft.com/office/drawing/2014/main" id="{C022425F-5723-408E-8A4C-78A271AE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105400"/>
            <a:ext cx="2276475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首页看板和聚合展示。</a:t>
            </a:r>
          </a:p>
        </p:txBody>
      </p:sp>
    </p:spTree>
    <p:extLst>
      <p:ext uri="{BB962C8B-B14F-4D97-AF65-F5344CB8AC3E}">
        <p14:creationId xmlns:p14="http://schemas.microsoft.com/office/powerpoint/2010/main" val="200505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48C1B8-9C04-4380-A9F3-835F0486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分层职责决定代码应该落在哪里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1D6E89F-F664-4821-B2BB-67964A75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8317F2B2-6179-470B-A58B-29AAC4E4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01 · 后端全景与启动机制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E100EEA-4060-40CA-95F0-EFD5BE55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12</a:t>
            </a:r>
          </a:p>
        </p:txBody>
      </p:sp>
      <p:sp>
        <p:nvSpPr>
          <p:cNvPr id="5" name="column-title-0">
            <a:extLst xmlns:a="http://schemas.openxmlformats.org/drawingml/2006/main">
              <a:ext uri="{FF2B5EF4-FFF2-40B4-BE49-F238E27FC236}">
                <a16:creationId xmlns:a16="http://schemas.microsoft.com/office/drawing/2014/main" id="{DCB8B169-0607-459B-90DC-DEE1C8C4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60508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Entity / DTO</a:t>
            </a:r>
          </a:p>
        </p:txBody>
      </p:sp>
      <p:sp>
        <p:nvSpPr>
          <p:cNvPr id="6" name="column-body-0">
            <a:extLst xmlns:a="http://schemas.openxmlformats.org/drawingml/2006/main">
              <a:ext uri="{FF2B5EF4-FFF2-40B4-BE49-F238E27FC236}">
                <a16:creationId xmlns:a16="http://schemas.microsoft.com/office/drawing/2014/main" id="{4934861B-16D6-424A-8BB7-8E3DA4CC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2605088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Entity 表达持久化结构；DTO 表达接口输入输出。不要让前端协议直接绑死数据库模型。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748331F4-A559-41AF-B681-333575AD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16192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column-title-1">
            <a:extLst xmlns:a="http://schemas.openxmlformats.org/drawingml/2006/main">
              <a:ext uri="{FF2B5EF4-FFF2-40B4-BE49-F238E27FC236}">
                <a16:creationId xmlns:a16="http://schemas.microsoft.com/office/drawing/2014/main" id="{AF2CDB7D-36DB-401B-A17D-56ED4B56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619250"/>
            <a:ext cx="260508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Service</a:t>
            </a:r>
          </a:p>
        </p:txBody>
      </p:sp>
      <p:sp>
        <p:nvSpPr>
          <p:cNvPr id="9" name="column-body-1">
            <a:extLst xmlns:a="http://schemas.openxmlformats.org/drawingml/2006/main">
              <a:ext uri="{FF2B5EF4-FFF2-40B4-BE49-F238E27FC236}">
                <a16:creationId xmlns:a16="http://schemas.microsoft.com/office/drawing/2014/main" id="{1C7CD51D-0787-4308-8960-6F539750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514600"/>
            <a:ext cx="2605088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承载模块内业务规则、仓储访问、流程编排和 CRUD 扩展钩子。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AA00AD19-B52B-42B9-81B0-3FB7F3F8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column-title-2">
            <a:extLst xmlns:a="http://schemas.openxmlformats.org/drawingml/2006/main">
              <a:ext uri="{FF2B5EF4-FFF2-40B4-BE49-F238E27FC236}">
                <a16:creationId xmlns:a16="http://schemas.microsoft.com/office/drawing/2014/main" id="{1744C690-6BF7-4585-A361-97489F39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19250"/>
            <a:ext cx="260508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Controller</a:t>
            </a:r>
          </a:p>
        </p:txBody>
      </p:sp>
      <p:sp>
        <p:nvSpPr>
          <p:cNvPr id="12" name="column-body-2">
            <a:extLst xmlns:a="http://schemas.openxmlformats.org/drawingml/2006/main">
              <a:ext uri="{FF2B5EF4-FFF2-40B4-BE49-F238E27FC236}">
                <a16:creationId xmlns:a16="http://schemas.microsoft.com/office/drawing/2014/main" id="{6283CC1B-9F34-4730-A3A5-0132BE92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14600"/>
            <a:ext cx="2605088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只负责 HTTP 入口、参数接收和返回结果，不承载复杂业务。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52FF1FBF-328D-4245-A7AB-AD51C3E6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38" y="16192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column-title-3">
            <a:extLst xmlns:a="http://schemas.openxmlformats.org/drawingml/2006/main">
              <a:ext uri="{FF2B5EF4-FFF2-40B4-BE49-F238E27FC236}">
                <a16:creationId xmlns:a16="http://schemas.microsoft.com/office/drawing/2014/main" id="{6DDB1001-ADDF-41CC-A540-E533D4D6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1619250"/>
            <a:ext cx="260508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Contract</a:t>
            </a:r>
          </a:p>
        </p:txBody>
      </p:sp>
      <p:sp>
        <p:nvSpPr>
          <p:cNvPr id="15" name="column-body-3">
            <a:extLst xmlns:a="http://schemas.openxmlformats.org/drawingml/2006/main">
              <a:ext uri="{FF2B5EF4-FFF2-40B4-BE49-F238E27FC236}">
                <a16:creationId xmlns:a16="http://schemas.microsoft.com/office/drawing/2014/main" id="{AB22E1CB-3D72-4620-A246-130D4853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514600"/>
            <a:ext cx="2605088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只暴露跨模块所需能力；调用方依赖接口，不直接引用对方 Service。</a:t>
            </a:r>
          </a:p>
        </p:txBody>
      </p:sp>
    </p:spTree>
    <p:extLst>
      <p:ext uri="{BB962C8B-B14F-4D97-AF65-F5344CB8AC3E}">
        <p14:creationId xmlns:p14="http://schemas.microsoft.com/office/powerpoint/2010/main" val="9364378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4EB210-4C92-4197-900A-519AFD29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Program.cs 的工作是把宿主、服务和请求管道拼起来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5B528DD-BABF-4AF3-BC1A-20A65D69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C526B560-C2DE-4BFA-95B9-B8DEAC79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01 · 后端全景与启动机制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8A0B9E7-6526-418D-9AA5-D32214D4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/ 12</a:t>
            </a:r>
          </a:p>
        </p:txBody>
      </p:sp>
      <p:sp>
        <p:nvSpPr>
          <p:cNvPr id="5" name="flow-intro">
            <a:extLst xmlns:a="http://schemas.openxmlformats.org/drawingml/2006/main">
              <a:ext uri="{FF2B5EF4-FFF2-40B4-BE49-F238E27FC236}">
                <a16:creationId xmlns:a16="http://schemas.microsoft.com/office/drawing/2014/main" id="{900C66FF-1DFD-4F78-942E-A8B655A3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04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启动入口不承载业务规则，它建立应用运行所需的基础环境。</a:t>
            </a:r>
          </a:p>
        </p:txBody>
      </p:sp>
      <p:sp>
        <p:nvSpPr>
          <p:cNvPr id="6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1F76E225-A06A-43CF-BE6B-9B243E79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88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7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F5231A1D-1B10-47DC-A5E3-9B7EB708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519363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2622791E-F6D8-4C82-BAF0-89264851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25193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46571AAC-D0DA-48E3-92C5-2E373108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2519363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创建宿主</a:t>
            </a:r>
          </a:p>
        </p:txBody>
      </p:sp>
      <p:sp>
        <p:nvSpPr>
          <p:cNvPr id="10" name="flow-body-0">
            <a:extLst xmlns:a="http://schemas.openxmlformats.org/drawingml/2006/main">
              <a:ext uri="{FF2B5EF4-FFF2-40B4-BE49-F238E27FC236}">
                <a16:creationId xmlns:a16="http://schemas.microsoft.com/office/drawing/2014/main" id="{C78367D2-F854-420A-854E-AF4E2567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2519363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加载环境、配置文件和日志基础。</a:t>
            </a:r>
          </a:p>
        </p:txBody>
      </p:sp>
      <p:sp>
        <p:nvSpPr>
          <p:cNvPr id="11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9CD0C515-DC3F-4F5A-9852-B3EB6939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2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AD209AA3-B107-4D85-81EF-6A341C0A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381250"/>
            <a:ext cx="2519363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6E132CDF-0099-4D9A-B271-15177FFC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838450"/>
            <a:ext cx="25193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157FC2B6-A5B7-4CBA-A25B-1A159A58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3105150"/>
            <a:ext cx="2519363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注册基础设施</a:t>
            </a:r>
          </a:p>
        </p:txBody>
      </p:sp>
      <p:sp>
        <p:nvSpPr>
          <p:cNvPr id="15" name="flow-body-1">
            <a:extLst xmlns:a="http://schemas.openxmlformats.org/drawingml/2006/main">
              <a:ext uri="{FF2B5EF4-FFF2-40B4-BE49-F238E27FC236}">
                <a16:creationId xmlns:a16="http://schemas.microsoft.com/office/drawing/2014/main" id="{0BCB8D35-ACE2-4089-90A3-16160EFC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3981450"/>
            <a:ext cx="2519363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AddInfrastructure 接入数据库、缓存、认证、文档等能力。</a:t>
            </a:r>
          </a:p>
        </p:txBody>
      </p:sp>
      <p:sp>
        <p:nvSpPr>
          <p:cNvPr id="1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B0DF8871-E456-47E1-B6DF-49BFB211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7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070BB994-02DC-4F68-809B-6E5FC417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81250"/>
            <a:ext cx="2519363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ED1DC033-3B15-49A6-B61F-682AAF4B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38450"/>
            <a:ext cx="25193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B30C7EA9-6C8C-4993-8CFE-585B211A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05150"/>
            <a:ext cx="2519363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发现业务程序集</a:t>
            </a:r>
          </a:p>
        </p:txBody>
      </p:sp>
      <p:sp>
        <p:nvSpPr>
          <p:cNvPr id="20" name="flow-body-2">
            <a:extLst xmlns:a="http://schemas.openxmlformats.org/drawingml/2006/main">
              <a:ext uri="{FF2B5EF4-FFF2-40B4-BE49-F238E27FC236}">
                <a16:creationId xmlns:a16="http://schemas.microsoft.com/office/drawing/2014/main" id="{4717FBC9-E85C-4CB3-BCDD-A9C25B28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81450"/>
            <a:ext cx="2519363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扫描模块 Controller、Service 和 Contract 实现。</a:t>
            </a:r>
          </a:p>
        </p:txBody>
      </p:sp>
      <p:sp>
        <p:nvSpPr>
          <p:cNvPr id="2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6D8C0896-E713-4D33-87E7-8433F201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381250"/>
            <a:ext cx="2519363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9531D426-F351-4285-9F7D-A9D93A24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838450"/>
            <a:ext cx="25193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54963932-B7C0-4F8F-9DA6-BCF102F3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3105150"/>
            <a:ext cx="2519363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构建请求管道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6152C21A-A5D5-4DC6-9E81-440B629D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3981450"/>
            <a:ext cx="2519363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按顺序挂载中间件、认证授权和路由。</a:t>
            </a:r>
          </a:p>
        </p:txBody>
      </p:sp>
    </p:spTree>
    <p:extLst>
      <p:ext uri="{BB962C8B-B14F-4D97-AF65-F5344CB8AC3E}">
        <p14:creationId xmlns:p14="http://schemas.microsoft.com/office/powerpoint/2010/main" val="1943863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59D529-F47F-4184-BA03-3744B67F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程序集扫描决定 Controller 是否进入 MVC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600F3AFD-E33F-4DFA-816C-3762E43C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F33431C0-321E-4EC3-9D0F-A4773FA7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01 · 后端全景与启动机制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86FBAB1-D495-4544-9324-78C86831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/ 12</a:t>
            </a:r>
          </a:p>
        </p:txBody>
      </p:sp>
      <p:sp>
        <p:nvSpPr>
          <p:cNvPr id="5" name="code-intro">
            <a:extLst xmlns:a="http://schemas.openxmlformats.org/drawingml/2006/main">
              <a:ext uri="{FF2B5EF4-FFF2-40B4-BE49-F238E27FC236}">
                <a16:creationId xmlns:a16="http://schemas.microsoft.com/office/drawing/2014/main" id="{14630D45-5FAF-4134-953E-151A8CC1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049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模块被项目引用只是第一步，程序集命名和 ApplicationPart 注册同样重要。</a:t>
            </a:r>
          </a:p>
        </p:txBody>
      </p:sp>
      <p:sp>
        <p:nvSpPr>
          <p:cNvPr id="6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606CF500-823E-44A5-96C4-198A28C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66675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" name="code-block">
            <a:extLst xmlns:a="http://schemas.openxmlformats.org/drawingml/2006/main">
              <a:ext uri="{FF2B5EF4-FFF2-40B4-BE49-F238E27FC236}">
                <a16:creationId xmlns:a16="http://schemas.microsoft.com/office/drawing/2014/main" id="{3181731A-DB5A-4F42-BE1F-DBC366D9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210300" cy="3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t>.ConfigureApplicationPartManager(apm =&gt;
{
    var moduleAssemblies =
        AssemblyService.GetReferencedAssemblies()
        .Where(a =&gt;
            a.GetName().Name?.Contains(".Modules.") == true
            || a.GetName().Name == "KH.WMS.Config");
    foreach (var assembly in moduleAssemblies)
        apm.ApplicationParts.Add(
            new AssemblyPart(assembly));
});</a:t>
            </a:r>
          </a:p>
        </p:txBody>
      </p:sp>
      <p:sp>
        <p:nvSpPr>
          <p:cNvPr id="8" name="code-side-title">
            <a:extLst xmlns:a="http://schemas.openxmlformats.org/drawingml/2006/main">
              <a:ext uri="{FF2B5EF4-FFF2-40B4-BE49-F238E27FC236}">
                <a16:creationId xmlns:a16="http://schemas.microsoft.com/office/drawing/2014/main" id="{ADAA9D32-32E1-4450-8F49-3B6FB435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3905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接口从代码到 Swagger</a:t>
            </a:r>
          </a:p>
        </p:txBody>
      </p:sp>
      <p:sp>
        <p:nvSpPr>
          <p:cNvPr id="9" name="code-side-body">
            <a:extLst xmlns:a="http://schemas.openxmlformats.org/drawingml/2006/main">
              <a:ext uri="{FF2B5EF4-FFF2-40B4-BE49-F238E27FC236}">
                <a16:creationId xmlns:a16="http://schemas.microsoft.com/office/drawing/2014/main" id="{F91DE99F-B2E1-4192-BDDB-4A13861A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390525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模块项目被 Server 引用
• 程序集名称符合 .Modules. 约定
• ApplicationPartManager 加入程序集
• MVC 与 ApiExplorer 发现 Action</a:t>
            </a:r>
          </a:p>
        </p:txBody>
      </p:sp>
    </p:spTree>
    <p:extLst>
      <p:ext uri="{BB962C8B-B14F-4D97-AF65-F5344CB8AC3E}">
        <p14:creationId xmlns:p14="http://schemas.microsoft.com/office/powerpoint/2010/main" val="5115235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E541EE-A385-4AEF-B2A9-2E37F3C5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AddInfrastructure 统一接入横切能力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B58C41A2-831A-42A8-A2EB-E1AF711F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54C7C93F-4B35-408C-A62B-E7D7E463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01 · 后端全景与启动机制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DA7282E-8152-46F1-9290-C09FC517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/ 12</a:t>
            </a:r>
          </a:p>
        </p:txBody>
      </p:sp>
      <p:sp>
        <p:nvSpPr>
          <p:cNvPr id="5" name="grid-intro">
            <a:extLst xmlns:a="http://schemas.openxmlformats.org/drawingml/2006/main">
              <a:ext uri="{FF2B5EF4-FFF2-40B4-BE49-F238E27FC236}">
                <a16:creationId xmlns:a16="http://schemas.microsoft.com/office/drawing/2014/main" id="{C0DECAF1-4242-4C3C-BCBE-9DE0AA9A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业务模块依赖统一底座，不在每个模块重复配置框架。</a:t>
            </a:r>
          </a:p>
        </p:txBody>
      </p:sp>
      <p:sp>
        <p:nvSpPr>
          <p:cNvPr id="6" name="grid-panel-0">
            <a:extLst xmlns:a="http://schemas.openxmlformats.org/drawingml/2006/main">
              <a:ext uri="{FF2B5EF4-FFF2-40B4-BE49-F238E27FC236}">
                <a16:creationId xmlns:a16="http://schemas.microsoft.com/office/drawing/2014/main" id="{DDE90FF3-AB5F-4637-948D-74EE4117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7" name="grid-title-0">
            <a:extLst xmlns:a="http://schemas.openxmlformats.org/drawingml/2006/main">
              <a:ext uri="{FF2B5EF4-FFF2-40B4-BE49-F238E27FC236}">
                <a16:creationId xmlns:a16="http://schemas.microsoft.com/office/drawing/2014/main" id="{89198D71-3A2B-440F-AB2E-705E8022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数据访问</a:t>
            </a:r>
          </a:p>
        </p:txBody>
      </p:sp>
      <p:sp>
        <p:nvSpPr>
          <p:cNvPr id="8" name="grid-body-0">
            <a:extLst xmlns:a="http://schemas.openxmlformats.org/drawingml/2006/main">
              <a:ext uri="{FF2B5EF4-FFF2-40B4-BE49-F238E27FC236}">
                <a16:creationId xmlns:a16="http://schemas.microsoft.com/office/drawing/2014/main" id="{5F2765FF-5F2D-472B-A490-1EA08485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SqlSugar、仓储与 UnitOfWork。</a:t>
            </a:r>
          </a:p>
        </p:txBody>
      </p:sp>
      <p:sp>
        <p:nvSpPr>
          <p:cNvPr id="9" name="grid-panel-1">
            <a:extLst xmlns:a="http://schemas.openxmlformats.org/drawingml/2006/main">
              <a:ext uri="{FF2B5EF4-FFF2-40B4-BE49-F238E27FC236}">
                <a16:creationId xmlns:a16="http://schemas.microsoft.com/office/drawing/2014/main" id="{07AAFA88-49CD-4230-837B-25198C3C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812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solidFill>
              <a:srgbClr val="F8F9FA"/>
            </a:solidFill>
            <a:prstDash val="solid"/>
          </a:ln>
        </p:spPr>
      </p:sp>
      <p:sp>
        <p:nvSpPr>
          <p:cNvPr id="10" name="grid-title-1">
            <a:extLst xmlns:a="http://schemas.openxmlformats.org/drawingml/2006/main">
              <a:ext uri="{FF2B5EF4-FFF2-40B4-BE49-F238E27FC236}">
                <a16:creationId xmlns:a16="http://schemas.microsoft.com/office/drawing/2014/main" id="{F8108122-2FB5-47F4-ACC2-7CDFA3D8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认证授权</a:t>
            </a:r>
          </a:p>
        </p:txBody>
      </p:sp>
      <p:sp>
        <p:nvSpPr>
          <p:cNvPr id="11" name="grid-body-1">
            <a:extLst xmlns:a="http://schemas.openxmlformats.org/drawingml/2006/main">
              <a:ext uri="{FF2B5EF4-FFF2-40B4-BE49-F238E27FC236}">
                <a16:creationId xmlns:a16="http://schemas.microsoft.com/office/drawing/2014/main" id="{665815D3-90A6-43C8-94B0-E1C7F0B2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051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JWT、用户上下文和权限检查。</a:t>
            </a:r>
          </a:p>
        </p:txBody>
      </p:sp>
      <p:sp>
        <p:nvSpPr>
          <p:cNvPr id="12" name="grid-panel-2">
            <a:extLst xmlns:a="http://schemas.openxmlformats.org/drawingml/2006/main">
              <a:ext uri="{FF2B5EF4-FFF2-40B4-BE49-F238E27FC236}">
                <a16:creationId xmlns:a16="http://schemas.microsoft.com/office/drawing/2014/main" id="{4E8AD4A9-81A1-42A3-BE97-3BE75A45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812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3" name="grid-title-2">
            <a:extLst xmlns:a="http://schemas.openxmlformats.org/drawingml/2006/main">
              <a:ext uri="{FF2B5EF4-FFF2-40B4-BE49-F238E27FC236}">
                <a16:creationId xmlns:a16="http://schemas.microsoft.com/office/drawing/2014/main" id="{596B075E-B142-423D-A2FA-BCCA939A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接口契约</a:t>
            </a:r>
          </a:p>
        </p:txBody>
      </p:sp>
      <p:sp>
        <p:nvSpPr>
          <p:cNvPr id="14" name="grid-body-2">
            <a:extLst xmlns:a="http://schemas.openxmlformats.org/drawingml/2006/main">
              <a:ext uri="{FF2B5EF4-FFF2-40B4-BE49-F238E27FC236}">
                <a16:creationId xmlns:a16="http://schemas.microsoft.com/office/drawing/2014/main" id="{6D4A80AE-D876-4F37-9344-E0764070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051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MVC、JSON、Swagger 和统一响应。</a:t>
            </a:r>
          </a:p>
        </p:txBody>
      </p:sp>
      <p:sp>
        <p:nvSpPr>
          <p:cNvPr id="15" name="grid-panel-3">
            <a:extLst xmlns:a="http://schemas.openxmlformats.org/drawingml/2006/main">
              <a:ext uri="{FF2B5EF4-FFF2-40B4-BE49-F238E27FC236}">
                <a16:creationId xmlns:a16="http://schemas.microsoft.com/office/drawing/2014/main" id="{9A99AC1D-8637-4594-858A-15A9C88C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solidFill>
              <a:srgbClr val="F8F9FA"/>
            </a:solidFill>
            <a:prstDash val="solid"/>
          </a:ln>
        </p:spPr>
      </p:sp>
      <p:sp>
        <p:nvSpPr>
          <p:cNvPr id="16" name="grid-title-3">
            <a:extLst xmlns:a="http://schemas.openxmlformats.org/drawingml/2006/main">
              <a:ext uri="{FF2B5EF4-FFF2-40B4-BE49-F238E27FC236}">
                <a16:creationId xmlns:a16="http://schemas.microsoft.com/office/drawing/2014/main" id="{71DA144F-41C6-43B7-A902-CAEC223C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运行支撑</a:t>
            </a:r>
          </a:p>
        </p:txBody>
      </p:sp>
      <p:sp>
        <p:nvSpPr>
          <p:cNvPr id="17" name="grid-body-3">
            <a:extLst xmlns:a="http://schemas.openxmlformats.org/drawingml/2006/main">
              <a:ext uri="{FF2B5EF4-FFF2-40B4-BE49-F238E27FC236}">
                <a16:creationId xmlns:a16="http://schemas.microsoft.com/office/drawing/2014/main" id="{9D612E1C-750D-45EA-84CF-745A78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缓存、日志、TraceId、MiniProfiler。</a:t>
            </a:r>
          </a:p>
        </p:txBody>
      </p:sp>
      <p:sp>
        <p:nvSpPr>
          <p:cNvPr id="18" name="grid-panel-4">
            <a:extLst xmlns:a="http://schemas.openxmlformats.org/drawingml/2006/main">
              <a:ext uri="{FF2B5EF4-FFF2-40B4-BE49-F238E27FC236}">
                <a16:creationId xmlns:a16="http://schemas.microsoft.com/office/drawing/2014/main" id="{E6E81582-7362-461F-AFB6-BE48E38D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815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9" name="grid-title-4">
            <a:extLst xmlns:a="http://schemas.openxmlformats.org/drawingml/2006/main">
              <a:ext uri="{FF2B5EF4-FFF2-40B4-BE49-F238E27FC236}">
                <a16:creationId xmlns:a16="http://schemas.microsoft.com/office/drawing/2014/main" id="{3942C066-C2B5-4AD7-A65A-367C056A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扩展机制</a:t>
            </a:r>
          </a:p>
        </p:txBody>
      </p:sp>
      <p:sp>
        <p:nvSpPr>
          <p:cNvPr id="20" name="grid-body-4">
            <a:extLst xmlns:a="http://schemas.openxmlformats.org/drawingml/2006/main">
              <a:ext uri="{FF2B5EF4-FFF2-40B4-BE49-F238E27FC236}">
                <a16:creationId xmlns:a16="http://schemas.microsoft.com/office/drawing/2014/main" id="{EA3197A4-B1D4-4B6A-A718-2A025F5F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Autofac 自动注册与 AOP 拦截器。</a:t>
            </a:r>
          </a:p>
        </p:txBody>
      </p:sp>
      <p:sp>
        <p:nvSpPr>
          <p:cNvPr id="21" name="grid-panel-5">
            <a:extLst xmlns:a="http://schemas.openxmlformats.org/drawingml/2006/main">
              <a:ext uri="{FF2B5EF4-FFF2-40B4-BE49-F238E27FC236}">
                <a16:creationId xmlns:a16="http://schemas.microsoft.com/office/drawing/2014/main" id="{7639540E-8398-4D1A-993A-CA1F8F83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815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solidFill>
              <a:srgbClr val="F8F9FA"/>
            </a:solidFill>
            <a:prstDash val="solid"/>
          </a:ln>
        </p:spPr>
      </p:sp>
      <p:sp>
        <p:nvSpPr>
          <p:cNvPr id="22" name="grid-title-5">
            <a:extLst xmlns:a="http://schemas.openxmlformats.org/drawingml/2006/main">
              <a:ext uri="{FF2B5EF4-FFF2-40B4-BE49-F238E27FC236}">
                <a16:creationId xmlns:a16="http://schemas.microsoft.com/office/drawing/2014/main" id="{E0BB0F51-04E2-441C-A46B-C44E4615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529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运行控制</a:t>
            </a:r>
          </a:p>
        </p:txBody>
      </p:sp>
      <p:sp>
        <p:nvSpPr>
          <p:cNvPr id="23" name="grid-body-5">
            <a:extLst xmlns:a="http://schemas.openxmlformats.org/drawingml/2006/main">
              <a:ext uri="{FF2B5EF4-FFF2-40B4-BE49-F238E27FC236}">
                <a16:creationId xmlns:a16="http://schemas.microsoft.com/office/drawing/2014/main" id="{E3AFBB43-661F-4802-B0A3-B7E94AAD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054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License、CORS、限流配置等入口。</a:t>
            </a:r>
          </a:p>
        </p:txBody>
      </p:sp>
    </p:spTree>
    <p:extLst>
      <p:ext uri="{BB962C8B-B14F-4D97-AF65-F5344CB8AC3E}">
        <p14:creationId xmlns:p14="http://schemas.microsoft.com/office/powerpoint/2010/main" val="3572720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A96755-8299-4396-A7A2-291B556F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Swagger 看不到接口，按发现链路逐层检查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B18BE96F-4B01-4528-8CBB-27C344D2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A4FDFCCC-0C75-4C7A-A3E0-2349223A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01 · 后端全景与启动机制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151D6F0-5163-400D-9E56-53A7AC57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/ 12</a:t>
            </a:r>
          </a:p>
        </p:txBody>
      </p:sp>
      <p:sp>
        <p:nvSpPr>
          <p:cNvPr id="5" name="checklist-intro">
            <a:extLst xmlns:a="http://schemas.openxmlformats.org/drawingml/2006/main">
              <a:ext uri="{FF2B5EF4-FFF2-40B4-BE49-F238E27FC236}">
                <a16:creationId xmlns:a16="http://schemas.microsoft.com/office/drawing/2014/main" id="{79EDF59E-9945-4132-83B2-EF27EADC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先确认接口能否被发现，再检查认证、License 和业务逻辑。</a:t>
            </a:r>
          </a:p>
        </p:txBody>
      </p:sp>
      <p:sp>
        <p:nvSpPr>
          <p:cNvPr id="6" name="checklist-title-0">
            <a:extLst xmlns:a="http://schemas.openxmlformats.org/drawingml/2006/main">
              <a:ext uri="{FF2B5EF4-FFF2-40B4-BE49-F238E27FC236}">
                <a16:creationId xmlns:a16="http://schemas.microsoft.com/office/drawing/2014/main" id="{03596565-6438-4A73-B850-154498E4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代码与项目</a:t>
            </a:r>
          </a:p>
        </p:txBody>
      </p:sp>
      <p:sp>
        <p:nvSpPr>
          <p:cNvPr id="7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3019DCAF-53C8-42BF-A5E8-831071A5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3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check-mark">
            <a:extLst xmlns:a="http://schemas.openxmlformats.org/drawingml/2006/main">
              <a:ext uri="{FF2B5EF4-FFF2-40B4-BE49-F238E27FC236}">
                <a16:creationId xmlns:a16="http://schemas.microsoft.com/office/drawing/2014/main" id="{80AF9CFC-C707-4A5F-8372-709C4648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9" name="check-text-0-0">
            <a:extLst xmlns:a="http://schemas.openxmlformats.org/drawingml/2006/main">
              <a:ext uri="{FF2B5EF4-FFF2-40B4-BE49-F238E27FC236}">
                <a16:creationId xmlns:a16="http://schemas.microsoft.com/office/drawing/2014/main" id="{80BB778A-D830-4563-A9AE-840F5681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Controller 是 public 并继承 ControllerBase 或 CRUD 基类</a:t>
            </a:r>
          </a:p>
        </p:txBody>
      </p:sp>
      <p:sp>
        <p:nvSpPr>
          <p:cNvPr id="10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E8B48435-CF5A-48C9-B44C-FAE4FEC6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0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check-mark">
            <a:extLst xmlns:a="http://schemas.openxmlformats.org/drawingml/2006/main">
              <a:ext uri="{FF2B5EF4-FFF2-40B4-BE49-F238E27FC236}">
                <a16:creationId xmlns:a16="http://schemas.microsoft.com/office/drawing/2014/main" id="{5FC6FC79-B66D-4530-B275-D8A2EDB6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2" name="check-text-0-1">
            <a:extLst xmlns:a="http://schemas.openxmlformats.org/drawingml/2006/main">
              <a:ext uri="{FF2B5EF4-FFF2-40B4-BE49-F238E27FC236}">
                <a16:creationId xmlns:a16="http://schemas.microsoft.com/office/drawing/2014/main" id="{2FD0C745-116F-42D0-A7BE-54082746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623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存在明确的 api/... 路由</a:t>
            </a:r>
          </a:p>
        </p:txBody>
      </p:sp>
      <p:sp>
        <p:nvSpPr>
          <p:cNvPr id="13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3D0B7D20-D68D-4E17-AA83-1C1BD656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7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check-mark">
            <a:extLst xmlns:a="http://schemas.openxmlformats.org/drawingml/2006/main">
              <a:ext uri="{FF2B5EF4-FFF2-40B4-BE49-F238E27FC236}">
                <a16:creationId xmlns:a16="http://schemas.microsoft.com/office/drawing/2014/main" id="{AB985420-5F75-4022-A785-B63ED80A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5" name="check-text-0-2">
            <a:extLst xmlns:a="http://schemas.openxmlformats.org/drawingml/2006/main">
              <a:ext uri="{FF2B5EF4-FFF2-40B4-BE49-F238E27FC236}">
                <a16:creationId xmlns:a16="http://schemas.microsoft.com/office/drawing/2014/main" id="{0F584C4F-83DA-42BD-A456-DEA0452B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模块项目被 KH.WMS.Server 引用</a:t>
            </a:r>
          </a:p>
        </p:txBody>
      </p:sp>
      <p:sp>
        <p:nvSpPr>
          <p:cNvPr id="16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28E2417F-A077-443F-9AED-37E9B5A3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check-mark">
            <a:extLst xmlns:a="http://schemas.openxmlformats.org/drawingml/2006/main">
              <a:ext uri="{FF2B5EF4-FFF2-40B4-BE49-F238E27FC236}">
                <a16:creationId xmlns:a16="http://schemas.microsoft.com/office/drawing/2014/main" id="{676CDC67-4C6F-4CA9-AD0C-3D630269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8" name="check-text-0-3">
            <a:extLst xmlns:a="http://schemas.openxmlformats.org/drawingml/2006/main">
              <a:ext uri="{FF2B5EF4-FFF2-40B4-BE49-F238E27FC236}">
                <a16:creationId xmlns:a16="http://schemas.microsoft.com/office/drawing/2014/main" id="{2DC91E17-F642-4634-8B98-512DB6A4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构造函数依赖可以被容器解析</a:t>
            </a:r>
          </a:p>
        </p:txBody>
      </p:sp>
      <p:sp>
        <p:nvSpPr>
          <p:cNvPr id="19" name="checklist-title-1">
            <a:extLst xmlns:a="http://schemas.openxmlformats.org/drawingml/2006/main">
              <a:ext uri="{FF2B5EF4-FFF2-40B4-BE49-F238E27FC236}">
                <a16:creationId xmlns:a16="http://schemas.microsoft.com/office/drawing/2014/main" id="{D04C5375-8823-46B5-8185-22B5A9D2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程序集与运行</a:t>
            </a:r>
          </a:p>
        </p:txBody>
      </p:sp>
      <p:sp>
        <p:nvSpPr>
          <p:cNvPr id="20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6505DD19-A6D0-4DFB-98E5-7B5F60F4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33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check-mark">
            <a:extLst xmlns:a="http://schemas.openxmlformats.org/drawingml/2006/main">
              <a:ext uri="{FF2B5EF4-FFF2-40B4-BE49-F238E27FC236}">
                <a16:creationId xmlns:a16="http://schemas.microsoft.com/office/drawing/2014/main" id="{2671704A-8859-4454-A745-10124DAA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2" name="check-text-1-0">
            <a:extLst xmlns:a="http://schemas.openxmlformats.org/drawingml/2006/main">
              <a:ext uri="{FF2B5EF4-FFF2-40B4-BE49-F238E27FC236}">
                <a16:creationId xmlns:a16="http://schemas.microsoft.com/office/drawing/2014/main" id="{0D10E02B-FEA2-4BDA-8C74-E6BB25A1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程序集名称包含 .Modules.</a:t>
            </a:r>
          </a:p>
        </p:txBody>
      </p:sp>
      <p:sp>
        <p:nvSpPr>
          <p:cNvPr id="23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188B80CE-28AF-47A7-91BF-5C6E92B9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check-mark">
            <a:extLst xmlns:a="http://schemas.openxmlformats.org/drawingml/2006/main">
              <a:ext uri="{FF2B5EF4-FFF2-40B4-BE49-F238E27FC236}">
                <a16:creationId xmlns:a16="http://schemas.microsoft.com/office/drawing/2014/main" id="{0356F82C-E2F4-4953-B6C4-77542260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5" name="check-text-1-1">
            <a:extLst xmlns:a="http://schemas.openxmlformats.org/drawingml/2006/main">
              <a:ext uri="{FF2B5EF4-FFF2-40B4-BE49-F238E27FC236}">
                <a16:creationId xmlns:a16="http://schemas.microsoft.com/office/drawing/2014/main" id="{263E1752-59EC-458B-9EF0-37005172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623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编译输出目录中存在模块程序集</a:t>
            </a:r>
          </a:p>
        </p:txBody>
      </p:sp>
      <p:sp>
        <p:nvSpPr>
          <p:cNvPr id="26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47249D26-DB41-4109-9076-B1C31197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7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check-mark">
            <a:extLst xmlns:a="http://schemas.openxmlformats.org/drawingml/2006/main">
              <a:ext uri="{FF2B5EF4-FFF2-40B4-BE49-F238E27FC236}">
                <a16:creationId xmlns:a16="http://schemas.microsoft.com/office/drawing/2014/main" id="{87073FB4-AA1B-4F7D-800D-36087319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1955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8" name="check-text-1-2">
            <a:extLst xmlns:a="http://schemas.openxmlformats.org/drawingml/2006/main">
              <a:ext uri="{FF2B5EF4-FFF2-40B4-BE49-F238E27FC236}">
                <a16:creationId xmlns:a16="http://schemas.microsoft.com/office/drawing/2014/main" id="{0397FB2F-D34E-4CE8-A8C8-803916BE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2907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ApplicationPartManager 已加入程序集</a:t>
            </a:r>
          </a:p>
        </p:txBody>
      </p:sp>
      <p:sp>
        <p:nvSpPr>
          <p:cNvPr id="2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42B4E04B-558F-4858-AAFF-883B6DE6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0" name="check-mark">
            <a:extLst xmlns:a="http://schemas.openxmlformats.org/drawingml/2006/main">
              <a:ext uri="{FF2B5EF4-FFF2-40B4-BE49-F238E27FC236}">
                <a16:creationId xmlns:a16="http://schemas.microsoft.com/office/drawing/2014/main" id="{0569912E-A377-4704-B102-248B2829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31" name="check-text-1-3">
            <a:extLst xmlns:a="http://schemas.openxmlformats.org/drawingml/2006/main">
              <a:ext uri="{FF2B5EF4-FFF2-40B4-BE49-F238E27FC236}">
                <a16:creationId xmlns:a16="http://schemas.microsoft.com/office/drawing/2014/main" id="{0D3B7F1D-2ACE-4149-AD4B-DB9ACE8B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958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重新构建并确认运行的是最新输出</a:t>
            </a:r>
          </a:p>
        </p:txBody>
      </p:sp>
    </p:spTree>
    <p:extLst>
      <p:ext uri="{BB962C8B-B14F-4D97-AF65-F5344CB8AC3E}">
        <p14:creationId xmlns:p14="http://schemas.microsoft.com/office/powerpoint/2010/main" val="9014979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2D7105-8019-434E-B16C-91920FD4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自动注册靠特性和扫描，不靠类名猜测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B0A71B1-85A2-4764-9981-F35140E6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F79F768E-B34B-4AF1-A1EC-C6FC89CA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01 · 后端全景与启动机制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0228048-36CD-4627-885A-DC1529F7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10 / 12</a:t>
            </a:r>
          </a:p>
        </p:txBody>
      </p:sp>
      <p:sp>
        <p:nvSpPr>
          <p:cNvPr id="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BEFBA46-0330-4231-8E68-0DBA3D12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66675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" name="code-block">
            <a:extLst xmlns:a="http://schemas.openxmlformats.org/drawingml/2006/main">
              <a:ext uri="{FF2B5EF4-FFF2-40B4-BE49-F238E27FC236}">
                <a16:creationId xmlns:a16="http://schemas.microsoft.com/office/drawing/2014/main" id="{69140225-55FA-40E4-8AB7-C5468F32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210300" cy="3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t>[RegisteredService(
    ServiceType = typeof(ILocationService))]
public class LocationService
    : CrudService&lt;Location&gt;, ILocationService
{
}
// 业务代码通过接口注入
public LocationController(
    ILocationService service) : base(service)
{
}</a:t>
            </a:r>
          </a:p>
        </p:txBody>
      </p:sp>
      <p:sp>
        <p:nvSpPr>
          <p:cNvPr id="7" name="code-side-title">
            <a:extLst xmlns:a="http://schemas.openxmlformats.org/drawingml/2006/main">
              <a:ext uri="{FF2B5EF4-FFF2-40B4-BE49-F238E27FC236}">
                <a16:creationId xmlns:a16="http://schemas.microsoft.com/office/drawing/2014/main" id="{EB300860-33E8-4732-A88D-371AA751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905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服务可注入的条件</a:t>
            </a:r>
          </a:p>
        </p:txBody>
      </p:sp>
      <p:sp>
        <p:nvSpPr>
          <p:cNvPr id="8" name="code-side-body">
            <a:extLst xmlns:a="http://schemas.openxmlformats.org/drawingml/2006/main">
              <a:ext uri="{FF2B5EF4-FFF2-40B4-BE49-F238E27FC236}">
                <a16:creationId xmlns:a16="http://schemas.microsoft.com/office/drawing/2014/main" id="{4FCB31DE-BB38-4B3B-BE31-B4E31722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390525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实现类被程序集扫描到
• 注册特性声明 ServiceType
• 接口和实现关系正确
• 生命周期适合依赖对象
• 通过接口调用才可获得接口代理</a:t>
            </a:r>
          </a:p>
        </p:txBody>
      </p:sp>
    </p:spTree>
    <p:extLst>
      <p:ext uri="{BB962C8B-B14F-4D97-AF65-F5344CB8AC3E}">
        <p14:creationId xmlns:p14="http://schemas.microsoft.com/office/powerpoint/2010/main" val="21454476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2D2A08-3614-41FA-ADBE-4880807B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启动配置与运行时业务规则必须分开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0037BCA-8B3A-4B5A-B658-0789735F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D4DE3AAF-6157-4278-B85C-F4313B5F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01 · 后端全景与启动机制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CF69971-B87C-417C-86B1-D77B039B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11 / 12</a:t>
            </a:r>
          </a:p>
        </p:txBody>
      </p:sp>
      <p:sp>
        <p:nvSpPr>
          <p:cNvPr id="5" name="compare-intro">
            <a:extLst xmlns:a="http://schemas.openxmlformats.org/drawingml/2006/main">
              <a:ext uri="{FF2B5EF4-FFF2-40B4-BE49-F238E27FC236}">
                <a16:creationId xmlns:a16="http://schemas.microsoft.com/office/drawing/2014/main" id="{ADACADEE-F848-4A00-AF1D-B44E86A0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判断标准不是“配置长什么样”，而是它何时生效、由谁维护、是否需要重启。</a:t>
            </a:r>
          </a:p>
        </p:txBody>
      </p:sp>
      <p:sp>
        <p:nvSpPr>
          <p:cNvPr id="6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325FFF5D-974C-40FC-9CB3-75DE9618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7BB77B29-4ED8-4F1E-BFB1-1CD70360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appsettings / Options</a:t>
            </a:r>
          </a:p>
        </p:txBody>
      </p:sp>
      <p:sp>
        <p:nvSpPr>
          <p:cNvPr id="8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96DAA885-675C-4CCC-9DF9-28880C14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数据库连接、日志、认证等启动行为
• 环境差异通过环境配置覆盖
• 通常随应用启动绑定
• 变更常需要重启或重新部署</a:t>
            </a:r>
          </a:p>
        </p:txBody>
      </p:sp>
      <p:sp>
        <p:nvSpPr>
          <p:cNvPr id="9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2ACD8C07-749C-442A-9719-A0C0C30F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0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0DCB8444-21F2-40A8-98FF-6A8B7D71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Config 配置库 / 系统参数</a:t>
            </a:r>
          </a:p>
        </p:txBody>
      </p:sp>
      <p:sp>
        <p:nvSpPr>
          <p:cNvPr id="11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3CC097F7-2AA8-4B32-A7C4-1763D124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业务校验、编码、状态、动态字段等规则
• 运行期可维护并可能带作用域
• 通过 Contract 或配置底座读取
• 不能用 IConfiguration 绕过业务边界</a:t>
            </a:r>
          </a:p>
        </p:txBody>
      </p:sp>
    </p:spTree>
    <p:extLst>
      <p:ext uri="{BB962C8B-B14F-4D97-AF65-F5344CB8AC3E}">
        <p14:creationId xmlns:p14="http://schemas.microsoft.com/office/powerpoint/2010/main" val="225237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E7D3B4-8830-4E29-8E73-836CE455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复盘小测：把结论说出来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A1580F7-8C6C-434E-8CFE-21415497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E2B768F6-0AB9-4243-8314-C3A482C8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01 · 后端全景与启动机制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4D5F1F5-ACB1-4BD2-AABC-A9DEB02E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12 / 12</a:t>
            </a:r>
          </a:p>
        </p:txBody>
      </p:sp>
      <p:sp>
        <p:nvSpPr>
          <p:cNvPr id="5" name="quiz-questions">
            <a:extLst xmlns:a="http://schemas.openxmlformats.org/drawingml/2006/main">
              <a:ext uri="{FF2B5EF4-FFF2-40B4-BE49-F238E27FC236}">
                <a16:creationId xmlns:a16="http://schemas.microsoft.com/office/drawing/2014/main" id="{21115945-CCED-4BEB-824C-FDB19E0F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68580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01  新增模块的 Controller 为什么可能不出现在 Swagger？
02  Controller、Service、Contract 的职责边界分别是什么？
03  业务运行期开关应该优先放 appsettings 还是 Config 底座？
04  为什么 Service 注册最好显式指定 ServiceType？</a:t>
            </a:r>
          </a:p>
        </p:txBody>
      </p:sp>
      <p:sp>
        <p:nvSpPr>
          <p:cNvPr id="6" name="next-panel">
            <a:extLst xmlns:a="http://schemas.openxmlformats.org/drawingml/2006/main">
              <a:ext uri="{FF2B5EF4-FFF2-40B4-BE49-F238E27FC236}">
                <a16:creationId xmlns:a16="http://schemas.microsoft.com/office/drawing/2014/main" id="{14AF59FA-D918-491F-8976-77F69B87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24000"/>
            <a:ext cx="38862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7BBC51E3-8261-4C3C-8007-5EA7A941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</a:t>
            </a:r>
          </a:p>
        </p:txBody>
      </p:sp>
      <p:sp>
        <p:nvSpPr>
          <p:cNvPr id="8" name="next-body">
            <a:extLst xmlns:a="http://schemas.openxmlformats.org/drawingml/2006/main">
              <a:ext uri="{FF2B5EF4-FFF2-40B4-BE49-F238E27FC236}">
                <a16:creationId xmlns:a16="http://schemas.microsoft.com/office/drawing/2014/main" id="{31864038-6AB0-45C1-A86E-C6769B73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238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下一讲沿着一次真实请求，理解中间件、AOP、事务、异常与 TraceId 如何协作。</a:t>
            </a:r>
          </a:p>
        </p:txBody>
      </p:sp>
      <p:sp>
        <p:nvSpPr>
          <p:cNvPr id="9" name="answer-hint">
            <a:extLst xmlns:a="http://schemas.openxmlformats.org/drawingml/2006/main">
              <a:ext uri="{FF2B5EF4-FFF2-40B4-BE49-F238E27FC236}">
                <a16:creationId xmlns:a16="http://schemas.microsoft.com/office/drawing/2014/main" id="{03B6379D-D2F1-4D8B-A44E-46868C34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答案与延伸阅读已放入讲师备注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98D39D2B-4712-4C6C-B886-132ADF3A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685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先画清系统地图，后续每一次排错才有方向。</a:t>
            </a:r>
          </a:p>
        </p:txBody>
      </p:sp>
    </p:spTree>
    <p:extLst>
      <p:ext uri="{BB962C8B-B14F-4D97-AF65-F5344CB8AC3E}">
        <p14:creationId xmlns:p14="http://schemas.microsoft.com/office/powerpoint/2010/main" val="1410974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2026-07-10T03:39:59.6020000Z</dcterms:created>
  <dcterms:modified xsi:type="dcterms:W3CDTF">2026-07-10T03:39:59.6020000Z</dcterms:modified>
</coreProperties>
</file>