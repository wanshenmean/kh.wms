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c10d3e3ef24612" /><Relationship Type="http://schemas.openxmlformats.org/officeDocument/2006/relationships/extended-properties" Target="/docProps/app.xml" Id="Rba3970e6d2334705" /><Relationship Type="http://schemas.openxmlformats.org/officeDocument/2006/relationships/officeDocument" Target="/ppt/presentation.xml" Id="Rf5d5d9caa3984a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ec48b0de4e461a"/>
  </p:sldMasterIdLst>
  <p:notesMasterIdLst>
    <p:notesMasterId xmlns:r="http://schemas.openxmlformats.org/officeDocument/2006/relationships" r:id="R93ec129a7cb540f2"/>
  </p:notesMasterIdLst>
  <p:sldIdLst>
    <p:sldId xmlns:r="http://schemas.openxmlformats.org/officeDocument/2006/relationships" id="256" r:id="R07d9c99784204339"/>
    <p:sldId xmlns:r="http://schemas.openxmlformats.org/officeDocument/2006/relationships" id="257" r:id="Rd8ec23e4fae94c3e"/>
    <p:sldId xmlns:r="http://schemas.openxmlformats.org/officeDocument/2006/relationships" id="258" r:id="Rdfd5c076c2844017"/>
    <p:sldId xmlns:r="http://schemas.openxmlformats.org/officeDocument/2006/relationships" id="259" r:id="R4b972f99108c45d7"/>
    <p:sldId xmlns:r="http://schemas.openxmlformats.org/officeDocument/2006/relationships" id="260" r:id="R55a9a50e95ff441e"/>
    <p:sldId xmlns:r="http://schemas.openxmlformats.org/officeDocument/2006/relationships" id="261" r:id="R833891a38a72404b"/>
    <p:sldId xmlns:r="http://schemas.openxmlformats.org/officeDocument/2006/relationships" id="262" r:id="R650d27abe8944938"/>
    <p:sldId xmlns:r="http://schemas.openxmlformats.org/officeDocument/2006/relationships" id="263" r:id="Rb535ca7fa5f94332"/>
    <p:sldId xmlns:r="http://schemas.openxmlformats.org/officeDocument/2006/relationships" id="264" r:id="Rb9e17f7e36fd4166"/>
    <p:sldId xmlns:r="http://schemas.openxmlformats.org/officeDocument/2006/relationships" id="265" r:id="R5faef75719674017"/>
    <p:sldId xmlns:r="http://schemas.openxmlformats.org/officeDocument/2006/relationships" id="266" r:id="R49f52e9dbed14264"/>
    <p:sldId xmlns:r="http://schemas.openxmlformats.org/officeDocument/2006/relationships" id="267" r:id="R8bb619b0b1134f02"/>
    <p:sldId xmlns:r="http://schemas.openxmlformats.org/officeDocument/2006/relationships" id="268" r:id="Ra6b5ec96622649e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4e3678b9374c43" /><Relationship Type="http://schemas.openxmlformats.org/officeDocument/2006/relationships/slideMaster" Target="/ppt/slideMasters/slideMaster1.xml" Id="Rfbec48b0de4e461a" /><Relationship Type="http://schemas.openxmlformats.org/officeDocument/2006/relationships/notesMaster" Target="/ppt/notesMasters/notesMaster1.xml" Id="R93ec129a7cb540f2" /><Relationship Type="http://schemas.openxmlformats.org/officeDocument/2006/relationships/presProps" Target="/ppt/presProps.xml" Id="Rac38ec6fb2574409" /><Relationship Type="http://schemas.openxmlformats.org/officeDocument/2006/relationships/tableStyles" Target="/ppt/tableStyles.xml" Id="Ra1608e38a69347d6" /><Relationship Type="http://schemas.openxmlformats.org/officeDocument/2006/relationships/slide" Target="/ppt/slides/slide1.xml" Id="R07d9c99784204339" /><Relationship Type="http://schemas.openxmlformats.org/officeDocument/2006/relationships/slide" Target="/ppt/slides/slide2.xml" Id="Rd8ec23e4fae94c3e" /><Relationship Type="http://schemas.openxmlformats.org/officeDocument/2006/relationships/slide" Target="/ppt/slides/slide3.xml" Id="Rdfd5c076c2844017" /><Relationship Type="http://schemas.openxmlformats.org/officeDocument/2006/relationships/slide" Target="/ppt/slides/slide4.xml" Id="R4b972f99108c45d7" /><Relationship Type="http://schemas.openxmlformats.org/officeDocument/2006/relationships/slide" Target="/ppt/slides/slide5.xml" Id="R55a9a50e95ff441e" /><Relationship Type="http://schemas.openxmlformats.org/officeDocument/2006/relationships/slide" Target="/ppt/slides/slide6.xml" Id="R833891a38a72404b" /><Relationship Type="http://schemas.openxmlformats.org/officeDocument/2006/relationships/slide" Target="/ppt/slides/slide7.xml" Id="R650d27abe8944938" /><Relationship Type="http://schemas.openxmlformats.org/officeDocument/2006/relationships/slide" Target="/ppt/slides/slide8.xml" Id="Rb535ca7fa5f94332" /><Relationship Type="http://schemas.openxmlformats.org/officeDocument/2006/relationships/slide" Target="/ppt/slides/slide9.xml" Id="Rb9e17f7e36fd4166" /><Relationship Type="http://schemas.openxmlformats.org/officeDocument/2006/relationships/slide" Target="/ppt/slides/slide10.xml" Id="R5faef75719674017" /><Relationship Type="http://schemas.openxmlformats.org/officeDocument/2006/relationships/slide" Target="/ppt/slides/slide11.xml" Id="R49f52e9dbed14264" /><Relationship Type="http://schemas.openxmlformats.org/officeDocument/2006/relationships/slide" Target="/ppt/slides/slide12.xml" Id="R8bb619b0b1134f02" /><Relationship Type="http://schemas.openxmlformats.org/officeDocument/2006/relationships/slide" Target="/ppt/slides/slide13.xml" Id="Ra6b5ec96622649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51ba66f7bd47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b6a443bf4a41c0" /><Relationship Type="http://schemas.openxmlformats.org/officeDocument/2006/relationships/notesMaster" Target="/ppt/notesMasters/notesMaster1.xml" Id="R8030813a1f1840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58e69afbba4539" /><Relationship Type="http://schemas.openxmlformats.org/officeDocument/2006/relationships/notesMaster" Target="/ppt/notesMasters/notesMaster1.xml" Id="R6e438f2a3c9342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434a975bc048a5" /><Relationship Type="http://schemas.openxmlformats.org/officeDocument/2006/relationships/notesMaster" Target="/ppt/notesMasters/notesMaster1.xml" Id="Rfa4a1bc4a46b4a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8ca70e9a68466f" /><Relationship Type="http://schemas.openxmlformats.org/officeDocument/2006/relationships/notesMaster" Target="/ppt/notesMasters/notesMaster1.xml" Id="Rca431a34511546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5f18952bb545b6" /><Relationship Type="http://schemas.openxmlformats.org/officeDocument/2006/relationships/notesMaster" Target="/ppt/notesMasters/notesMaster1.xml" Id="Rc24b3bf1a45343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e484b58d7c4ca3" /><Relationship Type="http://schemas.openxmlformats.org/officeDocument/2006/relationships/notesMaster" Target="/ppt/notesMasters/notesMaster1.xml" Id="R8aa6fee9d97c40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866b8a03684d8c" /><Relationship Type="http://schemas.openxmlformats.org/officeDocument/2006/relationships/notesMaster" Target="/ppt/notesMasters/notesMaster1.xml" Id="R6fee3ae84eaf43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8d06caf4394e6b" /><Relationship Type="http://schemas.openxmlformats.org/officeDocument/2006/relationships/notesMaster" Target="/ppt/notesMasters/notesMaster1.xml" Id="R1567f61c18e347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0123f51f594d1b" /><Relationship Type="http://schemas.openxmlformats.org/officeDocument/2006/relationships/notesMaster" Target="/ppt/notesMasters/notesMaster1.xml" Id="R348bd2f5ad9349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7db6e0833364b12" /><Relationship Type="http://schemas.openxmlformats.org/officeDocument/2006/relationships/notesMaster" Target="/ppt/notesMasters/notesMaster1.xml" Id="R2164b109aa3347f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2de684161be4f1e" /><Relationship Type="http://schemas.openxmlformats.org/officeDocument/2006/relationships/notesMaster" Target="/ppt/notesMasters/notesMaster1.xml" Id="R468f0f280b074e0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44e51bd131249f3" /><Relationship Type="http://schemas.openxmlformats.org/officeDocument/2006/relationships/notesMaster" Target="/ppt/notesMasters/notesMaster1.xml" Id="R71aa09ae3c0d456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db7cf456de44e51" /><Relationship Type="http://schemas.openxmlformats.org/officeDocument/2006/relationships/notesMaster" Target="/ppt/notesMasters/notesMaster1.xml" Id="R9148331aad1746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建议时长：2 分钟</a:t>
            </a:r>
          </a:p>
          <a:p xmlns:a="http://schemas.openxmlformats.org/drawingml/2006/main">
            <a:r>
              <a:t>讲师提示：说明本讲的核心问题：为什么 Controller 里只有几行代码，请求却经历了许多层。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D:\Git\0.KH.WMS\docs\backend\后端开发指引V3教程\03-请求链路事务异常TraceIdAOP.md</a:t>
            </a:r>
          </a:p>
          <a:p xmlns:a="http://schemas.openxmlformats.org/drawingml/2006/main">
            <a:r>
              <a:t>- D:\Git\0.KH.WMS\docs\backend\后端底层概念\05-请求管道统一响应异常TraceId日志.md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 分钟</a:t>
            </a:r>
          </a:p>
          <a:p xmlns:a="http://schemas.openxmlformats.org/drawingml/2006/main">
            <a:r>
              <a:t>讲师提示：强调本讲不要求记中间件的每一行配置，而是要建立正确的排查顺序。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D:\Git\0.KH.WMS\docs\backend\后端开发指引V3教程\03-请求链路事务异常TraceIdAOP.md</a:t>
            </a:r>
          </a:p>
          <a:p xmlns:a="http://schemas.openxmlformats.org/drawingml/2006/main">
            <a:r>
              <a:t>- D:\Git\0.KH.WMS\docs\backend\后端底层概念\03-依赖注入自动注册与AOP代理.md</a:t>
            </a:r>
          </a:p>
          <a:p xmlns:a="http://schemas.openxmlformats.org/drawingml/2006/main">
            <a:r>
              <a:t>- D:\Git\0.KH.WMS\docs\backend\后端底层概念\05-请求管道统一响应异常TraceId日志.md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建议时长：4 分钟</a:t>
            </a:r>
          </a:p>
          <a:p xmlns:a="http://schemas.openxmlformats.org/drawingml/2006/main">
            <a:r>
              <a:t>讲师提示：用“Swagger 能看到但返回 402”说明接口发现和请求执行不是同一件事。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D:\Git\0.KH.WMS\docs\backend\后端开发指引V3教程\03-请求链路事务异常TraceIdAOP.md</a:t>
            </a:r>
          </a:p>
          <a:p xmlns:a="http://schemas.openxmlformats.org/drawingml/2006/main">
            <a:r>
              <a:t>- D:\Git\0.KH.WMS\docs\backend\后端底层概念\13-鉴权缓存用户上下文与运行期开关.md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建议时长：6 分钟</a:t>
            </a:r>
          </a:p>
          <a:p xmlns:a="http://schemas.openxmlformats.org/drawingml/2006/main">
            <a:r>
              <a:t>讲师提示：顺序只讲逻辑层次，具体 Program.cs 以仓库实现为准。强调短路发生点。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D:\Git\0.KH.WMS\docs\backend\后端开发指引V3教程\02-后端基础配置与启动机制.md</a:t>
            </a:r>
          </a:p>
          <a:p xmlns:a="http://schemas.openxmlformats.org/drawingml/2006/main">
            <a:r>
              <a:t>- D:\Git\0.KH.WMS\docs\backend\后端开发指引V3教程\03-请求链路事务异常TraceIdAOP.md</a:t>
            </a:r>
          </a:p>
          <a:p xmlns:a="http://schemas.openxmlformats.org/drawingml/2006/main">
            <a:r>
              <a:t>- D:\Git\0.KH.WMS\docs\backend\后端底层概念\05-请求管道统一响应异常TraceId日志.md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建议时长：6 分钟</a:t>
            </a:r>
          </a:p>
          <a:p xmlns:a="http://schemas.openxmlformats.org/drawingml/2006/main">
            <a:r>
              <a:t>讲师提示：让听众记住 AOP 排错四问：谁创建、注入什么类型、是否关闭拦截器、调用是否穿过代理。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D:\Git\0.KH.WMS\docs\backend\后端底层概念\03-依赖注入自动注册与AOP代理.md</a:t>
            </a:r>
          </a:p>
          <a:p xmlns:a="http://schemas.openxmlformats.org/drawingml/2006/main">
            <a:r>
              <a:t>- D:\Git\0.KH.WMS\docs\backend\后端开发指引V3教程\05-服务自动注册RegisteredService.md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建议时长：7 分钟</a:t>
            </a:r>
          </a:p>
          <a:p xmlns:a="http://schemas.openxmlformats.org/drawingml/2006/main">
            <a:r>
              <a:t>讲师提示：特别说明：事务不是这组 Autofac AOP 拦截器，而是 MVC Filter 或 IUnitOfWork。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D:\Git\0.KH.WMS\docs\backend\后端底层概念\04-AOP拦截器与特性使用.md</a:t>
            </a:r>
          </a:p>
          <a:p xmlns:a="http://schemas.openxmlformats.org/drawingml/2006/main">
            <a:r>
              <a:t>- D:\Git\0.KH.WMS\docs\backend\后端开发指引V3教程\03-请求链路事务异常TraceIdAOP.md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建议时长：6 分钟</a:t>
            </a:r>
          </a:p>
          <a:p xmlns:a="http://schemas.openxmlformats.org/drawingml/2006/main">
            <a:r>
              <a:t>讲师提示：此处先建立选择框架，第 5 讲会结合跨模块流程深入事务责任。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D:\Git\0.KH.WMS\docs\backend\后端底层概念\06-数据访问仓储与事务边界.md</a:t>
            </a:r>
          </a:p>
          <a:p xmlns:a="http://schemas.openxmlformats.org/drawingml/2006/main">
            <a:r>
              <a:t>- D:\Git\0.KH.WMS\docs\backend\后端开发指引V3教程\03-请求链路事务异常TraceIdAOP.md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建议时长：6 分钟</a:t>
            </a:r>
          </a:p>
          <a:p xmlns:a="http://schemas.openxmlformats.org/drawingml/2006/main">
            <a:r>
              <a:t>讲师提示：用“校验失败早返回但前面已写库”举例，提醒流程接口尤其危险。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D:\Git\0.KH.WMS\docs\backend\后端底层概念\05-请求管道统一响应异常TraceId日志.md</a:t>
            </a:r>
          </a:p>
          <a:p xmlns:a="http://schemas.openxmlformats.org/drawingml/2006/main">
            <a:r>
              <a:t>- D:\Git\0.KH.WMS\docs\backend\后端底层概念\06-数据访问仓储与事务边界.md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 分钟</a:t>
            </a:r>
          </a:p>
          <a:p xmlns:a="http://schemas.openxmlformats.org/drawingml/2006/main">
            <a:r>
              <a:t>讲师提示：类型示意只呈现稳定字段语义，不要求成员背实现。强调外部 ApiResponse、内部 ServiceResult 的边界。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D:\Git\0.KH.WMS\docs\backend\后端底层概念\05-请求管道统一响应异常TraceId日志.md</a:t>
            </a:r>
          </a:p>
          <a:p xmlns:a="http://schemas.openxmlformats.org/drawingml/2006/main">
            <a:r>
              <a:t>- D:\Git\0.KH.WMS\docs\backend\后端开发指引V3教程\C-常见坑.md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 分钟</a:t>
            </a:r>
          </a:p>
          <a:p xmlns:a="http://schemas.openxmlformats.org/drawingml/2006/main">
            <a:r>
              <a:t>讲师提示：指出可预期业务失败可使用明确结果，但跨写操作早返回必须先处理事务。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D:\Git\0.KH.WMS\docs\backend\后端底层概念\05-请求管道统一响应异常TraceId日志.md</a:t>
            </a:r>
          </a:p>
          <a:p xmlns:a="http://schemas.openxmlformats.org/drawingml/2006/main">
            <a:r>
              <a:t>- D:\Git\0.KH.WMS\docs\backend\后端开发指引V3教程\03-请求链路事务异常TraceIdAOP.md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 分钟</a:t>
            </a:r>
          </a:p>
          <a:p xmlns:a="http://schemas.openxmlformats.org/drawingml/2006/main">
            <a:r>
              <a:t>讲师提示：演示排障思路：不要只说“接口报错”，先拿到响应 traceId。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D:\Git\0.KH.WMS\docs\backend\后端底层概念\05-请求管道统一响应异常TraceId日志.md</a:t>
            </a:r>
          </a:p>
          <a:p xmlns:a="http://schemas.openxmlformats.org/drawingml/2006/main">
            <a:r>
              <a:t>- D:\Git\0.KH.WMS\docs\backend\后端开发指引V3教程\03-请求链路事务异常TraceIdAOP.md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 分钟</a:t>
            </a:r>
          </a:p>
          <a:p xmlns:a="http://schemas.openxmlformats.org/drawingml/2006/main">
            <a:r>
              <a:t>讲师提示：强调 JsonSetup 与 MVC 配置边界，手写中间件响应也要保持 content-type 和 camelCase。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D:\Git\0.KH.WMS\docs\backend\后端底层概念\17-JSON序列化与HTTP契约约定.md</a:t>
            </a:r>
          </a:p>
          <a:p xmlns:a="http://schemas.openxmlformats.org/drawingml/2006/main">
            <a:r>
              <a:t>- D:\Git\0.KH.WMS\docs\backend\后端底层概念\05-请求管道统一响应异常TraceId日志.md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建议时长：8 分钟（含答疑）</a:t>
            </a:r>
          </a:p>
          <a:p xmlns:a="http://schemas.openxmlformats.org/drawingml/2006/main">
            <a:r>
              <a:t>讲师提示：小测回答后，要求成员用一句话复述完整请求链。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D:\Git\0.KH.WMS\docs\backend\后端底层概念\03-依赖注入自动注册与AOP代理.md</a:t>
            </a:r>
          </a:p>
          <a:p xmlns:a="http://schemas.openxmlformats.org/drawingml/2006/main">
            <a:r>
              <a:t>- D:\Git\0.KH.WMS\docs\backend\后端底层概念\04-AOP拦截器与特性使用.md</a:t>
            </a:r>
          </a:p>
          <a:p xmlns:a="http://schemas.openxmlformats.org/drawingml/2006/main">
            <a:r>
              <a:t>- D:\Git\0.KH.WMS\docs\backend\后端底层概念\05-请求管道统一响应异常TraceId日志.md</a:t>
            </a:r>
          </a:p>
          <a:p xmlns:a="http://schemas.openxmlformats.org/drawingml/2006/main">
            <a:r>
              <a:t>小测参考答案：1. 检查容器创建、接口注入、WithoutInterceptor、是否绕过代理或内部自调用。2. 项目事务通过 MVC Filter 或 IUnitOfWork 管理。3. 普通返回不产生异常，自动事务可能认为方法成功结束。4. 从响应拿 TraceId，在日志、SQL 和异常记录中按同一标识检索。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8422c40c9d48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622d1c3edd46c6" /><Relationship Type="http://schemas.openxmlformats.org/officeDocument/2006/relationships/slideLayout" Target="/ppt/slideLayouts/slideLayout1.xml" Id="Rf024d877ce5240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24d877ce5240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67b0bd88c4d9e" /><Relationship Type="http://schemas.openxmlformats.org/officeDocument/2006/relationships/notesSlide" Target="/ppt/notesSlides/notesSlide1.xml" Id="R53a8107efcb44b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a145256f743aa" /><Relationship Type="http://schemas.openxmlformats.org/officeDocument/2006/relationships/notesSlide" Target="/ppt/notesSlides/notesSlide2.xml" Id="R9e8bca849a384c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27ffbff4104a28" /><Relationship Type="http://schemas.openxmlformats.org/officeDocument/2006/relationships/notesSlide" Target="/ppt/notesSlides/notesSlide3.xml" Id="R447ae3c67fa444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e254493424e38" /><Relationship Type="http://schemas.openxmlformats.org/officeDocument/2006/relationships/notesSlide" Target="/ppt/notesSlides/notesSlide4.xml" Id="R34cc530945864c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c32c1a0ff4f89" /><Relationship Type="http://schemas.openxmlformats.org/officeDocument/2006/relationships/notesSlide" Target="/ppt/notesSlides/notesSlide5.xml" Id="Rf815adeba92642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ef97973dc04e45" /><Relationship Type="http://schemas.openxmlformats.org/officeDocument/2006/relationships/notesSlide" Target="/ppt/notesSlides/notesSlide6.xml" Id="Rf37a420edf8942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dd44fc0134b19" /><Relationship Type="http://schemas.openxmlformats.org/officeDocument/2006/relationships/notesSlide" Target="/ppt/notesSlides/notesSlide7.xml" Id="R13ece8e9a2c1420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806f95128344b2" /><Relationship Type="http://schemas.openxmlformats.org/officeDocument/2006/relationships/notesSlide" Target="/ppt/notesSlides/notesSlide8.xml" Id="R165ad52603cc41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d6535ca404630" /><Relationship Type="http://schemas.openxmlformats.org/officeDocument/2006/relationships/notesSlide" Target="/ppt/notesSlides/notesSlide9.xml" Id="Re0263bdc4a7942f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cd2a91297d45f3" /><Relationship Type="http://schemas.openxmlformats.org/officeDocument/2006/relationships/notesSlide" Target="/ppt/notesSlides/notesSlide10.xml" Id="Rf1c8fe65ad0e4bf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bc1421d364914" /><Relationship Type="http://schemas.openxmlformats.org/officeDocument/2006/relationships/notesSlide" Target="/ppt/notesSlides/notesSlide11.xml" Id="R8f7cfa5b483c4c4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08eb42eabf4569" /><Relationship Type="http://schemas.openxmlformats.org/officeDocument/2006/relationships/notesSlide" Target="/ppt/notesSlides/notesSlide12.xml" Id="R8e1fa919963e4e3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cb06ed44a9488d" /><Relationship Type="http://schemas.openxmlformats.org/officeDocument/2006/relationships/notesSlide" Target="/ppt/notesSlides/notesSlide13.xml" Id="R7207acfd8f864a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ries-label">
            <a:extLst xmlns:a="http://schemas.openxmlformats.org/drawingml/2006/main">
              <a:ext uri="{FF2B5EF4-FFF2-40B4-BE49-F238E27FC236}">
                <a16:creationId xmlns:a16="http://schemas.microsoft.com/office/drawing/2014/main" id="{FBA68440-442E-43B7-9100-5F7DEF4E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47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KH.WMS 后端培训系列  ·  02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DC742D31-F4E8-4C80-A420-AE9CA32C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12776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请求链路、事务、异常、TraceId 与 AOP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B9AD959E-5A5A-4CDD-B69B-77EF0F91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76750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5BFF56E9-29E9-4DF6-9899-B5361E77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0125"/>
            <a:ext cx="723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沿着一次请求，看清框架能力在哪里接管业务</a:t>
            </a:r>
          </a:p>
        </p:txBody>
      </p:sp>
      <p:sp>
        <p:nvSpPr>
          <p:cNvPr id="5" name="audience">
            <a:extLst xmlns:a="http://schemas.openxmlformats.org/drawingml/2006/main">
              <a:ext uri="{FF2B5EF4-FFF2-40B4-BE49-F238E27FC236}">
                <a16:creationId xmlns:a16="http://schemas.microsoft.com/office/drawing/2014/main" id="{8DC45FF9-9807-4738-9C5B-1801D159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面向：后端新人及已有项目经验成员</a:t>
            </a:r>
          </a:p>
        </p:txBody>
      </p:sp>
    </p:spTree>
    <p:extLst>
      <p:ext uri="{BB962C8B-B14F-4D97-AF65-F5344CB8AC3E}">
        <p14:creationId xmlns:p14="http://schemas.microsoft.com/office/powerpoint/2010/main" val="6058229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D2710EF-5CAE-4F14-A9B5-990CDC4C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本次培训讲哪些知识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7A31A5F0-7332-428B-A637-D1D4F0EC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93E964D0-E6E3-4F88-97ED-3A554AB2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02 · 请求链路与横切能力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2E18E82-E2C5-4612-A2E9-603F2BF4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13</a:t>
            </a:r>
          </a:p>
        </p:txBody>
      </p:sp>
      <p:sp>
        <p:nvSpPr>
          <p:cNvPr id="5" name="scope-band-0">
            <a:extLst xmlns:a="http://schemas.openxmlformats.org/drawingml/2006/main">
              <a:ext uri="{FF2B5EF4-FFF2-40B4-BE49-F238E27FC236}">
                <a16:creationId xmlns:a16="http://schemas.microsoft.com/office/drawing/2014/main" id="{ED6F5015-56FE-48D0-BFE4-39B35292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3581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6" name="scope-label-0">
            <a:extLst xmlns:a="http://schemas.openxmlformats.org/drawingml/2006/main">
              <a:ext uri="{FF2B5EF4-FFF2-40B4-BE49-F238E27FC236}">
                <a16:creationId xmlns:a16="http://schemas.microsoft.com/office/drawing/2014/main" id="{C4DFFF84-1748-4065-A043-3B995A54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00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知识范围</a:t>
            </a:r>
          </a:p>
        </p:txBody>
      </p:sp>
      <p:sp>
        <p:nvSpPr>
          <p:cNvPr id="7" name="scope-body-0">
            <a:extLst xmlns:a="http://schemas.openxmlformats.org/drawingml/2006/main">
              <a:ext uri="{FF2B5EF4-FFF2-40B4-BE49-F238E27FC236}">
                <a16:creationId xmlns:a16="http://schemas.microsoft.com/office/drawing/2014/main" id="{EDEB4D48-525A-44A5-8B75-25395DC4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35052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• 请求管道与中间件顺序
• DI 代理和五类 AOP 拦截器
• CRUD、UnitOfWork 与 Transaction 三种事务边界
• 统一响应、异常、TraceId、日志与 JSON 契约</a:t>
            </a:r>
          </a:p>
        </p:txBody>
      </p:sp>
      <p:sp>
        <p:nvSpPr>
          <p:cNvPr id="8" name="scope-band-1">
            <a:extLst xmlns:a="http://schemas.openxmlformats.org/drawingml/2006/main">
              <a:ext uri="{FF2B5EF4-FFF2-40B4-BE49-F238E27FC236}">
                <a16:creationId xmlns:a16="http://schemas.microsoft.com/office/drawing/2014/main" id="{4C990451-37F2-43FB-9407-D639F208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66850"/>
            <a:ext cx="3581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9" name="scope-label-1">
            <a:extLst xmlns:a="http://schemas.openxmlformats.org/drawingml/2006/main">
              <a:ext uri="{FF2B5EF4-FFF2-40B4-BE49-F238E27FC236}">
                <a16:creationId xmlns:a16="http://schemas.microsoft.com/office/drawing/2014/main" id="{5C00D5A3-2257-412D-9B86-31CADE82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19250"/>
            <a:ext cx="3200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前置知识</a:t>
            </a:r>
          </a:p>
        </p:txBody>
      </p:sp>
      <p:sp>
        <p:nvSpPr>
          <p:cNvPr id="10" name="scope-body-1">
            <a:extLst xmlns:a="http://schemas.openxmlformats.org/drawingml/2006/main">
              <a:ext uri="{FF2B5EF4-FFF2-40B4-BE49-F238E27FC236}">
                <a16:creationId xmlns:a16="http://schemas.microsoft.com/office/drawing/2014/main" id="{B2964B5D-3EA0-4D99-B1CD-51F49BD9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35052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• 已理解启动、扫描和分层职责
• 知道 Service 通过接口注册和注入
• 了解 HTTP 请求与响应的基本结构</a:t>
            </a:r>
          </a:p>
        </p:txBody>
      </p:sp>
      <p:sp>
        <p:nvSpPr>
          <p:cNvPr id="11" name="scope-band-2">
            <a:extLst xmlns:a="http://schemas.openxmlformats.org/drawingml/2006/main">
              <a:ext uri="{FF2B5EF4-FFF2-40B4-BE49-F238E27FC236}">
                <a16:creationId xmlns:a16="http://schemas.microsoft.com/office/drawing/2014/main" id="{57BA0D81-79EC-433F-8616-B4282A80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66850"/>
            <a:ext cx="3581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1"/>
          </a:solidFill>
          <a:ln xmlns:a="http://schemas.openxmlformats.org/drawingml/2006/main" w="0">
            <a:solidFill>
              <a:srgbClr val="EEF7F1"/>
            </a:solidFill>
            <a:prstDash val="solid"/>
          </a:ln>
        </p:spPr>
      </p:sp>
      <p:sp>
        <p:nvSpPr>
          <p:cNvPr id="12" name="scope-label-2">
            <a:extLst xmlns:a="http://schemas.openxmlformats.org/drawingml/2006/main">
              <a:ext uri="{FF2B5EF4-FFF2-40B4-BE49-F238E27FC236}">
                <a16:creationId xmlns:a16="http://schemas.microsoft.com/office/drawing/2014/main" id="{2373DB5C-60F2-4026-82FA-A302CF9B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19250"/>
            <a:ext cx="3200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学完应会</a:t>
            </a:r>
          </a:p>
        </p:txBody>
      </p:sp>
      <p:sp>
        <p:nvSpPr>
          <p:cNvPr id="13" name="scope-body-2">
            <a:extLst xmlns:a="http://schemas.openxmlformats.org/drawingml/2006/main">
              <a:ext uri="{FF2B5EF4-FFF2-40B4-BE49-F238E27FC236}">
                <a16:creationId xmlns:a16="http://schemas.microsoft.com/office/drawing/2014/main" id="{00C0E3D0-6BA4-4CDB-8F72-9A54149F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5052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• 能画出请求从入口到数据库的主线
• 知道 AOP 不生效时检查代理条件
• 能区分返回失败和抛异常的回滚语义
• 能用 TraceId 把响应和日志关联起来</a:t>
            </a:r>
          </a:p>
        </p:txBody>
      </p:sp>
    </p:spTree>
    <p:extLst>
      <p:ext uri="{BB962C8B-B14F-4D97-AF65-F5344CB8AC3E}">
        <p14:creationId xmlns:p14="http://schemas.microsoft.com/office/powerpoint/2010/main" val="1918105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33851BF-98A1-46AD-B000-CC03EEC4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一次请求经过的层远多于 Controller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912001C7-B358-4368-8914-98CB810B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E2FC269E-31F1-4E63-BD91-FF2200EB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02 · 请求链路与横切能力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06D4DFA-3C03-4167-84C2-8A32D280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13</a:t>
            </a:r>
          </a:p>
        </p:txBody>
      </p:sp>
      <p:sp>
        <p:nvSpPr>
          <p:cNvPr id="5" name="statement">
            <a:extLst xmlns:a="http://schemas.openxmlformats.org/drawingml/2006/main">
              <a:ext uri="{FF2B5EF4-FFF2-40B4-BE49-F238E27FC236}">
                <a16:creationId xmlns:a16="http://schemas.microsoft.com/office/drawing/2014/main" id="{44C12C0D-E764-4B08-A8F8-62DC5FE9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0668000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接口成功或失败，往往由 Controller 之外的层决定。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CD3B0E40-9790-4C2E-992F-21EB70B6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statement-index-0">
            <a:extLst xmlns:a="http://schemas.openxmlformats.org/drawingml/2006/main">
              <a:ext uri="{FF2B5EF4-FFF2-40B4-BE49-F238E27FC236}">
                <a16:creationId xmlns:a16="http://schemas.microsoft.com/office/drawing/2014/main" id="{B8395BF5-5892-4498-A15C-934929F2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49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8" name="statement-point-0">
            <a:extLst xmlns:a="http://schemas.openxmlformats.org/drawingml/2006/main">
              <a:ext uri="{FF2B5EF4-FFF2-40B4-BE49-F238E27FC236}">
                <a16:creationId xmlns:a16="http://schemas.microsoft.com/office/drawing/2014/main" id="{F71A237E-7798-4B40-8E86-5FD752EC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25622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License、认证和授权可能提前终止请求</a:t>
            </a:r>
          </a:p>
        </p:txBody>
      </p:sp>
      <p:sp>
        <p:nvSpPr>
          <p:cNvPr id="9" name="statement-index-1">
            <a:extLst xmlns:a="http://schemas.openxmlformats.org/drawingml/2006/main">
              <a:ext uri="{FF2B5EF4-FFF2-40B4-BE49-F238E27FC236}">
                <a16:creationId xmlns:a16="http://schemas.microsoft.com/office/drawing/2014/main" id="{EEF58426-1155-4FF9-9FBB-56BC40E3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267200"/>
            <a:ext cx="49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0" name="statement-point-1">
            <a:extLst xmlns:a="http://schemas.openxmlformats.org/drawingml/2006/main">
              <a:ext uri="{FF2B5EF4-FFF2-40B4-BE49-F238E27FC236}">
                <a16:creationId xmlns:a16="http://schemas.microsoft.com/office/drawing/2014/main" id="{15EE2822-231C-4AC1-98D3-9803FEB5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762500"/>
            <a:ext cx="25622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AOP 决定日志、缓存、校验与性能步骤</a:t>
            </a:r>
          </a:p>
        </p:txBody>
      </p:sp>
      <p:sp>
        <p:nvSpPr>
          <p:cNvPr id="11" name="statement-index-2">
            <a:extLst xmlns:a="http://schemas.openxmlformats.org/drawingml/2006/main">
              <a:ext uri="{FF2B5EF4-FFF2-40B4-BE49-F238E27FC236}">
                <a16:creationId xmlns:a16="http://schemas.microsoft.com/office/drawing/2014/main" id="{809B12BB-8F9D-4310-A813-1BF4904B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67200"/>
            <a:ext cx="49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2" name="statement-point-2">
            <a:extLst xmlns:a="http://schemas.openxmlformats.org/drawingml/2006/main">
              <a:ext uri="{FF2B5EF4-FFF2-40B4-BE49-F238E27FC236}">
                <a16:creationId xmlns:a16="http://schemas.microsoft.com/office/drawing/2014/main" id="{4F1B5AB2-AE08-4D39-8B2A-E34E7DE2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62500"/>
            <a:ext cx="25622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事务边界决定写入能否一致回滚</a:t>
            </a:r>
          </a:p>
        </p:txBody>
      </p:sp>
      <p:sp>
        <p:nvSpPr>
          <p:cNvPr id="13" name="statement-index-3">
            <a:extLst xmlns:a="http://schemas.openxmlformats.org/drawingml/2006/main">
              <a:ext uri="{FF2B5EF4-FFF2-40B4-BE49-F238E27FC236}">
                <a16:creationId xmlns:a16="http://schemas.microsoft.com/office/drawing/2014/main" id="{E59C257E-7A59-4BB6-8E82-3D6CAC59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267200"/>
            <a:ext cx="49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14" name="statement-point-3">
            <a:extLst xmlns:a="http://schemas.openxmlformats.org/drawingml/2006/main">
              <a:ext uri="{FF2B5EF4-FFF2-40B4-BE49-F238E27FC236}">
                <a16:creationId xmlns:a16="http://schemas.microsoft.com/office/drawing/2014/main" id="{E48666E5-13B0-47EF-A129-AD3454CA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762500"/>
            <a:ext cx="25622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全局异常出口决定响应格式和 TraceId</a:t>
            </a:r>
          </a:p>
        </p:txBody>
      </p:sp>
    </p:spTree>
    <p:extLst>
      <p:ext uri="{BB962C8B-B14F-4D97-AF65-F5344CB8AC3E}">
        <p14:creationId xmlns:p14="http://schemas.microsoft.com/office/powerpoint/2010/main" val="13823774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21D2A93-CBA1-4402-BFCF-3C3F5F8D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请求管道顺序决定谁先拦截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8138FAEC-0021-43DA-B71B-E892E632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7365FB06-5835-477D-AB7E-60FC9CE6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02 · 请求链路与横切能力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2E2AD55-03D5-4C4A-B78A-17D5BAA8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13</a:t>
            </a:r>
          </a:p>
        </p:txBody>
      </p:sp>
      <p:sp>
        <p:nvSpPr>
          <p:cNvPr id="5" name="flow-intro">
            <a:extLst xmlns:a="http://schemas.openxmlformats.org/drawingml/2006/main">
              <a:ext uri="{FF2B5EF4-FFF2-40B4-BE49-F238E27FC236}">
                <a16:creationId xmlns:a16="http://schemas.microsoft.com/office/drawing/2014/main" id="{10A400A0-3D31-4BD2-8905-50F224A1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1049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前面的中间件可以直接返回，后面的 Controller 可能根本不会执行。</a:t>
            </a:r>
          </a:p>
        </p:txBody>
      </p:sp>
      <p:sp>
        <p:nvSpPr>
          <p:cNvPr id="6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D084AE59-242B-42D9-A410-EBE84512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050" y="335280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7" name="flow-index-0">
            <a:extLst xmlns:a="http://schemas.openxmlformats.org/drawingml/2006/main">
              <a:ext uri="{FF2B5EF4-FFF2-40B4-BE49-F238E27FC236}">
                <a16:creationId xmlns:a16="http://schemas.microsoft.com/office/drawing/2014/main" id="{A21ECDE3-17B0-4446-86C4-05FE9198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154622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369E991D-2F27-4C28-ABE1-15E25440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15462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AB0F2F51-BD32-458B-A5BC-B0D1915A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1546225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TraceId / 日志</a:t>
            </a:r>
          </a:p>
        </p:txBody>
      </p:sp>
      <p:sp>
        <p:nvSpPr>
          <p:cNvPr id="10" name="flow-body-0">
            <a:extLst xmlns:a="http://schemas.openxmlformats.org/drawingml/2006/main">
              <a:ext uri="{FF2B5EF4-FFF2-40B4-BE49-F238E27FC236}">
                <a16:creationId xmlns:a16="http://schemas.microsoft.com/office/drawing/2014/main" id="{F1BC7EF2-306E-4325-BB52-CFC9961F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81450"/>
            <a:ext cx="1546225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建立关联标识并记录请求上下文。</a:t>
            </a:r>
          </a:p>
        </p:txBody>
      </p:sp>
      <p:sp>
        <p:nvSpPr>
          <p:cNvPr id="11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2F6FB3A5-D689-4C48-9F0A-44B08F6A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7325" y="335280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2" name="flow-index-1">
            <a:extLst xmlns:a="http://schemas.openxmlformats.org/drawingml/2006/main">
              <a:ext uri="{FF2B5EF4-FFF2-40B4-BE49-F238E27FC236}">
                <a16:creationId xmlns:a16="http://schemas.microsoft.com/office/drawing/2014/main" id="{CD66BAF0-ACB7-4EEC-A384-FADC1272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475" y="2381250"/>
            <a:ext cx="154622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DD9FD64F-9F0A-46E9-A3EE-8DA1FF45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475" y="2838450"/>
            <a:ext cx="15462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F5B0E6EA-C662-4A57-97DA-95E8EE54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475" y="3105150"/>
            <a:ext cx="1546225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License</a:t>
            </a:r>
          </a:p>
        </p:txBody>
      </p:sp>
      <p:sp>
        <p:nvSpPr>
          <p:cNvPr id="15" name="flow-body-1">
            <a:extLst xmlns:a="http://schemas.openxmlformats.org/drawingml/2006/main">
              <a:ext uri="{FF2B5EF4-FFF2-40B4-BE49-F238E27FC236}">
                <a16:creationId xmlns:a16="http://schemas.microsoft.com/office/drawing/2014/main" id="{359889F2-99E3-4429-8245-B5F72DBE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475" y="3981450"/>
            <a:ext cx="1546225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许可无效时可直接返回 402。</a:t>
            </a:r>
          </a:p>
        </p:txBody>
      </p:sp>
      <p:sp>
        <p:nvSpPr>
          <p:cNvPr id="16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D546C435-BD61-4FD6-BA92-B3D76B46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5280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7" name="flow-index-2">
            <a:extLst xmlns:a="http://schemas.openxmlformats.org/drawingml/2006/main">
              <a:ext uri="{FF2B5EF4-FFF2-40B4-BE49-F238E27FC236}">
                <a16:creationId xmlns:a16="http://schemas.microsoft.com/office/drawing/2014/main" id="{2798B68E-E100-41A7-B7AA-52FEDD58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381250"/>
            <a:ext cx="154622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9E6DDAF8-9897-427A-8BEE-FB08CA85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838450"/>
            <a:ext cx="15462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A964EED2-5089-4E91-BB5D-78F1BF19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3105150"/>
            <a:ext cx="1546225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路由</a:t>
            </a:r>
          </a:p>
        </p:txBody>
      </p:sp>
      <p:sp>
        <p:nvSpPr>
          <p:cNvPr id="20" name="flow-body-2">
            <a:extLst xmlns:a="http://schemas.openxmlformats.org/drawingml/2006/main">
              <a:ext uri="{FF2B5EF4-FFF2-40B4-BE49-F238E27FC236}">
                <a16:creationId xmlns:a16="http://schemas.microsoft.com/office/drawing/2014/main" id="{6720AFCD-44C3-4D02-9A27-D71C5BD3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3981450"/>
            <a:ext cx="1546225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把 URL 匹配到具体 Endpoint。</a:t>
            </a:r>
          </a:p>
        </p:txBody>
      </p:sp>
      <p:sp>
        <p:nvSpPr>
          <p:cNvPr id="21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3C7B31F3-29D1-4627-BFB1-592E7ED4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9875" y="335280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22" name="flow-index-3">
            <a:extLst xmlns:a="http://schemas.openxmlformats.org/drawingml/2006/main">
              <a:ext uri="{FF2B5EF4-FFF2-40B4-BE49-F238E27FC236}">
                <a16:creationId xmlns:a16="http://schemas.microsoft.com/office/drawing/2014/main" id="{CD708BAA-BFE6-46E8-96D7-FB698177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381250"/>
            <a:ext cx="154622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23" name="rule">
            <a:extLst xmlns:a="http://schemas.openxmlformats.org/drawingml/2006/main">
              <a:ext uri="{FF2B5EF4-FFF2-40B4-BE49-F238E27FC236}">
                <a16:creationId xmlns:a16="http://schemas.microsoft.com/office/drawing/2014/main" id="{186AA77C-4B01-4933-BEC1-BCF47A53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838450"/>
            <a:ext cx="15462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4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B95D390B-6FC0-48FD-B088-9DABA940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105150"/>
            <a:ext cx="1546225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认证 / 授权</a:t>
            </a:r>
          </a:p>
        </p:txBody>
      </p:sp>
      <p:sp>
        <p:nvSpPr>
          <p:cNvPr id="25" name="flow-body-3">
            <a:extLst xmlns:a="http://schemas.openxmlformats.org/drawingml/2006/main">
              <a:ext uri="{FF2B5EF4-FFF2-40B4-BE49-F238E27FC236}">
                <a16:creationId xmlns:a16="http://schemas.microsoft.com/office/drawing/2014/main" id="{3F7AEDCA-EF5A-4C17-9DDD-6BCE6492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981450"/>
            <a:ext cx="1546225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解析用户身份并判断访问权限。</a:t>
            </a:r>
          </a:p>
        </p:txBody>
      </p:sp>
      <p:sp>
        <p:nvSpPr>
          <p:cNvPr id="26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B6B71599-9E47-4D11-9CE1-5C228C23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6150" y="335280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27" name="flow-index-4">
            <a:extLst xmlns:a="http://schemas.openxmlformats.org/drawingml/2006/main">
              <a:ext uri="{FF2B5EF4-FFF2-40B4-BE49-F238E27FC236}">
                <a16:creationId xmlns:a16="http://schemas.microsoft.com/office/drawing/2014/main" id="{5A9D0939-F6F2-41EE-9A7D-AAD0E2C6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300" y="2381250"/>
            <a:ext cx="154622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28" name="rule">
            <a:extLst xmlns:a="http://schemas.openxmlformats.org/drawingml/2006/main">
              <a:ext uri="{FF2B5EF4-FFF2-40B4-BE49-F238E27FC236}">
                <a16:creationId xmlns:a16="http://schemas.microsoft.com/office/drawing/2014/main" id="{E12749C5-6C28-4112-B96C-7198836F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300" y="2838450"/>
            <a:ext cx="15462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9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BA326B8A-46D4-448D-83FA-FB602E9D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300" y="3105150"/>
            <a:ext cx="1546225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Controller / Filter</a:t>
            </a:r>
          </a:p>
        </p:txBody>
      </p:sp>
      <p:sp>
        <p:nvSpPr>
          <p:cNvPr id="30" name="flow-body-4">
            <a:extLst xmlns:a="http://schemas.openxmlformats.org/drawingml/2006/main">
              <a:ext uri="{FF2B5EF4-FFF2-40B4-BE49-F238E27FC236}">
                <a16:creationId xmlns:a16="http://schemas.microsoft.com/office/drawing/2014/main" id="{1FCDB462-1B39-4476-AD15-4B280C4D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300" y="3981450"/>
            <a:ext cx="1546225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模型绑定、事务 Filter 和 Action 执行。</a:t>
            </a:r>
          </a:p>
        </p:txBody>
      </p:sp>
      <p:sp>
        <p:nvSpPr>
          <p:cNvPr id="31" name="flow-index-5">
            <a:extLst xmlns:a="http://schemas.openxmlformats.org/drawingml/2006/main">
              <a:ext uri="{FF2B5EF4-FFF2-40B4-BE49-F238E27FC236}">
                <a16:creationId xmlns:a16="http://schemas.microsoft.com/office/drawing/2014/main" id="{D385DD25-F0EA-48AC-ABF8-C35433F9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8575" y="2381250"/>
            <a:ext cx="154622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06</a:t>
            </a:r>
          </a:p>
        </p:txBody>
      </p:sp>
      <p:sp>
        <p:nvSpPr>
          <p:cNvPr id="32" name="rule">
            <a:extLst xmlns:a="http://schemas.openxmlformats.org/drawingml/2006/main">
              <a:ext uri="{FF2B5EF4-FFF2-40B4-BE49-F238E27FC236}">
                <a16:creationId xmlns:a16="http://schemas.microsoft.com/office/drawing/2014/main" id="{98E5D085-44DF-429B-ADDB-810A33A8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8575" y="2838450"/>
            <a:ext cx="15462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3" name="flow-title-5">
            <a:extLst xmlns:a="http://schemas.openxmlformats.org/drawingml/2006/main">
              <a:ext uri="{FF2B5EF4-FFF2-40B4-BE49-F238E27FC236}">
                <a16:creationId xmlns:a16="http://schemas.microsoft.com/office/drawing/2014/main" id="{0DF0484E-BCDB-4700-9C9B-FDBBD0A1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8575" y="3105150"/>
            <a:ext cx="1546225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统一异常出口</a:t>
            </a:r>
          </a:p>
        </p:txBody>
      </p:sp>
      <p:sp>
        <p:nvSpPr>
          <p:cNvPr id="34" name="flow-body-5">
            <a:extLst xmlns:a="http://schemas.openxmlformats.org/drawingml/2006/main">
              <a:ext uri="{FF2B5EF4-FFF2-40B4-BE49-F238E27FC236}">
                <a16:creationId xmlns:a16="http://schemas.microsoft.com/office/drawing/2014/main" id="{0C8A6D79-EDB5-4685-8826-A4732502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8575" y="3981450"/>
            <a:ext cx="1546225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把未处理异常转换为 ApiResponse。</a:t>
            </a:r>
          </a:p>
        </p:txBody>
      </p:sp>
    </p:spTree>
    <p:extLst>
      <p:ext uri="{BB962C8B-B14F-4D97-AF65-F5344CB8AC3E}">
        <p14:creationId xmlns:p14="http://schemas.microsoft.com/office/powerpoint/2010/main" val="11662459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ECE7B8-7919-4B95-AA39-267FB6A1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AOP 能否生效，先看对象是不是代理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8E1B2844-0EED-4CE7-A96C-17CC7772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0956F142-A19B-404C-AD6F-D09C146D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02 · 请求链路与横切能力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BB4686B-BC1A-4C0D-BF70-970D6884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05 / 13</a:t>
            </a:r>
          </a:p>
        </p:txBody>
      </p:sp>
      <p:sp>
        <p:nvSpPr>
          <p:cNvPr id="5" name="compare-intro">
            <a:extLst xmlns:a="http://schemas.openxmlformats.org/drawingml/2006/main">
              <a:ext uri="{FF2B5EF4-FFF2-40B4-BE49-F238E27FC236}">
                <a16:creationId xmlns:a16="http://schemas.microsoft.com/office/drawing/2014/main" id="{759EE5EB-C288-4C17-83DC-96B085C2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049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特性写在方法上只是触发条件之一，调用必须真正经过容器创建的代理对象。</a:t>
            </a:r>
          </a:p>
        </p:txBody>
      </p:sp>
      <p:sp>
        <p:nvSpPr>
          <p:cNvPr id="6" name="compare-band-0">
            <a:extLst xmlns:a="http://schemas.openxmlformats.org/drawingml/2006/main">
              <a:ext uri="{FF2B5EF4-FFF2-40B4-BE49-F238E27FC236}">
                <a16:creationId xmlns:a16="http://schemas.microsoft.com/office/drawing/2014/main" id="{8EED3A58-7B1E-4A11-86D2-ACD95D46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533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7" name="compare-title-0">
            <a:extLst xmlns:a="http://schemas.openxmlformats.org/drawingml/2006/main">
              <a:ext uri="{FF2B5EF4-FFF2-40B4-BE49-F238E27FC236}">
                <a16:creationId xmlns:a16="http://schemas.microsoft.com/office/drawing/2014/main" id="{3C8CC664-CF2E-4F69-B889-D8776631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4914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会经过代理</a:t>
            </a:r>
          </a:p>
        </p:txBody>
      </p:sp>
      <p:sp>
        <p:nvSpPr>
          <p:cNvPr id="8" name="compare-body-0">
            <a:extLst xmlns:a="http://schemas.openxmlformats.org/drawingml/2006/main">
              <a:ext uri="{FF2B5EF4-FFF2-40B4-BE49-F238E27FC236}">
                <a16:creationId xmlns:a16="http://schemas.microsoft.com/office/drawing/2014/main" id="{1129A7D8-A43B-4966-B037-1C290223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81350"/>
            <a:ext cx="52578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• Service 标记 RegisteredService
• 显式注册到业务接口
• 通过接口构造注入
• 目标方法由外部代理对象调用</a:t>
            </a:r>
          </a:p>
        </p:txBody>
      </p:sp>
      <p:sp>
        <p:nvSpPr>
          <p:cNvPr id="9" name="compare-band-1">
            <a:extLst xmlns:a="http://schemas.openxmlformats.org/drawingml/2006/main">
              <a:ext uri="{FF2B5EF4-FFF2-40B4-BE49-F238E27FC236}">
                <a16:creationId xmlns:a16="http://schemas.microsoft.com/office/drawing/2014/main" id="{A4E0F00A-FBF9-4D19-8B17-7A127049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533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10" name="compare-title-1">
            <a:extLst xmlns:a="http://schemas.openxmlformats.org/drawingml/2006/main">
              <a:ext uri="{FF2B5EF4-FFF2-40B4-BE49-F238E27FC236}">
                <a16:creationId xmlns:a16="http://schemas.microsoft.com/office/drawing/2014/main" id="{E27E5107-ED84-408F-BD47-3A5759F7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28850"/>
            <a:ext cx="4914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常见绕过方式</a:t>
            </a:r>
          </a:p>
        </p:txBody>
      </p:sp>
      <p:sp>
        <p:nvSpPr>
          <p:cNvPr id="11" name="compare-body-1">
            <a:extLst xmlns:a="http://schemas.openxmlformats.org/drawingml/2006/main">
              <a:ext uri="{FF2B5EF4-FFF2-40B4-BE49-F238E27FC236}">
                <a16:creationId xmlns:a16="http://schemas.microsoft.com/office/drawing/2014/main" id="{2DA5337E-B1F0-4A31-881B-2BD28757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81350"/>
            <a:ext cx="52578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• 业务代码手动 new Service
• 直接注入实现类但仅生成接口代理
• WithoutInterceptor = true
• 对象内部自调用同一个代理方法</a:t>
            </a:r>
          </a:p>
        </p:txBody>
      </p:sp>
    </p:spTree>
    <p:extLst>
      <p:ext uri="{BB962C8B-B14F-4D97-AF65-F5344CB8AC3E}">
        <p14:creationId xmlns:p14="http://schemas.microsoft.com/office/powerpoint/2010/main" val="1582358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904AAC-0ED7-4652-95EA-5304B906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五类拦截器各管一件横切能力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0DB34ED3-7337-4DB3-8D3A-2DFDB4D3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94AE5319-5B12-42CB-8FE0-FF41C3B9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02 · 请求链路与横切能力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632352E-E16C-4EC1-8B91-652F19CF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06 / 13</a:t>
            </a:r>
          </a:p>
        </p:txBody>
      </p:sp>
      <p:sp>
        <p:nvSpPr>
          <p:cNvPr id="5" name="matrix-intro">
            <a:extLst xmlns:a="http://schemas.openxmlformats.org/drawingml/2006/main">
              <a:ext uri="{FF2B5EF4-FFF2-40B4-BE49-F238E27FC236}">
                <a16:creationId xmlns:a16="http://schemas.microsoft.com/office/drawing/2014/main" id="{6AAA2283-D184-49C1-8211-0EBFD5FB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1049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把通用能力集中在代理层，业务方法只保留业务语义。</a:t>
            </a:r>
          </a:p>
        </p:txBody>
      </p:sp>
      <p:sp>
        <p:nvSpPr>
          <p:cNvPr id="6" name="matrix-header-band-0">
            <a:extLst xmlns:a="http://schemas.openxmlformats.org/drawingml/2006/main">
              <a:ext uri="{FF2B5EF4-FFF2-40B4-BE49-F238E27FC236}">
                <a16:creationId xmlns:a16="http://schemas.microsoft.com/office/drawing/2014/main" id="{6DFC6656-9231-4AF6-B241-851E3667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2857500" cy="69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matrix-header-0">
            <a:extLst xmlns:a="http://schemas.openxmlformats.org/drawingml/2006/main">
              <a:ext uri="{FF2B5EF4-FFF2-40B4-BE49-F238E27FC236}">
                <a16:creationId xmlns:a16="http://schemas.microsoft.com/office/drawing/2014/main" id="{A20BDB75-3B19-463C-825E-8B1F1244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05025"/>
            <a:ext cx="2628900" cy="469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拦截器</a:t>
            </a:r>
          </a:p>
        </p:txBody>
      </p:sp>
      <p:sp>
        <p:nvSpPr>
          <p:cNvPr id="8" name="matrix-header-band-1">
            <a:extLst xmlns:a="http://schemas.openxmlformats.org/drawingml/2006/main">
              <a:ext uri="{FF2B5EF4-FFF2-40B4-BE49-F238E27FC236}">
                <a16:creationId xmlns:a16="http://schemas.microsoft.com/office/drawing/2014/main" id="{8704DA19-E784-4634-983D-F35FA49B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52625"/>
            <a:ext cx="4762500" cy="69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matrix-header-1">
            <a:extLst xmlns:a="http://schemas.openxmlformats.org/drawingml/2006/main">
              <a:ext uri="{FF2B5EF4-FFF2-40B4-BE49-F238E27FC236}">
                <a16:creationId xmlns:a16="http://schemas.microsoft.com/office/drawing/2014/main" id="{DE3A8407-E428-4858-A495-D907850A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05025"/>
            <a:ext cx="4533900" cy="469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主要职责</a:t>
            </a:r>
          </a:p>
        </p:txBody>
      </p:sp>
      <p:sp>
        <p:nvSpPr>
          <p:cNvPr id="10" name="matrix-header-band-2">
            <a:extLst xmlns:a="http://schemas.openxmlformats.org/drawingml/2006/main">
              <a:ext uri="{FF2B5EF4-FFF2-40B4-BE49-F238E27FC236}">
                <a16:creationId xmlns:a16="http://schemas.microsoft.com/office/drawing/2014/main" id="{31D2F057-74F4-44D9-964D-D0AE5CA0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52625"/>
            <a:ext cx="3657600" cy="69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matrix-header-2">
            <a:extLst xmlns:a="http://schemas.openxmlformats.org/drawingml/2006/main">
              <a:ext uri="{FF2B5EF4-FFF2-40B4-BE49-F238E27FC236}">
                <a16:creationId xmlns:a16="http://schemas.microsoft.com/office/drawing/2014/main" id="{D06E4FD7-A9F1-42D5-8E90-80B3EC7E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05025"/>
            <a:ext cx="3429000" cy="469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常见触发点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82478F06-343E-4B30-86E8-2158DB6D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40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3" name="matrix-cell-0-0">
            <a:extLst xmlns:a="http://schemas.openxmlformats.org/drawingml/2006/main">
              <a:ext uri="{FF2B5EF4-FFF2-40B4-BE49-F238E27FC236}">
                <a16:creationId xmlns:a16="http://schemas.microsoft.com/office/drawing/2014/main" id="{68F6F249-1294-4F36-8F27-BFDBC588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5425"/>
            <a:ext cx="262890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LoggingInterceptor</a:t>
            </a:r>
          </a:p>
        </p:txBody>
      </p:sp>
      <p:sp>
        <p:nvSpPr>
          <p:cNvPr id="14" name="matrix-cell-0-1">
            <a:extLst xmlns:a="http://schemas.openxmlformats.org/drawingml/2006/main">
              <a:ext uri="{FF2B5EF4-FFF2-40B4-BE49-F238E27FC236}">
                <a16:creationId xmlns:a16="http://schemas.microsoft.com/office/drawing/2014/main" id="{7137E482-612E-4119-9C60-08C46769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65425"/>
            <a:ext cx="453390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记录方法调用与必要上下文</a:t>
            </a:r>
          </a:p>
        </p:txBody>
      </p:sp>
      <p:sp>
        <p:nvSpPr>
          <p:cNvPr id="15" name="matrix-cell-0-2">
            <a:extLst xmlns:a="http://schemas.openxmlformats.org/drawingml/2006/main">
              <a:ext uri="{FF2B5EF4-FFF2-40B4-BE49-F238E27FC236}">
                <a16:creationId xmlns:a16="http://schemas.microsoft.com/office/drawing/2014/main" id="{A5D1B93B-1375-4D5D-86F3-6F7185E6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65425"/>
            <a:ext cx="342900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LogInterceptor 特性或统一策略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5B93E9A9-DECF-41BC-BFE4-9D57C37A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38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matrix-cell-1-0">
            <a:extLst xmlns:a="http://schemas.openxmlformats.org/drawingml/2006/main">
              <a:ext uri="{FF2B5EF4-FFF2-40B4-BE49-F238E27FC236}">
                <a16:creationId xmlns:a16="http://schemas.microsoft.com/office/drawing/2014/main" id="{BF1D403F-8BED-4CD2-89AC-86D021B7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63925"/>
            <a:ext cx="262890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CachingInterceptor</a:t>
            </a:r>
          </a:p>
        </p:txBody>
      </p:sp>
      <p:sp>
        <p:nvSpPr>
          <p:cNvPr id="18" name="matrix-cell-1-1">
            <a:extLst xmlns:a="http://schemas.openxmlformats.org/drawingml/2006/main">
              <a:ext uri="{FF2B5EF4-FFF2-40B4-BE49-F238E27FC236}">
                <a16:creationId xmlns:a16="http://schemas.microsoft.com/office/drawing/2014/main" id="{0C3E7564-C280-4280-982D-9BD8730B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63925"/>
            <a:ext cx="453390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读取、写入或清理方法结果缓存</a:t>
            </a:r>
          </a:p>
        </p:txBody>
      </p:sp>
      <p:sp>
        <p:nvSpPr>
          <p:cNvPr id="19" name="matrix-cell-1-2">
            <a:extLst xmlns:a="http://schemas.openxmlformats.org/drawingml/2006/main">
              <a:ext uri="{FF2B5EF4-FFF2-40B4-BE49-F238E27FC236}">
                <a16:creationId xmlns:a16="http://schemas.microsoft.com/office/drawing/2014/main" id="{221A8603-A42A-47C3-AA9B-A815DF19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63925"/>
            <a:ext cx="342900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Cache 特性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BC248DF9-9CEA-4C07-B176-E464E63B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37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1" name="matrix-cell-2-0">
            <a:extLst xmlns:a="http://schemas.openxmlformats.org/drawingml/2006/main">
              <a:ext uri="{FF2B5EF4-FFF2-40B4-BE49-F238E27FC236}">
                <a16:creationId xmlns:a16="http://schemas.microsoft.com/office/drawing/2014/main" id="{1C33923B-8FE7-4182-8659-9CB79B27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62425"/>
            <a:ext cx="262890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ConfigValidationInterceptor</a:t>
            </a:r>
          </a:p>
        </p:txBody>
      </p:sp>
      <p:sp>
        <p:nvSpPr>
          <p:cNvPr id="22" name="matrix-cell-2-1">
            <a:extLst xmlns:a="http://schemas.openxmlformats.org/drawingml/2006/main">
              <a:ext uri="{FF2B5EF4-FFF2-40B4-BE49-F238E27FC236}">
                <a16:creationId xmlns:a16="http://schemas.microsoft.com/office/drawing/2014/main" id="{E405B565-11B0-4DB7-86DA-052ED7E1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62425"/>
            <a:ext cx="453390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执行业务方法前的配置化校验</a:t>
            </a:r>
          </a:p>
        </p:txBody>
      </p:sp>
      <p:sp>
        <p:nvSpPr>
          <p:cNvPr id="23" name="matrix-cell-2-2">
            <a:extLst xmlns:a="http://schemas.openxmlformats.org/drawingml/2006/main">
              <a:ext uri="{FF2B5EF4-FFF2-40B4-BE49-F238E27FC236}">
                <a16:creationId xmlns:a16="http://schemas.microsoft.com/office/drawing/2014/main" id="{93C866EB-6F5C-411A-8B20-9B32B3F2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62425"/>
            <a:ext cx="342900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ConfigValidation 特性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35EAE2F2-13CC-4862-B54A-C7F6ABB3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35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5" name="matrix-cell-3-0">
            <a:extLst xmlns:a="http://schemas.openxmlformats.org/drawingml/2006/main">
              <a:ext uri="{FF2B5EF4-FFF2-40B4-BE49-F238E27FC236}">
                <a16:creationId xmlns:a16="http://schemas.microsoft.com/office/drawing/2014/main" id="{D2618E1F-9AD0-41AD-A172-4F26E0D6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60925"/>
            <a:ext cx="262890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ExceptionInterceptor</a:t>
            </a:r>
          </a:p>
        </p:txBody>
      </p:sp>
      <p:sp>
        <p:nvSpPr>
          <p:cNvPr id="26" name="matrix-cell-3-1">
            <a:extLst xmlns:a="http://schemas.openxmlformats.org/drawingml/2006/main">
              <a:ext uri="{FF2B5EF4-FFF2-40B4-BE49-F238E27FC236}">
                <a16:creationId xmlns:a16="http://schemas.microsoft.com/office/drawing/2014/main" id="{A2D67BF0-518A-4DD0-95B2-09990B9E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60925"/>
            <a:ext cx="453390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记录代理层异常并保持异常语义</a:t>
            </a:r>
          </a:p>
        </p:txBody>
      </p:sp>
      <p:sp>
        <p:nvSpPr>
          <p:cNvPr id="27" name="matrix-cell-3-2">
            <a:extLst xmlns:a="http://schemas.openxmlformats.org/drawingml/2006/main">
              <a:ext uri="{FF2B5EF4-FFF2-40B4-BE49-F238E27FC236}">
                <a16:creationId xmlns:a16="http://schemas.microsoft.com/office/drawing/2014/main" id="{7DB6BB38-AF37-4F2C-95F2-15A5CDEF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60925"/>
            <a:ext cx="342900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代理调用异常</a:t>
            </a:r>
          </a:p>
        </p:txBody>
      </p:sp>
      <p:sp>
        <p:nvSpPr>
          <p:cNvPr id="28" name="rule">
            <a:extLst xmlns:a="http://schemas.openxmlformats.org/drawingml/2006/main">
              <a:ext uri="{FF2B5EF4-FFF2-40B4-BE49-F238E27FC236}">
                <a16:creationId xmlns:a16="http://schemas.microsoft.com/office/drawing/2014/main" id="{66548F22-51D8-47BF-8F88-C24F3BA4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34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9" name="matrix-cell-4-0">
            <a:extLst xmlns:a="http://schemas.openxmlformats.org/drawingml/2006/main">
              <a:ext uri="{FF2B5EF4-FFF2-40B4-BE49-F238E27FC236}">
                <a16:creationId xmlns:a16="http://schemas.microsoft.com/office/drawing/2014/main" id="{B6C6607E-F3C7-4077-88AD-08E44A83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59425"/>
            <a:ext cx="262890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PerformanceInterceptor</a:t>
            </a:r>
          </a:p>
        </p:txBody>
      </p:sp>
      <p:sp>
        <p:nvSpPr>
          <p:cNvPr id="30" name="matrix-cell-4-1">
            <a:extLst xmlns:a="http://schemas.openxmlformats.org/drawingml/2006/main">
              <a:ext uri="{FF2B5EF4-FFF2-40B4-BE49-F238E27FC236}">
                <a16:creationId xmlns:a16="http://schemas.microsoft.com/office/drawing/2014/main" id="{04820B15-D84C-4F99-970E-38EFB3D2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559425"/>
            <a:ext cx="453390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记录方法耗时并进入性能链路</a:t>
            </a:r>
          </a:p>
        </p:txBody>
      </p:sp>
      <p:sp>
        <p:nvSpPr>
          <p:cNvPr id="31" name="matrix-cell-4-2">
            <a:extLst xmlns:a="http://schemas.openxmlformats.org/drawingml/2006/main">
              <a:ext uri="{FF2B5EF4-FFF2-40B4-BE49-F238E27FC236}">
                <a16:creationId xmlns:a16="http://schemas.microsoft.com/office/drawing/2014/main" id="{0D7CE84A-9AB9-4EFB-BC2A-54E483EC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59425"/>
            <a:ext cx="342900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代理方法调用</a:t>
            </a:r>
          </a:p>
        </p:txBody>
      </p:sp>
    </p:spTree>
    <p:extLst>
      <p:ext uri="{BB962C8B-B14F-4D97-AF65-F5344CB8AC3E}">
        <p14:creationId xmlns:p14="http://schemas.microsoft.com/office/powerpoint/2010/main" val="5136723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83A700-3668-4DB1-ADB0-B02C7729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事务有三种常见边界，按场景选择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D61B50E3-6EFF-4898-9A5C-66B1AE47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9F5AB99B-8857-4350-819F-250C5AE5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02 · 请求链路与横切能力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73DAF5D-2E62-4D58-8822-29406963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07 / 13</a:t>
            </a:r>
          </a:p>
        </p:txBody>
      </p:sp>
      <p:sp>
        <p:nvSpPr>
          <p:cNvPr id="5" name="matrix-intro">
            <a:extLst xmlns:a="http://schemas.openxmlformats.org/drawingml/2006/main">
              <a:ext uri="{FF2B5EF4-FFF2-40B4-BE49-F238E27FC236}">
                <a16:creationId xmlns:a16="http://schemas.microsoft.com/office/drawing/2014/main" id="{063436BB-6693-4A8A-AD61-FB4170AE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1049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事务边界应由最外层业务一致性需求决定，避免内外层重复开启。</a:t>
            </a:r>
          </a:p>
        </p:txBody>
      </p:sp>
      <p:sp>
        <p:nvSpPr>
          <p:cNvPr id="6" name="matrix-header-band-0">
            <a:extLst xmlns:a="http://schemas.openxmlformats.org/drawingml/2006/main">
              <a:ext uri="{FF2B5EF4-FFF2-40B4-BE49-F238E27FC236}">
                <a16:creationId xmlns:a16="http://schemas.microsoft.com/office/drawing/2014/main" id="{53375296-B85B-4E85-8F19-2682FB62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2667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matrix-header-0">
            <a:extLst xmlns:a="http://schemas.openxmlformats.org/drawingml/2006/main">
              <a:ext uri="{FF2B5EF4-FFF2-40B4-BE49-F238E27FC236}">
                <a16:creationId xmlns:a16="http://schemas.microsoft.com/office/drawing/2014/main" id="{FD117F80-BE38-4F9A-9604-146DBA0D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05025"/>
            <a:ext cx="2438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边界</a:t>
            </a:r>
          </a:p>
        </p:txBody>
      </p:sp>
      <p:sp>
        <p:nvSpPr>
          <p:cNvPr id="8" name="matrix-header-band-1">
            <a:extLst xmlns:a="http://schemas.openxmlformats.org/drawingml/2006/main">
              <a:ext uri="{FF2B5EF4-FFF2-40B4-BE49-F238E27FC236}">
                <a16:creationId xmlns:a16="http://schemas.microsoft.com/office/drawing/2014/main" id="{6323618C-79B6-4373-A781-0E60FCB7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52625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matrix-header-1">
            <a:extLst xmlns:a="http://schemas.openxmlformats.org/drawingml/2006/main">
              <a:ext uri="{FF2B5EF4-FFF2-40B4-BE49-F238E27FC236}">
                <a16:creationId xmlns:a16="http://schemas.microsoft.com/office/drawing/2014/main" id="{34486EF2-D5CD-4DBC-AECB-5B190B30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05025"/>
            <a:ext cx="4343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适用场景</a:t>
            </a:r>
          </a:p>
        </p:txBody>
      </p:sp>
      <p:sp>
        <p:nvSpPr>
          <p:cNvPr id="10" name="matrix-header-band-2">
            <a:extLst xmlns:a="http://schemas.openxmlformats.org/drawingml/2006/main">
              <a:ext uri="{FF2B5EF4-FFF2-40B4-BE49-F238E27FC236}">
                <a16:creationId xmlns:a16="http://schemas.microsoft.com/office/drawing/2014/main" id="{C9A5843C-46C2-4B74-A943-C5F97AE6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952625"/>
            <a:ext cx="4038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matrix-header-2">
            <a:extLst xmlns:a="http://schemas.openxmlformats.org/drawingml/2006/main">
              <a:ext uri="{FF2B5EF4-FFF2-40B4-BE49-F238E27FC236}">
                <a16:creationId xmlns:a16="http://schemas.microsoft.com/office/drawing/2014/main" id="{7A7C77A1-D8DB-4F9E-A200-D0E72097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05025"/>
            <a:ext cx="3810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关键提醒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FBFFC7B1-CC1C-4585-94B4-7256EC73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909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3" name="matrix-cell-0-0">
            <a:extLst xmlns:a="http://schemas.openxmlformats.org/drawingml/2006/main">
              <a:ext uri="{FF2B5EF4-FFF2-40B4-BE49-F238E27FC236}">
                <a16:creationId xmlns:a16="http://schemas.microsoft.com/office/drawing/2014/main" id="{F7746983-B38D-450D-AA97-C367E6C4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90825"/>
            <a:ext cx="2438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CRUD 内置事务</a:t>
            </a:r>
          </a:p>
        </p:txBody>
      </p:sp>
      <p:sp>
        <p:nvSpPr>
          <p:cNvPr id="14" name="matrix-cell-0-1">
            <a:extLst xmlns:a="http://schemas.openxmlformats.org/drawingml/2006/main">
              <a:ext uri="{FF2B5EF4-FFF2-40B4-BE49-F238E27FC236}">
                <a16:creationId xmlns:a16="http://schemas.microsoft.com/office/drawing/2014/main" id="{9CC5D5F0-C142-4E68-8332-F0AF61A1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90825"/>
            <a:ext cx="4343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单实体新增、更新、删除</a:t>
            </a:r>
          </a:p>
        </p:txBody>
      </p:sp>
      <p:sp>
        <p:nvSpPr>
          <p:cNvPr id="15" name="matrix-cell-0-2">
            <a:extLst xmlns:a="http://schemas.openxmlformats.org/drawingml/2006/main">
              <a:ext uri="{FF2B5EF4-FFF2-40B4-BE49-F238E27FC236}">
                <a16:creationId xmlns:a16="http://schemas.microsoft.com/office/drawing/2014/main" id="{9370475D-2110-4A37-8624-CBD1CC11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90825"/>
            <a:ext cx="3810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优先使用基类能力，不手动再开事务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892F47AC-A1BD-4C88-B0F5-337C7AD8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matrix-cell-1-0">
            <a:extLst xmlns:a="http://schemas.openxmlformats.org/drawingml/2006/main">
              <a:ext uri="{FF2B5EF4-FFF2-40B4-BE49-F238E27FC236}">
                <a16:creationId xmlns:a16="http://schemas.microsoft.com/office/drawing/2014/main" id="{22749C3B-D74D-4FAC-9458-12558EA1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14725"/>
            <a:ext cx="2438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IUnitOfWork</a:t>
            </a:r>
          </a:p>
        </p:txBody>
      </p:sp>
      <p:sp>
        <p:nvSpPr>
          <p:cNvPr id="18" name="matrix-cell-1-1">
            <a:extLst xmlns:a="http://schemas.openxmlformats.org/drawingml/2006/main">
              <a:ext uri="{FF2B5EF4-FFF2-40B4-BE49-F238E27FC236}">
                <a16:creationId xmlns:a16="http://schemas.microsoft.com/office/drawing/2014/main" id="{2EACDE13-470B-4171-AFEF-6C5A66D2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14725"/>
            <a:ext cx="4343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Service 内多次写入、跨 Contract 流程</a:t>
            </a:r>
          </a:p>
        </p:txBody>
      </p:sp>
      <p:sp>
        <p:nvSpPr>
          <p:cNvPr id="19" name="matrix-cell-1-2">
            <a:extLst xmlns:a="http://schemas.openxmlformats.org/drawingml/2006/main">
              <a:ext uri="{FF2B5EF4-FFF2-40B4-BE49-F238E27FC236}">
                <a16:creationId xmlns:a16="http://schemas.microsoft.com/office/drawing/2014/main" id="{CBF04A50-EA99-45A6-A3A6-A38C3E62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14725"/>
            <a:ext cx="3810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调用方控制 begin / commit / rollback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2DE38BD9-4CF4-45F6-A937-60272CF0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38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1" name="matrix-cell-2-0">
            <a:extLst xmlns:a="http://schemas.openxmlformats.org/drawingml/2006/main">
              <a:ext uri="{FF2B5EF4-FFF2-40B4-BE49-F238E27FC236}">
                <a16:creationId xmlns:a16="http://schemas.microsoft.com/office/drawing/2014/main" id="{95A9DABD-318F-4FF7-B24C-4C2267D9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38625"/>
            <a:ext cx="2438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Transaction Filter</a:t>
            </a:r>
          </a:p>
        </p:txBody>
      </p:sp>
      <p:sp>
        <p:nvSpPr>
          <p:cNvPr id="22" name="matrix-cell-2-1">
            <a:extLst xmlns:a="http://schemas.openxmlformats.org/drawingml/2006/main">
              <a:ext uri="{FF2B5EF4-FFF2-40B4-BE49-F238E27FC236}">
                <a16:creationId xmlns:a16="http://schemas.microsoft.com/office/drawing/2014/main" id="{445BF836-D802-4938-B3FC-17AEB3C7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38625"/>
            <a:ext cx="4343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Controller / Action 级整体事务</a:t>
            </a:r>
          </a:p>
        </p:txBody>
      </p:sp>
      <p:sp>
        <p:nvSpPr>
          <p:cNvPr id="23" name="matrix-cell-2-2">
            <a:extLst xmlns:a="http://schemas.openxmlformats.org/drawingml/2006/main">
              <a:ext uri="{FF2B5EF4-FFF2-40B4-BE49-F238E27FC236}">
                <a16:creationId xmlns:a16="http://schemas.microsoft.com/office/drawing/2014/main" id="{831723B8-75E4-472A-B174-8477448A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38625"/>
            <a:ext cx="3810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避免内部 Service 再启动同类事务</a:t>
            </a:r>
          </a:p>
        </p:txBody>
      </p:sp>
    </p:spTree>
    <p:extLst>
      <p:ext uri="{BB962C8B-B14F-4D97-AF65-F5344CB8AC3E}">
        <p14:creationId xmlns:p14="http://schemas.microsoft.com/office/powerpoint/2010/main" val="6932760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82850DE-550F-43F5-9C9F-B9860DF2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返回失败不等于抛异常，回滚语义不同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33EE98E7-1AC1-486D-AB43-77E08904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004303FE-B6C9-4F25-A046-B1E536E5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02 · 请求链路与横切能力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85B4876-CAD0-4240-AF1D-573F5D87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08 / 13</a:t>
            </a:r>
          </a:p>
        </p:txBody>
      </p:sp>
      <p:sp>
        <p:nvSpPr>
          <p:cNvPr id="5" name="compare-intro">
            <a:extLst xmlns:a="http://schemas.openxmlformats.org/drawingml/2006/main">
              <a:ext uri="{FF2B5EF4-FFF2-40B4-BE49-F238E27FC236}">
                <a16:creationId xmlns:a16="http://schemas.microsoft.com/office/drawing/2014/main" id="{5C5A957E-D784-4749-8CBD-0F40F8AC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049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事务系统能感知异常，却不一定理解一个普通失败返回值。</a:t>
            </a:r>
          </a:p>
        </p:txBody>
      </p:sp>
      <p:sp>
        <p:nvSpPr>
          <p:cNvPr id="6" name="compare-band-0">
            <a:extLst xmlns:a="http://schemas.openxmlformats.org/drawingml/2006/main">
              <a:ext uri="{FF2B5EF4-FFF2-40B4-BE49-F238E27FC236}">
                <a16:creationId xmlns:a16="http://schemas.microsoft.com/office/drawing/2014/main" id="{6470C853-827E-4E0D-8B29-B016BBD2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533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7" name="compare-title-0">
            <a:extLst xmlns:a="http://schemas.openxmlformats.org/drawingml/2006/main">
              <a:ext uri="{FF2B5EF4-FFF2-40B4-BE49-F238E27FC236}">
                <a16:creationId xmlns:a16="http://schemas.microsoft.com/office/drawing/2014/main" id="{2524DDE0-7DB5-43CE-A908-3CBA977B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4914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t>返回失败结果</a:t>
            </a:r>
          </a:p>
        </p:txBody>
      </p:sp>
      <p:sp>
        <p:nvSpPr>
          <p:cNvPr id="8" name="compare-body-0">
            <a:extLst xmlns:a="http://schemas.openxmlformats.org/drawingml/2006/main">
              <a:ext uri="{FF2B5EF4-FFF2-40B4-BE49-F238E27FC236}">
                <a16:creationId xmlns:a16="http://schemas.microsoft.com/office/drawing/2014/main" id="{88E50A52-1360-4359-B952-0570940B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81350"/>
            <a:ext cx="52578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• 业务方法正常结束
• 外层自动事务可能继续提交
• 手动事务必须在返回前 rollback
• 适合已明确处理完状态的业务失败</a:t>
            </a:r>
          </a:p>
        </p:txBody>
      </p:sp>
      <p:sp>
        <p:nvSpPr>
          <p:cNvPr id="9" name="compare-band-1">
            <a:extLst xmlns:a="http://schemas.openxmlformats.org/drawingml/2006/main">
              <a:ext uri="{FF2B5EF4-FFF2-40B4-BE49-F238E27FC236}">
                <a16:creationId xmlns:a16="http://schemas.microsoft.com/office/drawing/2014/main" id="{C16BACE0-A9A1-4591-A714-33F037D3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533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10" name="compare-title-1">
            <a:extLst xmlns:a="http://schemas.openxmlformats.org/drawingml/2006/main">
              <a:ext uri="{FF2B5EF4-FFF2-40B4-BE49-F238E27FC236}">
                <a16:creationId xmlns:a16="http://schemas.microsoft.com/office/drawing/2014/main" id="{C67109C4-79CE-491F-9182-4D282DEB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28850"/>
            <a:ext cx="4914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2413B"/>
                </a:solidFill>
                <a:latin typeface="Microsoft YaHei"/>
                <a:ea typeface="Microsoft YaHei"/>
                <a:cs typeface="Microsoft YaHei"/>
              </a:defRPr>
            </a:pPr>
            <a:r>
              <a:t>抛出异常</a:t>
            </a:r>
          </a:p>
        </p:txBody>
      </p:sp>
      <p:sp>
        <p:nvSpPr>
          <p:cNvPr id="11" name="compare-body-1">
            <a:extLst xmlns:a="http://schemas.openxmlformats.org/drawingml/2006/main">
              <a:ext uri="{FF2B5EF4-FFF2-40B4-BE49-F238E27FC236}">
                <a16:creationId xmlns:a16="http://schemas.microsoft.com/office/drawing/2014/main" id="{DA1EBF82-2C34-4981-AE69-FF947594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81350"/>
            <a:ext cx="52578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• 异常沿调用栈向外传播
• 事务 Filter / UnitOfWork 可感知并回滚
• 全局异常出口转为 ApiResponse
• CRUD 钩子失败更适合保留异常语义</a:t>
            </a:r>
          </a:p>
        </p:txBody>
      </p:sp>
    </p:spTree>
    <p:extLst>
      <p:ext uri="{BB962C8B-B14F-4D97-AF65-F5344CB8AC3E}">
        <p14:creationId xmlns:p14="http://schemas.microsoft.com/office/powerpoint/2010/main" val="939331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683038A-55E8-493B-B03E-C8E40F14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统一响应让前端稳定处理成功与失败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855833D6-02B6-410A-A2EB-05C1DFAA4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FFBEF2EA-698D-4CDF-BB19-75C66213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02 · 请求链路与横切能力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C04A05A-FEA0-4B80-B8B9-1815A337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09 / 13</a:t>
            </a:r>
          </a:p>
        </p:txBody>
      </p:sp>
      <p:sp>
        <p:nvSpPr>
          <p:cNvPr id="5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B8C14989-1848-4D63-A7CD-09C75A55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66675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6" name="code-block">
            <a:extLst xmlns:a="http://schemas.openxmlformats.org/drawingml/2006/main">
              <a:ext uri="{FF2B5EF4-FFF2-40B4-BE49-F238E27FC236}">
                <a16:creationId xmlns:a16="http://schemas.microsoft.com/office/drawing/2014/main" id="{10E27425-C925-46BE-87B1-264921FE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6210300" cy="381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t>public class ApiResponse&lt;T&gt;
{
    public bool Success { get; set; }
    public string? Code { get; set; }
    public string? Message { get; set; }
    public T? Data { get; set; }
    public string? TraceId { get; set; }
}
// 对外接口统一返回
return ApiResponse.Ok(data);</a:t>
            </a:r>
          </a:p>
        </p:txBody>
      </p:sp>
      <p:sp>
        <p:nvSpPr>
          <p:cNvPr id="7" name="code-side-title">
            <a:extLst xmlns:a="http://schemas.openxmlformats.org/drawingml/2006/main">
              <a:ext uri="{FF2B5EF4-FFF2-40B4-BE49-F238E27FC236}">
                <a16:creationId xmlns:a16="http://schemas.microsoft.com/office/drawing/2014/main" id="{A20239F4-BEAA-4AA0-B21C-0CFB618D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62100"/>
            <a:ext cx="3905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统一契约的价值</a:t>
            </a:r>
          </a:p>
        </p:txBody>
      </p:sp>
      <p:sp>
        <p:nvSpPr>
          <p:cNvPr id="8" name="code-side-body">
            <a:extLst xmlns:a="http://schemas.openxmlformats.org/drawingml/2006/main">
              <a:ext uri="{FF2B5EF4-FFF2-40B4-BE49-F238E27FC236}">
                <a16:creationId xmlns:a16="http://schemas.microsoft.com/office/drawing/2014/main" id="{FBAB6BB8-C530-41B7-B988-2D51735E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19350"/>
            <a:ext cx="390525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• 前端固定读取 success / code / message / data
• 异常响应也保留同一结构
• traceId 提供排查入口
• 避免裸返回匿名对象
• Service 内流程可使用 ServiceResult</a:t>
            </a:r>
          </a:p>
        </p:txBody>
      </p:sp>
    </p:spTree>
    <p:extLst>
      <p:ext uri="{BB962C8B-B14F-4D97-AF65-F5344CB8AC3E}">
        <p14:creationId xmlns:p14="http://schemas.microsoft.com/office/powerpoint/2010/main" val="1153027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32D57D-E8C5-4799-8A46-FDDBFBF1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未处理异常应该交给全局出口收敛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C295B984-1AA9-4048-B8D8-C79B75E6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31669464-622C-432E-9551-97998200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02 · 请求链路与横切能力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31CEFE7-F9AC-4E00-9D3A-4458F505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10 / 13</a:t>
            </a:r>
          </a:p>
        </p:txBody>
      </p:sp>
      <p:sp>
        <p:nvSpPr>
          <p:cNvPr id="5" name="flow-intro">
            <a:extLst xmlns:a="http://schemas.openxmlformats.org/drawingml/2006/main">
              <a:ext uri="{FF2B5EF4-FFF2-40B4-BE49-F238E27FC236}">
                <a16:creationId xmlns:a16="http://schemas.microsoft.com/office/drawing/2014/main" id="{5250B5F7-4811-4EAF-A0B9-8A9C5BC4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1049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不要在每层都捕获后返回匿名对象，否则事务和统一响应都会失去语义。</a:t>
            </a:r>
          </a:p>
        </p:txBody>
      </p:sp>
      <p:sp>
        <p:nvSpPr>
          <p:cNvPr id="6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AE4EA837-B35B-475E-BFE4-3CEFFC7A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4188" y="335280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7" name="flow-index-0">
            <a:extLst xmlns:a="http://schemas.openxmlformats.org/drawingml/2006/main">
              <a:ext uri="{FF2B5EF4-FFF2-40B4-BE49-F238E27FC236}">
                <a16:creationId xmlns:a16="http://schemas.microsoft.com/office/drawing/2014/main" id="{B72A1392-63E9-4514-A0FC-452873CA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2519363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86501D5B-150A-43E9-A848-2007584E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251936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A153F253-7D48-429A-927E-C9CE1462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2519363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业务方法抛异常</a:t>
            </a:r>
          </a:p>
        </p:txBody>
      </p:sp>
      <p:sp>
        <p:nvSpPr>
          <p:cNvPr id="10" name="flow-body-0">
            <a:extLst xmlns:a="http://schemas.openxmlformats.org/drawingml/2006/main">
              <a:ext uri="{FF2B5EF4-FFF2-40B4-BE49-F238E27FC236}">
                <a16:creationId xmlns:a16="http://schemas.microsoft.com/office/drawing/2014/main" id="{57B0C1EA-6059-473D-8D50-DCDBA828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81450"/>
            <a:ext cx="2519363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保留原始失败语义和调用栈。</a:t>
            </a:r>
          </a:p>
        </p:txBody>
      </p:sp>
      <p:sp>
        <p:nvSpPr>
          <p:cNvPr id="11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BD6AEED4-366C-4DAA-BE34-5690569D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5280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2" name="flow-index-1">
            <a:extLst xmlns:a="http://schemas.openxmlformats.org/drawingml/2006/main">
              <a:ext uri="{FF2B5EF4-FFF2-40B4-BE49-F238E27FC236}">
                <a16:creationId xmlns:a16="http://schemas.microsoft.com/office/drawing/2014/main" id="{C18FB693-9A6D-43C5-83CD-95C4AF77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2381250"/>
            <a:ext cx="2519363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528012D3-A42E-4FD3-B991-DE57CDAA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2838450"/>
            <a:ext cx="251936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AC87FAAC-3B70-4AAC-B0B8-5DC7DCD6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3105150"/>
            <a:ext cx="2519363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事务执行回滚</a:t>
            </a:r>
          </a:p>
        </p:txBody>
      </p:sp>
      <p:sp>
        <p:nvSpPr>
          <p:cNvPr id="15" name="flow-body-1">
            <a:extLst xmlns:a="http://schemas.openxmlformats.org/drawingml/2006/main">
              <a:ext uri="{FF2B5EF4-FFF2-40B4-BE49-F238E27FC236}">
                <a16:creationId xmlns:a16="http://schemas.microsoft.com/office/drawing/2014/main" id="{F1ECE759-E064-4A0D-B4C2-B6EC90B1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3981450"/>
            <a:ext cx="2519363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Filter 或 UnitOfWork 清理写入状态。</a:t>
            </a:r>
          </a:p>
        </p:txBody>
      </p:sp>
      <p:sp>
        <p:nvSpPr>
          <p:cNvPr id="16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525F3009-A70B-41AD-99E1-2DB9C7AC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3013" y="335280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7" name="flow-index-2">
            <a:extLst xmlns:a="http://schemas.openxmlformats.org/drawingml/2006/main">
              <a:ext uri="{FF2B5EF4-FFF2-40B4-BE49-F238E27FC236}">
                <a16:creationId xmlns:a16="http://schemas.microsoft.com/office/drawing/2014/main" id="{3731DE51-5779-479E-8704-328B41A8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381250"/>
            <a:ext cx="2519363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2D87CA33-3917-4C28-8F57-7956EB72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838450"/>
            <a:ext cx="251936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6C50B8D5-B985-41DA-93BD-3A2CEAC5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105150"/>
            <a:ext cx="2519363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异常 Filter 接管</a:t>
            </a:r>
          </a:p>
        </p:txBody>
      </p:sp>
      <p:sp>
        <p:nvSpPr>
          <p:cNvPr id="20" name="flow-body-2">
            <a:extLst xmlns:a="http://schemas.openxmlformats.org/drawingml/2006/main">
              <a:ext uri="{FF2B5EF4-FFF2-40B4-BE49-F238E27FC236}">
                <a16:creationId xmlns:a16="http://schemas.microsoft.com/office/drawing/2014/main" id="{0C752B56-F33E-4B84-86CB-96183F50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981450"/>
            <a:ext cx="2519363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记录异常、映射错误信息。</a:t>
            </a:r>
          </a:p>
        </p:txBody>
      </p:sp>
      <p:sp>
        <p:nvSpPr>
          <p:cNvPr id="21" name="flow-index-3">
            <a:extLst xmlns:a="http://schemas.openxmlformats.org/drawingml/2006/main">
              <a:ext uri="{FF2B5EF4-FFF2-40B4-BE49-F238E27FC236}">
                <a16:creationId xmlns:a16="http://schemas.microsoft.com/office/drawing/2014/main" id="{44C7A7B7-CFD0-4D1E-87ED-758A9FA1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438" y="2381250"/>
            <a:ext cx="2519363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DC59D07F-352C-4B9D-9330-13092E8B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438" y="2838450"/>
            <a:ext cx="251936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3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0AB2D10E-5BD2-4262-9B7A-949FC69D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438" y="3105150"/>
            <a:ext cx="2519363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返回 ApiResponse</a:t>
            </a:r>
          </a:p>
        </p:txBody>
      </p:sp>
      <p:sp>
        <p:nvSpPr>
          <p:cNvPr id="24" name="flow-body-3">
            <a:extLst xmlns:a="http://schemas.openxmlformats.org/drawingml/2006/main">
              <a:ext uri="{FF2B5EF4-FFF2-40B4-BE49-F238E27FC236}">
                <a16:creationId xmlns:a16="http://schemas.microsoft.com/office/drawing/2014/main" id="{A710AF90-9BC9-417A-BAA0-A6E48440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438" y="3981450"/>
            <a:ext cx="2519363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带 code、message 和 traceId。</a:t>
            </a:r>
          </a:p>
        </p:txBody>
      </p:sp>
    </p:spTree>
    <p:extLst>
      <p:ext uri="{BB962C8B-B14F-4D97-AF65-F5344CB8AC3E}">
        <p14:creationId xmlns:p14="http://schemas.microsoft.com/office/powerpoint/2010/main" val="6618107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1BC97D-27B9-4F64-A23C-AD31B395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TraceId 把用户反馈、响应和日志串成证据链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AEFF4EC8-4649-4074-B7EA-992531C4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71228C17-4B2F-407A-B8D4-1748F15B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02 · 请求链路与横切能力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FB887DF-6F82-476A-B327-E7D72A52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11 / 13</a:t>
            </a:r>
          </a:p>
        </p:txBody>
      </p:sp>
      <p:sp>
        <p:nvSpPr>
          <p:cNvPr id="5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6F141903-2F93-423D-95B4-7AEBF32F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305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6" name="flow-index-0">
            <a:extLst xmlns:a="http://schemas.openxmlformats.org/drawingml/2006/main">
              <a:ext uri="{FF2B5EF4-FFF2-40B4-BE49-F238E27FC236}">
                <a16:creationId xmlns:a16="http://schemas.microsoft.com/office/drawing/2014/main" id="{3F5F03FF-602F-4F14-AC34-CA5DB474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9025CAD8-2644-4E58-9CCD-519AF792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5597803D-1746-4C84-8477-4DEA8462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请求进入</a:t>
            </a:r>
          </a:p>
        </p:txBody>
      </p:sp>
      <p:sp>
        <p:nvSpPr>
          <p:cNvPr id="9" name="flow-body-0">
            <a:extLst xmlns:a="http://schemas.openxmlformats.org/drawingml/2006/main">
              <a:ext uri="{FF2B5EF4-FFF2-40B4-BE49-F238E27FC236}">
                <a16:creationId xmlns:a16="http://schemas.microsoft.com/office/drawing/2014/main" id="{1B28DA34-17AB-4665-90C8-8315CAED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创建或读取 TraceId。</a:t>
            </a:r>
          </a:p>
        </p:txBody>
      </p:sp>
      <p:sp>
        <p:nvSpPr>
          <p:cNvPr id="10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CB617E23-973D-4E9D-8177-E3E717C3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835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1" name="flow-index-1">
            <a:extLst xmlns:a="http://schemas.openxmlformats.org/drawingml/2006/main">
              <a:ext uri="{FF2B5EF4-FFF2-40B4-BE49-F238E27FC236}">
                <a16:creationId xmlns:a16="http://schemas.microsoft.com/office/drawing/2014/main" id="{C2AD56B9-F54C-4A5B-93EE-3BD90C82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A56C44C5-10DA-40C0-AE6F-7ADDFA46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10FF0BF1-D976-4CE1-B087-72B62AE9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日志上下文</a:t>
            </a:r>
          </a:p>
        </p:txBody>
      </p:sp>
      <p:sp>
        <p:nvSpPr>
          <p:cNvPr id="14" name="flow-body-1">
            <a:extLst xmlns:a="http://schemas.openxmlformats.org/drawingml/2006/main">
              <a:ext uri="{FF2B5EF4-FFF2-40B4-BE49-F238E27FC236}">
                <a16:creationId xmlns:a16="http://schemas.microsoft.com/office/drawing/2014/main" id="{CBE3B0D0-B338-48E9-B1E4-D0AFE60B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Serilog 记录同一关联标识。</a:t>
            </a:r>
          </a:p>
        </p:txBody>
      </p:sp>
      <p:sp>
        <p:nvSpPr>
          <p:cNvPr id="15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C48E1A5D-F2C1-4297-8C8D-A9664338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1365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6" name="flow-index-2">
            <a:extLst xmlns:a="http://schemas.openxmlformats.org/drawingml/2006/main">
              <a:ext uri="{FF2B5EF4-FFF2-40B4-BE49-F238E27FC236}">
                <a16:creationId xmlns:a16="http://schemas.microsoft.com/office/drawing/2014/main" id="{019C2B05-F636-47AD-87B5-FAE30036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7461FF2B-181A-42C9-B490-22275D0D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376CDDB0-3804-4F16-82D7-73818DF8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异常 / 失败</a:t>
            </a:r>
          </a:p>
        </p:txBody>
      </p:sp>
      <p:sp>
        <p:nvSpPr>
          <p:cNvPr id="19" name="flow-body-2">
            <a:extLst xmlns:a="http://schemas.openxmlformats.org/drawingml/2006/main">
              <a:ext uri="{FF2B5EF4-FFF2-40B4-BE49-F238E27FC236}">
                <a16:creationId xmlns:a16="http://schemas.microsoft.com/office/drawing/2014/main" id="{0B35D382-6861-4BDF-A177-6893350C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全局出口保留 TraceId。</a:t>
            </a:r>
          </a:p>
        </p:txBody>
      </p:sp>
      <p:sp>
        <p:nvSpPr>
          <p:cNvPr id="20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E4D7CDED-E7CA-4DCC-BDFF-DD067EB3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895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21" name="flow-index-3">
            <a:extLst xmlns:a="http://schemas.openxmlformats.org/drawingml/2006/main">
              <a:ext uri="{FF2B5EF4-FFF2-40B4-BE49-F238E27FC236}">
                <a16:creationId xmlns:a16="http://schemas.microsoft.com/office/drawing/2014/main" id="{7A3D3731-416E-4CE3-A4F7-93EC5EE7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6E4AEE9A-6AFD-4183-8403-F3FD5BB8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3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202CB7C7-2F62-4C5A-9CB9-EF0905A7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前端响应</a:t>
            </a:r>
          </a:p>
        </p:txBody>
      </p:sp>
      <p:sp>
        <p:nvSpPr>
          <p:cNvPr id="24" name="flow-body-3">
            <a:extLst xmlns:a="http://schemas.openxmlformats.org/drawingml/2006/main">
              <a:ext uri="{FF2B5EF4-FFF2-40B4-BE49-F238E27FC236}">
                <a16:creationId xmlns:a16="http://schemas.microsoft.com/office/drawing/2014/main" id="{684BF67D-611B-4E2B-9B59-9A5826DC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用户反馈时提供 TraceId。</a:t>
            </a:r>
          </a:p>
        </p:txBody>
      </p:sp>
      <p:sp>
        <p:nvSpPr>
          <p:cNvPr id="25" name="flow-index-4">
            <a:extLst xmlns:a="http://schemas.openxmlformats.org/drawingml/2006/main">
              <a:ext uri="{FF2B5EF4-FFF2-40B4-BE49-F238E27FC236}">
                <a16:creationId xmlns:a16="http://schemas.microsoft.com/office/drawing/2014/main" id="{AF4DDA29-0C3D-4E4E-86D5-DC2135EE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26" name="rule">
            <a:extLst xmlns:a="http://schemas.openxmlformats.org/drawingml/2006/main">
              <a:ext uri="{FF2B5EF4-FFF2-40B4-BE49-F238E27FC236}">
                <a16:creationId xmlns:a16="http://schemas.microsoft.com/office/drawing/2014/main" id="{B1C1D466-2DDD-452F-9B96-2FBD37C3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7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8892BAE1-D480-4DFB-9C0D-F93B995E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后端检索</a:t>
            </a:r>
          </a:p>
        </p:txBody>
      </p:sp>
      <p:sp>
        <p:nvSpPr>
          <p:cNvPr id="28" name="flow-body-4">
            <a:extLst xmlns:a="http://schemas.openxmlformats.org/drawingml/2006/main">
              <a:ext uri="{FF2B5EF4-FFF2-40B4-BE49-F238E27FC236}">
                <a16:creationId xmlns:a16="http://schemas.microsoft.com/office/drawing/2014/main" id="{B47FC36E-5A93-489C-AD1B-97CFB664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按 TraceId 聚合请求、SQL 和异常。</a:t>
            </a:r>
          </a:p>
        </p:txBody>
      </p:sp>
    </p:spTree>
    <p:extLst>
      <p:ext uri="{BB962C8B-B14F-4D97-AF65-F5344CB8AC3E}">
        <p14:creationId xmlns:p14="http://schemas.microsoft.com/office/powerpoint/2010/main" val="10643185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6669812-D92F-4C8D-AFFF-8CC3624F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JSON 契约异常先检查序列化边界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E08D7789-B8E8-41FE-8423-CBBE04C7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9FF400E2-5A73-47D1-A6B1-DA348406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02 · 请求链路与横切能力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9301EE8-A72A-42A4-A4F0-A6967584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12 / 13</a:t>
            </a:r>
          </a:p>
        </p:txBody>
      </p:sp>
      <p:sp>
        <p:nvSpPr>
          <p:cNvPr id="5" name="checklist-intro">
            <a:extLst xmlns:a="http://schemas.openxmlformats.org/drawingml/2006/main">
              <a:ext uri="{FF2B5EF4-FFF2-40B4-BE49-F238E27FC236}">
                <a16:creationId xmlns:a16="http://schemas.microsoft.com/office/drawing/2014/main" id="{976A3E3A-B23B-40D9-8486-5FE5FD32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049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字段缺失、日期不对或 ExtData 失败，未必是业务查询没有数据。</a:t>
            </a:r>
          </a:p>
        </p:txBody>
      </p:sp>
      <p:sp>
        <p:nvSpPr>
          <p:cNvPr id="6" name="checklist-title-0">
            <a:extLst xmlns:a="http://schemas.openxmlformats.org/drawingml/2006/main">
              <a:ext uri="{FF2B5EF4-FFF2-40B4-BE49-F238E27FC236}">
                <a16:creationId xmlns:a16="http://schemas.microsoft.com/office/drawing/2014/main" id="{37C7F5B8-3576-40E9-B32A-FDEC6D8C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5143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返回格式</a:t>
            </a:r>
          </a:p>
        </p:txBody>
      </p:sp>
      <p:sp>
        <p:nvSpPr>
          <p:cNvPr id="7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263E3193-7FE6-49CD-8792-CD6A8A2B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336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check-mark">
            <a:extLst xmlns:a="http://schemas.openxmlformats.org/drawingml/2006/main">
              <a:ext uri="{FF2B5EF4-FFF2-40B4-BE49-F238E27FC236}">
                <a16:creationId xmlns:a16="http://schemas.microsoft.com/office/drawing/2014/main" id="{3FF13EE0-6EFC-44C8-9CC9-0BC603D5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9" name="check-text-0-0">
            <a:extLst xmlns:a="http://schemas.openxmlformats.org/drawingml/2006/main">
              <a:ext uri="{FF2B5EF4-FFF2-40B4-BE49-F238E27FC236}">
                <a16:creationId xmlns:a16="http://schemas.microsoft.com/office/drawing/2014/main" id="{760ED0AF-EAC1-449A-896C-2BDDB9F9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95575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字段是否按 camelCase 输出</a:t>
            </a:r>
          </a:p>
        </p:txBody>
      </p:sp>
      <p:sp>
        <p:nvSpPr>
          <p:cNvPr id="10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81270362-EAE7-4F91-A47B-26F0793C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00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check-mark">
            <a:extLst xmlns:a="http://schemas.openxmlformats.org/drawingml/2006/main">
              <a:ext uri="{FF2B5EF4-FFF2-40B4-BE49-F238E27FC236}">
                <a16:creationId xmlns:a16="http://schemas.microsoft.com/office/drawing/2014/main" id="{2C47AA83-6176-4B3D-A767-F4582EC1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12" name="check-text-0-1">
            <a:extLst xmlns:a="http://schemas.openxmlformats.org/drawingml/2006/main">
              <a:ext uri="{FF2B5EF4-FFF2-40B4-BE49-F238E27FC236}">
                <a16:creationId xmlns:a16="http://schemas.microsoft.com/office/drawing/2014/main" id="{91437429-AE0B-4A4F-959C-4BF27C3F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62325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null 字段是否按全局策略被忽略</a:t>
            </a:r>
          </a:p>
        </p:txBody>
      </p:sp>
      <p:sp>
        <p:nvSpPr>
          <p:cNvPr id="13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F1348947-9837-4050-98B2-F676E33B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67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check-mark">
            <a:extLst xmlns:a="http://schemas.openxmlformats.org/drawingml/2006/main">
              <a:ext uri="{FF2B5EF4-FFF2-40B4-BE49-F238E27FC236}">
                <a16:creationId xmlns:a16="http://schemas.microsoft.com/office/drawing/2014/main" id="{02D07301-D7D3-4068-AE33-3BF747D8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19550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15" name="check-text-0-2">
            <a:extLst xmlns:a="http://schemas.openxmlformats.org/drawingml/2006/main">
              <a:ext uri="{FF2B5EF4-FFF2-40B4-BE49-F238E27FC236}">
                <a16:creationId xmlns:a16="http://schemas.microsoft.com/office/drawing/2014/main" id="{A1C93675-0E47-419E-98A4-A05B6782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29075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日期、枚举和 bool 转换是否符合约定</a:t>
            </a:r>
          </a:p>
        </p:txBody>
      </p:sp>
      <p:sp>
        <p:nvSpPr>
          <p:cNvPr id="16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33A5FA57-472C-4A76-99D4-C485DEDC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33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check-mark">
            <a:extLst xmlns:a="http://schemas.openxmlformats.org/drawingml/2006/main">
              <a:ext uri="{FF2B5EF4-FFF2-40B4-BE49-F238E27FC236}">
                <a16:creationId xmlns:a16="http://schemas.microsoft.com/office/drawing/2014/main" id="{698AB623-1274-4EA7-B754-F2449BB5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18" name="check-text-0-3">
            <a:extLst xmlns:a="http://schemas.openxmlformats.org/drawingml/2006/main">
              <a:ext uri="{FF2B5EF4-FFF2-40B4-BE49-F238E27FC236}">
                <a16:creationId xmlns:a16="http://schemas.microsoft.com/office/drawing/2014/main" id="{EA225751-14E2-4B26-B68B-2CED82BA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95825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中间件手写 JSON 是否仍返回 ApiResponse</a:t>
            </a:r>
          </a:p>
        </p:txBody>
      </p:sp>
      <p:sp>
        <p:nvSpPr>
          <p:cNvPr id="19" name="checklist-title-1">
            <a:extLst xmlns:a="http://schemas.openxmlformats.org/drawingml/2006/main">
              <a:ext uri="{FF2B5EF4-FFF2-40B4-BE49-F238E27FC236}">
                <a16:creationId xmlns:a16="http://schemas.microsoft.com/office/drawing/2014/main" id="{749FF00C-BDA4-4A36-A223-B4536D59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52625"/>
            <a:ext cx="5143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请求解析</a:t>
            </a:r>
          </a:p>
        </p:txBody>
      </p:sp>
      <p:sp>
        <p:nvSpPr>
          <p:cNvPr id="20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2F13ACB8-DB93-4D43-9EBD-A1969D04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336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1" name="check-mark">
            <a:extLst xmlns:a="http://schemas.openxmlformats.org/drawingml/2006/main">
              <a:ext uri="{FF2B5EF4-FFF2-40B4-BE49-F238E27FC236}">
                <a16:creationId xmlns:a16="http://schemas.microsoft.com/office/drawing/2014/main" id="{666C5E11-F4EC-4FCA-ACAF-9F818BC4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86050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22" name="check-text-1-0">
            <a:extLst xmlns:a="http://schemas.openxmlformats.org/drawingml/2006/main">
              <a:ext uri="{FF2B5EF4-FFF2-40B4-BE49-F238E27FC236}">
                <a16:creationId xmlns:a16="http://schemas.microsoft.com/office/drawing/2014/main" id="{B6D90142-6237-4EB5-9CAB-C55B364E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95575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请求体是否启用 EnableBuffering</a:t>
            </a:r>
          </a:p>
        </p:txBody>
      </p:sp>
      <p:sp>
        <p:nvSpPr>
          <p:cNvPr id="23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33B8A88C-4F35-4026-BF99-7F35E3CB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00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4" name="check-mark">
            <a:extLst xmlns:a="http://schemas.openxmlformats.org/drawingml/2006/main">
              <a:ext uri="{FF2B5EF4-FFF2-40B4-BE49-F238E27FC236}">
                <a16:creationId xmlns:a16="http://schemas.microsoft.com/office/drawing/2014/main" id="{4F815F2F-18F9-4FFD-ACA5-E5183A85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52800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25" name="check-text-1-1">
            <a:extLst xmlns:a="http://schemas.openxmlformats.org/drawingml/2006/main">
              <a:ext uri="{FF2B5EF4-FFF2-40B4-BE49-F238E27FC236}">
                <a16:creationId xmlns:a16="http://schemas.microsoft.com/office/drawing/2014/main" id="{F1E75D22-250C-4B47-BF93-639592B8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62325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extDataRaw 是否为合法 JSON 字符串</a:t>
            </a:r>
          </a:p>
        </p:txBody>
      </p:sp>
      <p:sp>
        <p:nvSpPr>
          <p:cNvPr id="26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99E097F2-3736-4ABF-8C7A-B0066AE5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67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7" name="check-mark">
            <a:extLst xmlns:a="http://schemas.openxmlformats.org/drawingml/2006/main">
              <a:ext uri="{FF2B5EF4-FFF2-40B4-BE49-F238E27FC236}">
                <a16:creationId xmlns:a16="http://schemas.microsoft.com/office/drawing/2014/main" id="{71516371-2EDC-4C09-BD67-460C3F87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19550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28" name="check-text-1-2">
            <a:extLst xmlns:a="http://schemas.openxmlformats.org/drawingml/2006/main">
              <a:ext uri="{FF2B5EF4-FFF2-40B4-BE49-F238E27FC236}">
                <a16:creationId xmlns:a16="http://schemas.microsoft.com/office/drawing/2014/main" id="{13115552-B047-493C-8CC6-9F46A482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29075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DTO 字段名与前端协议是否一致</a:t>
            </a:r>
          </a:p>
        </p:txBody>
      </p:sp>
      <p:sp>
        <p:nvSpPr>
          <p:cNvPr id="29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41927673-F0D4-4716-A44A-3817D874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33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0" name="check-mark">
            <a:extLst xmlns:a="http://schemas.openxmlformats.org/drawingml/2006/main">
              <a:ext uri="{FF2B5EF4-FFF2-40B4-BE49-F238E27FC236}">
                <a16:creationId xmlns:a16="http://schemas.microsoft.com/office/drawing/2014/main" id="{C9D244C5-A8BB-4C03-B373-AFBEE298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86300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31" name="check-text-1-3">
            <a:extLst xmlns:a="http://schemas.openxmlformats.org/drawingml/2006/main">
              <a:ext uri="{FF2B5EF4-FFF2-40B4-BE49-F238E27FC236}">
                <a16:creationId xmlns:a16="http://schemas.microsoft.com/office/drawing/2014/main" id="{1D1D6E00-6B74-4BCC-94BA-AC02AEDF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95825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异常是否被全局 Filter 统一接管</a:t>
            </a:r>
          </a:p>
        </p:txBody>
      </p:sp>
    </p:spTree>
    <p:extLst>
      <p:ext uri="{BB962C8B-B14F-4D97-AF65-F5344CB8AC3E}">
        <p14:creationId xmlns:p14="http://schemas.microsoft.com/office/powerpoint/2010/main" val="8162358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9AB641C-0A1B-454D-B03A-9D99FAC1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复盘小测：把结论说出来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66E7018D-845A-4694-91B1-094CC01E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D1B35C77-1DD3-420F-9903-5E8D8AEF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02 · 请求链路与横切能力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C39B2B2-C1C0-4603-AF34-ADF44C7B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13 / 13</a:t>
            </a:r>
          </a:p>
        </p:txBody>
      </p:sp>
      <p:sp>
        <p:nvSpPr>
          <p:cNvPr id="5" name="quiz-questions">
            <a:extLst xmlns:a="http://schemas.openxmlformats.org/drawingml/2006/main">
              <a:ext uri="{FF2B5EF4-FFF2-40B4-BE49-F238E27FC236}">
                <a16:creationId xmlns:a16="http://schemas.microsoft.com/office/drawing/2014/main" id="{5DC45184-B8AC-4B6B-8ED9-E8122D5C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6858000" cy="419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01  AOP 特性已经写上但不生效，优先检查哪四件事？
02  为什么事务不属于这组 Autofac 拦截器？
03  业务方法返回失败结果时，事务为什么可能仍然提交？
04  如何用 TraceId 完成一次接口异常排查？</a:t>
            </a:r>
          </a:p>
        </p:txBody>
      </p:sp>
      <p:sp>
        <p:nvSpPr>
          <p:cNvPr id="6" name="next-panel">
            <a:extLst xmlns:a="http://schemas.openxmlformats.org/drawingml/2006/main">
              <a:ext uri="{FF2B5EF4-FFF2-40B4-BE49-F238E27FC236}">
                <a16:creationId xmlns:a16="http://schemas.microsoft.com/office/drawing/2014/main" id="{568A7399-7B29-4B71-9492-4CA55E00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24000"/>
            <a:ext cx="38862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7" name="next-title">
            <a:extLst xmlns:a="http://schemas.openxmlformats.org/drawingml/2006/main">
              <a:ext uri="{FF2B5EF4-FFF2-40B4-BE49-F238E27FC236}">
                <a16:creationId xmlns:a16="http://schemas.microsoft.com/office/drawing/2014/main" id="{7A9BDABE-89B5-47DE-A806-8EA72CE2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47850"/>
            <a:ext cx="3238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下一步</a:t>
            </a:r>
          </a:p>
        </p:txBody>
      </p:sp>
      <p:sp>
        <p:nvSpPr>
          <p:cNvPr id="8" name="next-body">
            <a:extLst xmlns:a="http://schemas.openxmlformats.org/drawingml/2006/main">
              <a:ext uri="{FF2B5EF4-FFF2-40B4-BE49-F238E27FC236}">
                <a16:creationId xmlns:a16="http://schemas.microsoft.com/office/drawing/2014/main" id="{48341EE1-4B80-43E2-A4B6-0CFF1C33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71750"/>
            <a:ext cx="32385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下一讲把请求主线落到最常见的开发任务：从零新增一个标准 CRUD。</a:t>
            </a:r>
          </a:p>
        </p:txBody>
      </p:sp>
      <p:sp>
        <p:nvSpPr>
          <p:cNvPr id="9" name="answer-hint">
            <a:extLst xmlns:a="http://schemas.openxmlformats.org/drawingml/2006/main">
              <a:ext uri="{FF2B5EF4-FFF2-40B4-BE49-F238E27FC236}">
                <a16:creationId xmlns:a16="http://schemas.microsoft.com/office/drawing/2014/main" id="{8E65F7B3-E3DE-4E68-AF87-312D17BC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14850"/>
            <a:ext cx="323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答案与延伸阅读已放入讲师备注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52AC98A5-B409-4E1C-A43E-99CAEF11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67400"/>
            <a:ext cx="6858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先识别请求在哪一层结束，再决定去哪里改代码。</a:t>
            </a:r>
          </a:p>
        </p:txBody>
      </p:sp>
    </p:spTree>
    <p:extLst>
      <p:ext uri="{BB962C8B-B14F-4D97-AF65-F5344CB8AC3E}">
        <p14:creationId xmlns:p14="http://schemas.microsoft.com/office/powerpoint/2010/main" val="230743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2026-07-10T03:40:01.3540000Z</dcterms:created>
  <dcterms:modified xsi:type="dcterms:W3CDTF">2026-07-10T03:40:01.3540000Z</dcterms:modified>
</coreProperties>
</file>