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9c589102d439e" /><Relationship Type="http://schemas.openxmlformats.org/officeDocument/2006/relationships/extended-properties" Target="/docProps/app.xml" Id="R98905217e2a24b51" /><Relationship Type="http://schemas.openxmlformats.org/officeDocument/2006/relationships/officeDocument" Target="/ppt/presentation.xml" Id="R9e28a622f0cb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0cc3915c2a475a"/>
  </p:sldMasterIdLst>
  <p:notesMasterIdLst>
    <p:notesMasterId xmlns:r="http://schemas.openxmlformats.org/officeDocument/2006/relationships" r:id="Ra993cd1b033b4e43"/>
  </p:notesMasterIdLst>
  <p:sldIdLst>
    <p:sldId xmlns:r="http://schemas.openxmlformats.org/officeDocument/2006/relationships" id="256" r:id="R93e35588b5d24c0f"/>
    <p:sldId xmlns:r="http://schemas.openxmlformats.org/officeDocument/2006/relationships" id="257" r:id="R0e64d340971e4e80"/>
    <p:sldId xmlns:r="http://schemas.openxmlformats.org/officeDocument/2006/relationships" id="258" r:id="Rf803377c609f44b9"/>
    <p:sldId xmlns:r="http://schemas.openxmlformats.org/officeDocument/2006/relationships" id="259" r:id="R03cb6bde9d944099"/>
    <p:sldId xmlns:r="http://schemas.openxmlformats.org/officeDocument/2006/relationships" id="260" r:id="R59d7ef070cdf4d94"/>
    <p:sldId xmlns:r="http://schemas.openxmlformats.org/officeDocument/2006/relationships" id="261" r:id="R07ec32f9181b4388"/>
    <p:sldId xmlns:r="http://schemas.openxmlformats.org/officeDocument/2006/relationships" id="262" r:id="R43664dc8810e48a6"/>
    <p:sldId xmlns:r="http://schemas.openxmlformats.org/officeDocument/2006/relationships" id="263" r:id="R77456d85a8b443ea"/>
    <p:sldId xmlns:r="http://schemas.openxmlformats.org/officeDocument/2006/relationships" id="264" r:id="R9d1eaae4e4754e68"/>
    <p:sldId xmlns:r="http://schemas.openxmlformats.org/officeDocument/2006/relationships" id="265" r:id="R5fd0f7860f634d86"/>
    <p:sldId xmlns:r="http://schemas.openxmlformats.org/officeDocument/2006/relationships" id="266" r:id="Rbce194e6bdbf44a4"/>
    <p:sldId xmlns:r="http://schemas.openxmlformats.org/officeDocument/2006/relationships" id="267" r:id="Rd6b887bc556a41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5a9ee4662482d" /><Relationship Type="http://schemas.openxmlformats.org/officeDocument/2006/relationships/slideMaster" Target="/ppt/slideMasters/slideMaster1.xml" Id="R380cc3915c2a475a" /><Relationship Type="http://schemas.openxmlformats.org/officeDocument/2006/relationships/notesMaster" Target="/ppt/notesMasters/notesMaster1.xml" Id="Ra993cd1b033b4e43" /><Relationship Type="http://schemas.openxmlformats.org/officeDocument/2006/relationships/presProps" Target="/ppt/presProps.xml" Id="Rea5aa166eb024e12" /><Relationship Type="http://schemas.openxmlformats.org/officeDocument/2006/relationships/tableStyles" Target="/ppt/tableStyles.xml" Id="Rd5e01f86d39144ed" /><Relationship Type="http://schemas.openxmlformats.org/officeDocument/2006/relationships/slide" Target="/ppt/slides/slide1.xml" Id="R93e35588b5d24c0f" /><Relationship Type="http://schemas.openxmlformats.org/officeDocument/2006/relationships/slide" Target="/ppt/slides/slide2.xml" Id="R0e64d340971e4e80" /><Relationship Type="http://schemas.openxmlformats.org/officeDocument/2006/relationships/slide" Target="/ppt/slides/slide3.xml" Id="Rf803377c609f44b9" /><Relationship Type="http://schemas.openxmlformats.org/officeDocument/2006/relationships/slide" Target="/ppt/slides/slide4.xml" Id="R03cb6bde9d944099" /><Relationship Type="http://schemas.openxmlformats.org/officeDocument/2006/relationships/slide" Target="/ppt/slides/slide5.xml" Id="R59d7ef070cdf4d94" /><Relationship Type="http://schemas.openxmlformats.org/officeDocument/2006/relationships/slide" Target="/ppt/slides/slide6.xml" Id="R07ec32f9181b4388" /><Relationship Type="http://schemas.openxmlformats.org/officeDocument/2006/relationships/slide" Target="/ppt/slides/slide7.xml" Id="R43664dc8810e48a6" /><Relationship Type="http://schemas.openxmlformats.org/officeDocument/2006/relationships/slide" Target="/ppt/slides/slide8.xml" Id="R77456d85a8b443ea" /><Relationship Type="http://schemas.openxmlformats.org/officeDocument/2006/relationships/slide" Target="/ppt/slides/slide9.xml" Id="R9d1eaae4e4754e68" /><Relationship Type="http://schemas.openxmlformats.org/officeDocument/2006/relationships/slide" Target="/ppt/slides/slide10.xml" Id="R5fd0f7860f634d86" /><Relationship Type="http://schemas.openxmlformats.org/officeDocument/2006/relationships/slide" Target="/ppt/slides/slide11.xml" Id="Rbce194e6bdbf44a4" /><Relationship Type="http://schemas.openxmlformats.org/officeDocument/2006/relationships/slide" Target="/ppt/slides/slide12.xml" Id="Rd6b887bc556a41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d539782a54b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08d63f1e847fc" /><Relationship Type="http://schemas.openxmlformats.org/officeDocument/2006/relationships/notesMaster" Target="/ppt/notesMasters/notesMaster1.xml" Id="Rbe22c293af7141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ce37b4c7b04c3c" /><Relationship Type="http://schemas.openxmlformats.org/officeDocument/2006/relationships/notesMaster" Target="/ppt/notesMasters/notesMaster1.xml" Id="R2b96b160bd6549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5b5321e7cd4b6b" /><Relationship Type="http://schemas.openxmlformats.org/officeDocument/2006/relationships/notesMaster" Target="/ppt/notesMasters/notesMaster1.xml" Id="Red9698d8e21f4f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285a9a05444094" /><Relationship Type="http://schemas.openxmlformats.org/officeDocument/2006/relationships/notesMaster" Target="/ppt/notesMasters/notesMaster1.xml" Id="Rec86cdaf2214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3945cc49b48fc" /><Relationship Type="http://schemas.openxmlformats.org/officeDocument/2006/relationships/notesMaster" Target="/ppt/notesMasters/notesMaster1.xml" Id="R4fec770497e2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ad74eb5a9485c" /><Relationship Type="http://schemas.openxmlformats.org/officeDocument/2006/relationships/notesMaster" Target="/ppt/notesMasters/notesMaster1.xml" Id="R82c7cc00c7c941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7d7030c72d433a" /><Relationship Type="http://schemas.openxmlformats.org/officeDocument/2006/relationships/notesMaster" Target="/ppt/notesMasters/notesMaster1.xml" Id="R66999d9d1bd248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5a483ab96d4679" /><Relationship Type="http://schemas.openxmlformats.org/officeDocument/2006/relationships/notesMaster" Target="/ppt/notesMasters/notesMaster1.xml" Id="R127e369a5a0641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f34c38e87746c2" /><Relationship Type="http://schemas.openxmlformats.org/officeDocument/2006/relationships/notesMaster" Target="/ppt/notesMasters/notesMaster1.xml" Id="R58fc4e7d96ef49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07c1edf76a4481" /><Relationship Type="http://schemas.openxmlformats.org/officeDocument/2006/relationships/notesMaster" Target="/ppt/notesMasters/notesMaster1.xml" Id="R4c517dd2b1e649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c4142ca75487b" /><Relationship Type="http://schemas.openxmlformats.org/officeDocument/2006/relationships/notesMaster" Target="/ppt/notesMasters/notesMaster1.xml" Id="Re7b27d714d5943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0827a97f824f3f" /><Relationship Type="http://schemas.openxmlformats.org/officeDocument/2006/relationships/notesMaster" Target="/ppt/notesMasters/notesMaster1.xml" Id="R479d892f04b44c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讲师提示：开场强调：Swagger、认证、授权、License 和登录加密解决的是不同问题。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D:\Git\0.KH.WMS\docs\backend\后端底层概念\22-登录加密与密码哈希.md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讲师提示：说明本讲不是安全规范全集，而是项目当前接入链路和业务开发边界。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- D:\Git\0.KH.WMS\docs\backend\后端底层概念\17-JSON序列化与HTTP契约约定.md</a:t>
            </a:r>
          </a:p>
          <a:p xmlns:a="http://schemas.openxmlformats.org/drawingml/2006/main">
            <a:r>
              <a:t>- D:\Git\0.KH.WMS\docs\backend\后端底层概念\19-License授权许可与运行时拦截.md</a:t>
            </a:r>
          </a:p>
          <a:p xmlns:a="http://schemas.openxmlformats.org/drawingml/2006/main">
            <a:r>
              <a:t>- D:\Git\0.KH.WMS\docs\backend\后端底层概念\22-登录加密与密码哈希.md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 分钟</a:t>
            </a:r>
          </a:p>
          <a:p xmlns:a="http://schemas.openxmlformats.org/drawingml/2006/main">
            <a:r>
              <a:t>讲师提示：让听众先学会用状态码定位层次，不要把所有失败都归结为 Swagger。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- D:\Git\0.KH.WMS\docs\backend\后端底层概念\19-License授权许可与运行时拦截.md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讲师提示：Swagger 页面打不开和页面打开但缺接口是两类问题，排查入口不同。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- D:\Git\0.KH.WMS\docs\backend\后端底层概念\01-启动入口与程序集扫描.md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讲师提示：提醒当前限流默认未启用；429 只有在实际启用并命中时才成立。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D:\Git\0.KH.WMS\docs\backend\后端底层概念\19-License授权许可与运行时拦截.md</a:t>
            </a:r>
          </a:p>
          <a:p xmlns:a="http://schemas.openxmlformats.org/drawingml/2006/main">
            <a:r>
              <a:t>- D:\Git\0.KH.WMS\docs\backend\后端底层概念\20-限流RateLimit底座.md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讲师提示：null 字段被忽略时不要误判为后端没查到；先确认全局序列化设置。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D:\Git\0.KH.WMS\docs\backend\后端底层概念\17-JSON序列化与HTTP契约约定.md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讲师提示：Swagger 中输入 Token 只是模拟客户端携带凭证，不会改变后端权限。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讲师提示：公钥接口需要匿名访问，但普通业务接口不能为调试方便随意加入匿名名单。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- D:\Git\0.KH.WMS\docs\backend\后端底层概念\22-登录加密与密码哈希.md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讲师提示：本地可关闭 License 便于开发，但生产环境必须明确启用策略，不能随意白名单业务接口。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D:\Git\0.KH.WMS\docs\backend\后端底层概念\19-License授权许可与运行时拦截.md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讲师提示：进程重启后旧公钥可能失效，前端不能长期缓存登录公钥。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D:\Git\0.KH.WMS\docs\backend\后端底层概念\22-登录加密与密码哈希.md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讲师提示：RSA 解决传输保护，PasswordHasher 解决数据库存储；两者不能互相替代。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D:\Git\0.KH.WMS\docs\backend\后端底层概念\22-登录加密与密码哈希.md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建议时长：8 分钟（含答疑）</a:t>
            </a:r>
          </a:p>
          <a:p xmlns:a="http://schemas.openxmlformats.org/drawingml/2006/main">
            <a:r>
              <a:t>讲师提示：小测后让成员说出一次登录请求从公钥到 JWT 的完整链。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- D:\Git\0.KH.WMS\docs\backend\后端底层概念\19-License授权许可与运行时拦截.md</a:t>
            </a:r>
          </a:p>
          <a:p xmlns:a="http://schemas.openxmlformats.org/drawingml/2006/main">
            <a:r>
              <a:t>- D:\Git\0.KH.WMS\docs\backend\后端底层概念\22-登录加密与密码哈希.md</a:t>
            </a:r>
          </a:p>
          <a:p xmlns:a="http://schemas.openxmlformats.org/drawingml/2006/main">
            <a:r>
              <a:t>小测参考答案：1. 查认证配置、Token 和 Authorization 头，而不是程序集扫描。2. 402 是 License 许可；403 是身份有效但权限不足。3. 未登录用户必须先取得公钥才能加密密码。4. RSA 密文不是不可逆存储，MD5 缺少适合密码的盐和迭代，应使用 PasswordHasher。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6447b2c05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595e15443f4b69" /><Relationship Type="http://schemas.openxmlformats.org/officeDocument/2006/relationships/slideLayout" Target="/ppt/slideLayouts/slideLayout1.xml" Id="Rccaa4ff5859749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a4ff5859749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ef125d050476e" /><Relationship Type="http://schemas.openxmlformats.org/officeDocument/2006/relationships/notesSlide" Target="/ppt/notesSlides/notesSlide1.xml" Id="R8d2bed56c1ff4e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fe6675454fda" /><Relationship Type="http://schemas.openxmlformats.org/officeDocument/2006/relationships/notesSlide" Target="/ppt/notesSlides/notesSlide2.xml" Id="R74ab711f128e4b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8a5ff94ae44d2" /><Relationship Type="http://schemas.openxmlformats.org/officeDocument/2006/relationships/notesSlide" Target="/ppt/notesSlides/notesSlide3.xml" Id="Rbede174a868e41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7822fc81f4752" /><Relationship Type="http://schemas.openxmlformats.org/officeDocument/2006/relationships/notesSlide" Target="/ppt/notesSlides/notesSlide4.xml" Id="R430fdd2bc200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4240508554b04" /><Relationship Type="http://schemas.openxmlformats.org/officeDocument/2006/relationships/notesSlide" Target="/ppt/notesSlides/notesSlide5.xml" Id="R1b9220d3e9c7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e901963b44b12" /><Relationship Type="http://schemas.openxmlformats.org/officeDocument/2006/relationships/notesSlide" Target="/ppt/notesSlides/notesSlide6.xml" Id="Rce9879d1d80041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bd67ae1584b3c" /><Relationship Type="http://schemas.openxmlformats.org/officeDocument/2006/relationships/notesSlide" Target="/ppt/notesSlides/notesSlide7.xml" Id="R6920fa88323c4f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bf1be42f340cf" /><Relationship Type="http://schemas.openxmlformats.org/officeDocument/2006/relationships/notesSlide" Target="/ppt/notesSlides/notesSlide8.xml" Id="Ra85b8a71308f45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638af5cbf4951" /><Relationship Type="http://schemas.openxmlformats.org/officeDocument/2006/relationships/notesSlide" Target="/ppt/notesSlides/notesSlide9.xml" Id="R3fd116fde05d4e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083b0de4d4230" /><Relationship Type="http://schemas.openxmlformats.org/officeDocument/2006/relationships/notesSlide" Target="/ppt/notesSlides/notesSlide10.xml" Id="R37247b9eb01041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34077b8dd4dad" /><Relationship Type="http://schemas.openxmlformats.org/officeDocument/2006/relationships/notesSlide" Target="/ppt/notesSlides/notesSlide11.xml" Id="Rfad9de109d544b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84bd8dc514d89" /><Relationship Type="http://schemas.openxmlformats.org/officeDocument/2006/relationships/notesSlide" Target="/ppt/notesSlides/notesSlide12.xml" Id="R96f96d751c2540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C48131CB-B8D8-4E07-ADC1-FF76F877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07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21E2C6AA-96F8-47BC-909F-939C600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API 契约、鉴权与登录安全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1EC160D-410F-42D9-9F8A-D08C3F61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D83417E-B58B-4F2C-932D-F5E5AE5F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先判断接口在哪一层被拒绝，再处理身份、许可和密码安全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E78B30C9-521C-4727-8C17-89FADCC1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209354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A014F9-11A9-46C6-BA0E-3DE6AC5C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CCDA5A7-43D5-4894-A840-88E8AE25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D14C9A9E-54CE-4B53-A717-FF1F0405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36636D-03DD-4D7D-8315-152494C4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12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723C911D-48F6-492B-9E81-9B149C1D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32C45980-1260-4F93-AD4F-C7D5AA4D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621095A7-FD52-4BAA-9483-41A050F5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Swagger / OpenAPI 发现与授权调试
• HTTP 状态码和 JSON 接口契约
• 认证、授权、匿名接口和用户上下文
• License 402、登录 RSA 与 PasswordHasher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5B28B369-1A22-42F7-BFCA-00EFF5A4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4B4951E7-DD2B-4E9D-AC68-C8939D6A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07609A8D-6CD5-41AB-96B2-49AF4204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理解程序集扫描和请求管道
• 理解 ApiResponse、TraceId 与 JSON 基础
• 了解 JWT 和密码哈希的基本概念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470B3825-5E85-4843-A7A1-E0B318A5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F1AA3831-9D48-414B-A528-7E5E71B7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B709FFFF-B79E-40AA-B0BA-B9FEFB1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能区分接口发现和接口访问
• 能根据 401 / 402 / 403 判断失败层
• 能正确使用 AllowAnonymous 和用户上下文
• 能解释密码传输与存储链路</a:t>
            </a:r>
          </a:p>
        </p:txBody>
      </p:sp>
    </p:spTree>
    <p:extLst>
      <p:ext uri="{BB962C8B-B14F-4D97-AF65-F5344CB8AC3E}">
        <p14:creationId xmlns:p14="http://schemas.microsoft.com/office/powerpoint/2010/main" val="1224354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1B2E3C-91D7-42C2-84E5-43A4040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Swagger 证明接口被发现，不代表请求一定能通过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6B4B58A-5850-4418-8CEF-3837EB9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6B690608-9EAD-4A51-B6A4-E7B37433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8CAFBAC-4B60-4CBB-A3F6-4DF7F329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12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A2A9248E-6F59-4B79-8B88-5A6FC79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发现、认证、授权、许可和业务校验是五道不同的门。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1F0234FA-B0B2-4CF2-96D5-07D0038F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AF392CA6-11DE-4897-B057-4951238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01A297F5-66D2-41A2-A9C9-2272679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看不到接口：优先查程序集发现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5DC5F54D-C60F-4675-9791-091F641C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DE742AAC-98FF-40EB-82EF-0BF1F380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401：身份未通过或 Token 无效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70E526AA-DD54-4B63-9CAD-54F310C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25946F80-C708-4D95-8B89-00051064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402：License 许可拦截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D647CB00-8626-4CA4-AB5F-920A4C29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77FF8881-2352-4986-A5A8-E88E0A3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403：已认证但没有访问权限</a:t>
            </a:r>
          </a:p>
        </p:txBody>
      </p:sp>
    </p:spTree>
    <p:extLst>
      <p:ext uri="{BB962C8B-B14F-4D97-AF65-F5344CB8AC3E}">
        <p14:creationId xmlns:p14="http://schemas.microsoft.com/office/powerpoint/2010/main" val="2117591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C9643A-1858-462E-A32D-661C2F88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接口出现在 Swagger 需要四个基础条件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87EE91B-4096-4032-ADC2-0E36E1A6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B5C92DAC-A639-42FD-9AE0-7F45F8C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610F5B2-F338-485E-901E-23E8ED0D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12</a:t>
            </a:r>
          </a:p>
        </p:txBody>
      </p:sp>
      <p:sp>
        <p:nvSpPr>
          <p:cNvPr id="5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1071808F-7145-4C95-B266-6724157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本身</a:t>
            </a:r>
          </a:p>
        </p:txBody>
      </p:sp>
      <p:sp>
        <p:nvSpPr>
          <p:cNvPr id="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EF9721C-85B3-40F6-982F-9D4E80AD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heck-mark">
            <a:extLst xmlns:a="http://schemas.openxmlformats.org/drawingml/2006/main">
              <a:ext uri="{FF2B5EF4-FFF2-40B4-BE49-F238E27FC236}">
                <a16:creationId xmlns:a16="http://schemas.microsoft.com/office/drawing/2014/main" id="{D73893EF-AD78-480D-8D92-7E3FFC3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8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9726217B-667A-4731-896B-0AEA201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public 类并继承 ControllerBase 或项目 CRUD 基类</a:t>
            </a:r>
          </a:p>
        </p:txBody>
      </p:sp>
      <p:sp>
        <p:nvSpPr>
          <p:cNvPr id="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14C3EB16-1C76-4102-AD15-1137AA5F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check-mark">
            <a:extLst xmlns:a="http://schemas.openxmlformats.org/drawingml/2006/main">
              <a:ext uri="{FF2B5EF4-FFF2-40B4-BE49-F238E27FC236}">
                <a16:creationId xmlns:a16="http://schemas.microsoft.com/office/drawing/2014/main" id="{08C3C9DA-3DCD-4A9F-B50B-A7A460C3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1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CA4FA4DE-6FD8-45F4-932C-BFE451B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存在明确的 [Route("api/...")] 路由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D38630E-93BA-46DE-948D-A01F1625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eck-mark">
            <a:extLst xmlns:a="http://schemas.openxmlformats.org/drawingml/2006/main">
              <a:ext uri="{FF2B5EF4-FFF2-40B4-BE49-F238E27FC236}">
                <a16:creationId xmlns:a16="http://schemas.microsoft.com/office/drawing/2014/main" id="{86A30989-1A65-4809-9A65-24D6C321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4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65F50D2E-95FD-4332-9F8E-3D1C2CAD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Action 可被 MVC / ApiExplorer 识别</a:t>
            </a:r>
          </a:p>
        </p:txBody>
      </p:sp>
      <p:sp>
        <p:nvSpPr>
          <p:cNvPr id="1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751EDD36-1E23-481C-9C8C-60F313A0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check-mark">
            <a:extLst xmlns:a="http://schemas.openxmlformats.org/drawingml/2006/main">
              <a:ext uri="{FF2B5EF4-FFF2-40B4-BE49-F238E27FC236}">
                <a16:creationId xmlns:a16="http://schemas.microsoft.com/office/drawing/2014/main" id="{CDEA7913-0C48-4239-867A-EDCA434F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7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8CF1A0C3-5107-4B5D-B3C5-088A8C40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构造函数依赖能被 DI 容器解析</a:t>
            </a:r>
          </a:p>
        </p:txBody>
      </p:sp>
      <p:sp>
        <p:nvSpPr>
          <p:cNvPr id="18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E9392882-592D-4E0E-9FB7-5480B579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模块发现</a:t>
            </a:r>
          </a:p>
        </p:txBody>
      </p:sp>
      <p:sp>
        <p:nvSpPr>
          <p:cNvPr id="1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0584BFAA-733E-4ED1-B42D-A99D6132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check-mark">
            <a:extLst xmlns:a="http://schemas.openxmlformats.org/drawingml/2006/main">
              <a:ext uri="{FF2B5EF4-FFF2-40B4-BE49-F238E27FC236}">
                <a16:creationId xmlns:a16="http://schemas.microsoft.com/office/drawing/2014/main" id="{50C399D6-D50E-447A-9B6F-68A59B6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C0DC759C-A718-4C98-A38A-48F54F7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模块项目被 KH.WMS.Server 引用</a:t>
            </a:r>
          </a:p>
        </p:txBody>
      </p:sp>
      <p:sp>
        <p:nvSpPr>
          <p:cNvPr id="2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72459C27-009B-49CE-BCE2-1D829C27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check-mark">
            <a:extLst xmlns:a="http://schemas.openxmlformats.org/drawingml/2006/main">
              <a:ext uri="{FF2B5EF4-FFF2-40B4-BE49-F238E27FC236}">
                <a16:creationId xmlns:a16="http://schemas.microsoft.com/office/drawing/2014/main" id="{78CE4733-CED0-46B7-A1A8-CEE4659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507535CE-438A-44E1-AEDD-5EA5B9D1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程序集名称包含 .Modules.</a:t>
            </a:r>
          </a:p>
        </p:txBody>
      </p:sp>
      <p:sp>
        <p:nvSpPr>
          <p:cNvPr id="2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F4DAF213-167D-4075-96A8-C707F64E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check-mark">
            <a:extLst xmlns:a="http://schemas.openxmlformats.org/drawingml/2006/main">
              <a:ext uri="{FF2B5EF4-FFF2-40B4-BE49-F238E27FC236}">
                <a16:creationId xmlns:a16="http://schemas.microsoft.com/office/drawing/2014/main" id="{B354F0D5-CDAF-486F-9DCF-709D4108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C323BB48-E417-432F-BDFF-79081B32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ApplicationPartManager 加入模块程序集</a:t>
            </a:r>
          </a:p>
        </p:txBody>
      </p:sp>
      <p:sp>
        <p:nvSpPr>
          <p:cNvPr id="2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6FD0A37-9E84-4963-BFE1-823381A7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check-mark">
            <a:extLst xmlns:a="http://schemas.openxmlformats.org/drawingml/2006/main">
              <a:ext uri="{FF2B5EF4-FFF2-40B4-BE49-F238E27FC236}">
                <a16:creationId xmlns:a16="http://schemas.microsoft.com/office/drawing/2014/main" id="{DFEAD766-8282-4B83-8394-024B967B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3BF408DE-F69C-41EF-93BA-113D359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编译输出包含最新模块 DLL</a:t>
            </a:r>
          </a:p>
        </p:txBody>
      </p:sp>
    </p:spTree>
    <p:extLst>
      <p:ext uri="{BB962C8B-B14F-4D97-AF65-F5344CB8AC3E}">
        <p14:creationId xmlns:p14="http://schemas.microsoft.com/office/powerpoint/2010/main" val="1922728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E463B-E4DD-444C-B813-E5EC6E6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状态码先判断失败发生在哪一层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D9069EA-6B53-4C19-9D8E-77B3731B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83B5D47-9BD8-4EF4-AFE3-42780FFB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F70D2A9-C46B-4AC8-AE95-21D4CCAD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12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DD8B0C96-29A6-4E62-8A50-B725FAB6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7145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5CD276E6-7245-47ED-BAD5-2E117094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14859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DBAF1935-5303-4F05-BDDA-B9BB4BD5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76375"/>
            <a:ext cx="44767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0B3AC334-E60F-4E0E-BDB0-436A3AA0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28775"/>
            <a:ext cx="42481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通常表示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A7BFC3F9-29F1-4854-9AD2-56F8124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76375"/>
            <a:ext cx="50863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FA7655A4-AF79-4D85-93DE-9A46FF9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48577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优先排查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25B08787-5D17-4E5D-9C73-799B0F5D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3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EC39BF31-E549-4F43-AC5F-8521E42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9175"/>
            <a:ext cx="1485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401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F033D475-7311-41A6-B8C8-864BCD21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9175"/>
            <a:ext cx="4248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未认证、Token 无效或登录状态失效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84D4FD41-1D5E-4FA4-9466-07C9FA47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9175"/>
            <a:ext cx="4857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认证配置、Authorization 头、Token 刷新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0D2B5EB-60BB-4F6D-AF4A-B8CA76B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A842A7DE-0398-464D-AAA2-E0ADB9D6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7675"/>
            <a:ext cx="1485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402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DF03883D-C81D-42F0-85C2-C90DCE28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87675"/>
            <a:ext cx="4248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License 无效、过期或机器码不匹配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09F6BFB3-40B9-4850-92BD-BA840C7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87675"/>
            <a:ext cx="4857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License:Enabled、文件、机器码、有效期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4A598918-E83C-4B2B-8E83-D52A56A1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0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63F524B8-4CDC-4693-B57C-D6E9C93B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1485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403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05BA4FA0-AD68-439C-BB55-779D5512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86175"/>
            <a:ext cx="4248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身份有效但权限不足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FD47537C-F959-4309-844E-508C23AB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86175"/>
            <a:ext cx="4857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角色、权限、授权策略和资源范围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7F5C43A9-2168-49F7-BCB0-FA4FD8B3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05E990A4-ADA4-420A-849F-ECF58D62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4675"/>
            <a:ext cx="1485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429</a:t>
            </a:r>
          </a:p>
        </p:txBody>
      </p:sp>
      <p:sp>
        <p:nvSpPr>
          <p:cNvPr id="2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81814944-1BF9-42CD-BA3E-72069178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4675"/>
            <a:ext cx="4248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限流中间件拒绝请求</a:t>
            </a:r>
          </a:p>
        </p:txBody>
      </p:sp>
      <p:sp>
        <p:nvSpPr>
          <p:cNvPr id="2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24B858D4-BB45-412B-AFB2-FF9679FB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4675"/>
            <a:ext cx="4857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是否启用、key 维度、算法和阈值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144BEF68-626F-4A77-8B79-8DA1A72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matrix-cell-4-0">
            <a:extLst xmlns:a="http://schemas.openxmlformats.org/drawingml/2006/main">
              <a:ext uri="{FF2B5EF4-FFF2-40B4-BE49-F238E27FC236}">
                <a16:creationId xmlns:a16="http://schemas.microsoft.com/office/drawing/2014/main" id="{A5957383-43B0-4206-AD15-04637C27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3175"/>
            <a:ext cx="1485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500</a:t>
            </a:r>
          </a:p>
        </p:txBody>
      </p:sp>
      <p:sp>
        <p:nvSpPr>
          <p:cNvPr id="29" name="matrix-cell-4-1">
            <a:extLst xmlns:a="http://schemas.openxmlformats.org/drawingml/2006/main">
              <a:ext uri="{FF2B5EF4-FFF2-40B4-BE49-F238E27FC236}">
                <a16:creationId xmlns:a16="http://schemas.microsoft.com/office/drawing/2014/main" id="{AB7C73D1-BD76-46D6-A8FB-6EEA066B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83175"/>
            <a:ext cx="4248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未处理异常或基础设施错误</a:t>
            </a:r>
          </a:p>
        </p:txBody>
      </p:sp>
      <p:sp>
        <p:nvSpPr>
          <p:cNvPr id="30" name="matrix-cell-4-2">
            <a:extLst xmlns:a="http://schemas.openxmlformats.org/drawingml/2006/main">
              <a:ext uri="{FF2B5EF4-FFF2-40B4-BE49-F238E27FC236}">
                <a16:creationId xmlns:a16="http://schemas.microsoft.com/office/drawing/2014/main" id="{6F36DF2E-98B2-4ACA-9CEF-90AF6D3C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83175"/>
            <a:ext cx="4857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traceId、异常日志、数据库和调用链</a:t>
            </a:r>
          </a:p>
        </p:txBody>
      </p:sp>
    </p:spTree>
    <p:extLst>
      <p:ext uri="{BB962C8B-B14F-4D97-AF65-F5344CB8AC3E}">
        <p14:creationId xmlns:p14="http://schemas.microsoft.com/office/powerpoint/2010/main" val="1308643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E52A64-A581-4AEF-8C41-57C4F93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ApiResponse 与 camelCase 是前后端共同契约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25AA1DC-0B5D-47C9-AA9F-042EDB1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854F117-A86B-4013-8D31-657BEED6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1C24C8-20FF-41E1-8E8A-FEF536B2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12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B65A58E7-8C85-47C2-839F-5060076B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E138ABAD-F53C-4EFE-BF61-14854339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后端应保证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E918B73B-F64F-4FB8-B06E-41F220C6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外部接口统一 ApiResponse
• 属性按 camelCase 输出
• 日期、枚举、bool 按全局约定
• 异常和中间件响应仍保持同一结构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70591CA0-C8F0-4859-919E-978FE974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68204371-5609-4596-AC02-83D17EC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前端可依赖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C36A8EDA-8DEE-4E52-80E6-B3A924B4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固定读取 success、code、message、data
• 失败响应仍能取得 traceId
• 不猜测 PascalCase / camelCase 混用
• 按约定传递 extDataRaw 字符串</a:t>
            </a:r>
          </a:p>
        </p:txBody>
      </p:sp>
    </p:spTree>
    <p:extLst>
      <p:ext uri="{BB962C8B-B14F-4D97-AF65-F5344CB8AC3E}">
        <p14:creationId xmlns:p14="http://schemas.microsoft.com/office/powerpoint/2010/main" val="1664193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E5CCF5-4392-45FE-91E6-752BB5D3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认证负责你是谁，授权负责你能做什么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B54AF6B-6957-441D-846C-F52D6875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87D3D49-B66C-4423-A7FD-3EF535A0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4243F3-66EB-4CEF-8D8F-247825A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12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95127FBA-803C-43EA-A47C-B6A4BD5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B8FE9BE7-1D0D-4C90-B45D-95819216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Authentication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03EB331E-6AB3-4F2A-A50F-9733ECC4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解析 JWT 或其他凭证
• 建立 ClaimsPrincipal
• 确定当前用户身份
• 凭证失败通常返回 401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88E76962-6626-4109-8341-E787436A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92F89159-BBF9-49CB-88F5-614EE95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Authorization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744AD610-88F3-4C83-A7A1-A6D8F85F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读取角色、权限或策略
• 判断当前身份是否可访问资源
• 身份存在但权限不足返回 403
• 不能用 Swagger 授权按钮绕过</a:t>
            </a:r>
          </a:p>
        </p:txBody>
      </p:sp>
    </p:spTree>
    <p:extLst>
      <p:ext uri="{BB962C8B-B14F-4D97-AF65-F5344CB8AC3E}">
        <p14:creationId xmlns:p14="http://schemas.microsoft.com/office/powerpoint/2010/main" val="1989763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526E86-43FA-4F6E-BAB0-70423F93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匿名接口与用户上下文都要显式使用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DC061E3-17D8-4A18-A0EF-24D3598A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7EF95FD-F796-4FE9-8044-BAA21124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2AB06DE-E2A8-4068-9982-7CEC7F05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12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18C9730-5FB4-422B-84B7-F6428EB2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818BBAE9-7CD7-46BB-9FD2-8A4DCF6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[HttpGet("public-key"), AllowAnonymous]
public ApiResponse GetPublicKey()
{
    return ApiResponse.Ok(
        _rsaCryptoService.GetPublicKey());
}
// 普通业务服务通过 IUserContext 获取用户
var userId = _userContext.UserId;
var userName = _userContext.UserName;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EC22FA53-13DB-4E3B-865F-772141E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边界提醒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62760081-85D6-48B5-95F1-BCCA1FE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只给真正公开的接口 AllowAnonymous
• 业务 Service 不直接解析 HttpContext
• 后台任务可能没有当前用户
• 用户为空时审计逻辑必须有系统语义</a:t>
            </a:r>
          </a:p>
        </p:txBody>
      </p:sp>
    </p:spTree>
    <p:extLst>
      <p:ext uri="{BB962C8B-B14F-4D97-AF65-F5344CB8AC3E}">
        <p14:creationId xmlns:p14="http://schemas.microsoft.com/office/powerpoint/2010/main" val="896617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CF0768-061D-437F-B5F7-80B9E82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402 是 License 拦截，不是用户权限不足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F38B83A-75AB-4B0A-96C6-9C3ACBD0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260C480C-CCAF-4D90-9B41-8F4E4013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9A7031A-D058-4D40-8D99-E675C648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12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752D5BCF-ED1B-462F-B74D-9B6C6B2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换角色、换 Token 都不会修复机器许可问题。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D4E5859F-31D3-4F3D-8EB9-1FAD562A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892FC74D-DB93-4E6B-9CBA-FE49436E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F354F4A2-66C5-4C24-8DF7-6917974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License:Enabled 开关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0D6C294F-9DF4-4A8C-A567-F1E6DBE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E41E06A7-DAC9-4BDF-BE3A-8523574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 License 文件与密钥文件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23A63704-B8A1-4403-B9A5-7EF1EF42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5E97985D-B3D5-46EE-A202-D29B838A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核对机器码和部署环境变化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6BEEE915-E487-4166-8300-CDCE6E45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B002E5FE-365D-4EEB-9148-D8934490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检查有效期、白名单和默认授权初始化</a:t>
            </a:r>
          </a:p>
        </p:txBody>
      </p:sp>
    </p:spTree>
    <p:extLst>
      <p:ext uri="{BB962C8B-B14F-4D97-AF65-F5344CB8AC3E}">
        <p14:creationId xmlns:p14="http://schemas.microsoft.com/office/powerpoint/2010/main" val="1373587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ADE3C2-745F-4B5E-9297-59F280DD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登录密码经历 RSA 传输保护与哈希存储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CAADA1A-7479-4B67-A674-17E56808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C76B8F4E-90B9-4EEA-B60E-575E908D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652385B-3082-419E-B2E2-C73EC063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12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74034E00-D8C8-4179-9DBB-55E8ED36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F47D1894-B965-4859-973D-AD1846F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3BD0553-63AB-4655-9AD0-A8E5A36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1203F03F-5C17-4B46-8993-5AA41A1E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获取新公钥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D4DD15AD-B6ED-4B1C-AE00-4D9C4B4A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登录前调用 /api/user/public-key。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0B7B5A9-3C50-4D3A-ACD8-2F9C2C4B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8C28D098-0A2B-4F9D-9E05-5CD67A8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821795A1-94D0-49D4-8080-37C18A89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D78EE5B-1087-49C8-B7EE-1B7CA65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 RSA 加密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6660C397-D1EA-4BF8-8D54-12CCE0FD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避免密码以明文进入网络请求。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A7AA38D-A547-4163-9080-C6B5057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4E72E587-03AB-4738-A609-3EC72E3D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2B761CF-438B-4AF1-9D56-A260E0F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B75B04A4-EE5E-4057-8DCB-EEAF7639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 RSA 解密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6FB5BB7-AD79-4023-A5E4-49D2259B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解密失败返回密码格式错误。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8F3478B-C38E-44C7-ADFB-BED339F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5DEB880D-9EF0-4668-9C96-55BFF9B9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CA8B2886-1731-45C1-ADFB-57E54D11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F00C662B-6120-44AB-B531-A3BCC0F8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PasswordHasher.Verify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9B985B8-9E43-4F09-A665-70BAEBFB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使用数据库中的盐化哈希校验。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7404BF67-6585-45C1-988A-06F7D4D7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E3972F2F-09E1-4E0A-B540-0A504639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E4138E63-48E5-4AF0-850E-201286E0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签发 JWT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F30D4AF6-40E3-41C6-9A4A-F855711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密码匹配后建立登录身份。</a:t>
            </a:r>
          </a:p>
        </p:txBody>
      </p:sp>
    </p:spTree>
    <p:extLst>
      <p:ext uri="{BB962C8B-B14F-4D97-AF65-F5344CB8AC3E}">
        <p14:creationId xmlns:p14="http://schemas.microsoft.com/office/powerpoint/2010/main" val="114820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915CF0-860C-4CED-9ADE-7B8B966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数据库只能保存 PasswordHasher 生成的哈希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5276AC0-314F-4AFD-9A70-F1416CA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CA22520-46A1-47F0-AE37-69ADB61A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1187CA1-F027-42C1-ACA6-C08DC4BD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12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80B0CAC5-AD87-4B40-B7EC-ABBC67F8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9EE5E3E5-D90E-47DF-933C-4B6B3CAB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4A"/>
                </a:solidFill>
                <a:latin typeface="Microsoft YaHei"/>
                <a:ea typeface="Microsoft YaHei"/>
                <a:cs typeface="Microsoft YaHei"/>
              </a:defRPr>
            </a:pPr>
            <a:r>
              <a:t>PasswordHasher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2FA08ADB-766B-4883-879A-8A83B126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使用随机盐和迭代
• 当前注册为 IHashService
• Hash 用于新增、修改和重置密码
• Verify 用于登录校验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22130CD5-00C9-42A5-A465-A1E9D3D7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8AF831DE-A2CB-4F46-8A07-790B4508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t>禁止存储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15D2B756-78F1-468B-9FFB-F608789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明文密码
• 前端传来的 RSA 密文
• MD5 摘要
• 普通 SHA256 摘要</a:t>
            </a:r>
          </a:p>
        </p:txBody>
      </p:sp>
    </p:spTree>
    <p:extLst>
      <p:ext uri="{BB962C8B-B14F-4D97-AF65-F5344CB8AC3E}">
        <p14:creationId xmlns:p14="http://schemas.microsoft.com/office/powerpoint/2010/main" val="1056204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04A51E-093E-48F7-9065-5EAAFEB9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C2B80D5-7B48-457C-8AC7-F81A883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A51FC7D0-E123-4F59-9CC3-5530E115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· API 契约与安全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23CA9A8-B78A-4F99-8F84-95600F96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12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51517C24-9A28-4919-8B41-25EFCB7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Swagger 能看到接口但返回 401，应该从哪里开始查？
02  402 与 403 的区别是什么？
03  为什么公共密钥接口需要 AllowAnonymous？
04  为什么数据库不能保存 RSA 密文或 MD5？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119C9CDA-897D-4447-A9F2-8290FDB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EE4F6759-DD83-4A36-8FEC-36D053A8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1D36E791-6C6B-4A51-B93A-722C99E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下一讲处理运行期问题：缓存、MiniProfiler、限流和后台任务。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65A68C49-C30A-4358-849F-C234AA28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571B3DC-0304-4091-BCDB-E836F06C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先识别拒绝请求的层，再修复真正的身份或许可问题。</a:t>
            </a:r>
          </a:p>
        </p:txBody>
      </p:sp>
    </p:spTree>
    <p:extLst>
      <p:ext uri="{BB962C8B-B14F-4D97-AF65-F5344CB8AC3E}">
        <p14:creationId xmlns:p14="http://schemas.microsoft.com/office/powerpoint/2010/main" val="989275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2026-07-10T03:40:07.5860000Z</dcterms:created>
  <dcterms:modified xsi:type="dcterms:W3CDTF">2026-07-10T03:40:07.5860000Z</dcterms:modified>
</coreProperties>
</file>