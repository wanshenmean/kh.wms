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63b96dde7a4ccc" /><Relationship Type="http://schemas.openxmlformats.org/officeDocument/2006/relationships/extended-properties" Target="/docProps/app.xml" Id="R307fb97d1a554615" /><Relationship Type="http://schemas.openxmlformats.org/officeDocument/2006/relationships/officeDocument" Target="/ppt/presentation.xml" Id="Rdde78a7b0c8b45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7e028ccc93462b"/>
  </p:sldMasterIdLst>
  <p:notesMasterIdLst>
    <p:notesMasterId xmlns:r="http://schemas.openxmlformats.org/officeDocument/2006/relationships" r:id="R339ec2de41444c45"/>
  </p:notesMasterIdLst>
  <p:sldIdLst>
    <p:sldId xmlns:r="http://schemas.openxmlformats.org/officeDocument/2006/relationships" id="256" r:id="R8c9df0e769e64830"/>
    <p:sldId xmlns:r="http://schemas.openxmlformats.org/officeDocument/2006/relationships" id="257" r:id="R6db40db7360541cd"/>
    <p:sldId xmlns:r="http://schemas.openxmlformats.org/officeDocument/2006/relationships" id="258" r:id="Re95aca5772174c93"/>
    <p:sldId xmlns:r="http://schemas.openxmlformats.org/officeDocument/2006/relationships" id="259" r:id="Ra8d1d17c47f44557"/>
    <p:sldId xmlns:r="http://schemas.openxmlformats.org/officeDocument/2006/relationships" id="260" r:id="Rfb94cdf05acc4b1f"/>
    <p:sldId xmlns:r="http://schemas.openxmlformats.org/officeDocument/2006/relationships" id="261" r:id="R6fe2382c40cb47f1"/>
    <p:sldId xmlns:r="http://schemas.openxmlformats.org/officeDocument/2006/relationships" id="262" r:id="Ra12bac106367466e"/>
    <p:sldId xmlns:r="http://schemas.openxmlformats.org/officeDocument/2006/relationships" id="263" r:id="R83b450c8836747b4"/>
    <p:sldId xmlns:r="http://schemas.openxmlformats.org/officeDocument/2006/relationships" id="264" r:id="R6fa06fba0fc3495e"/>
    <p:sldId xmlns:r="http://schemas.openxmlformats.org/officeDocument/2006/relationships" id="265" r:id="Rca7cb16a49c2428c"/>
    <p:sldId xmlns:r="http://schemas.openxmlformats.org/officeDocument/2006/relationships" id="266" r:id="Ra98d007d3c1540a0"/>
    <p:sldId xmlns:r="http://schemas.openxmlformats.org/officeDocument/2006/relationships" id="267" r:id="R6f793f6f64ce499b"/>
    <p:sldId xmlns:r="http://schemas.openxmlformats.org/officeDocument/2006/relationships" id="268" r:id="R57a0dea82df34d42"/>
    <p:sldId xmlns:r="http://schemas.openxmlformats.org/officeDocument/2006/relationships" id="269" r:id="Radf401d97a194c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00e04041414def" /><Relationship Type="http://schemas.openxmlformats.org/officeDocument/2006/relationships/slideMaster" Target="/ppt/slideMasters/slideMaster1.xml" Id="Rd27e028ccc93462b" /><Relationship Type="http://schemas.openxmlformats.org/officeDocument/2006/relationships/notesMaster" Target="/ppt/notesMasters/notesMaster1.xml" Id="R339ec2de41444c45" /><Relationship Type="http://schemas.openxmlformats.org/officeDocument/2006/relationships/presProps" Target="/ppt/presProps.xml" Id="R9c963c9e541a40d9" /><Relationship Type="http://schemas.openxmlformats.org/officeDocument/2006/relationships/tableStyles" Target="/ppt/tableStyles.xml" Id="R57172215c96945fc" /><Relationship Type="http://schemas.openxmlformats.org/officeDocument/2006/relationships/slide" Target="/ppt/slides/slide1.xml" Id="R8c9df0e769e64830" /><Relationship Type="http://schemas.openxmlformats.org/officeDocument/2006/relationships/slide" Target="/ppt/slides/slide2.xml" Id="R6db40db7360541cd" /><Relationship Type="http://schemas.openxmlformats.org/officeDocument/2006/relationships/slide" Target="/ppt/slides/slide3.xml" Id="Re95aca5772174c93" /><Relationship Type="http://schemas.openxmlformats.org/officeDocument/2006/relationships/slide" Target="/ppt/slides/slide4.xml" Id="Ra8d1d17c47f44557" /><Relationship Type="http://schemas.openxmlformats.org/officeDocument/2006/relationships/slide" Target="/ppt/slides/slide5.xml" Id="Rfb94cdf05acc4b1f" /><Relationship Type="http://schemas.openxmlformats.org/officeDocument/2006/relationships/slide" Target="/ppt/slides/slide6.xml" Id="R6fe2382c40cb47f1" /><Relationship Type="http://schemas.openxmlformats.org/officeDocument/2006/relationships/slide" Target="/ppt/slides/slide7.xml" Id="Ra12bac106367466e" /><Relationship Type="http://schemas.openxmlformats.org/officeDocument/2006/relationships/slide" Target="/ppt/slides/slide8.xml" Id="R83b450c8836747b4" /><Relationship Type="http://schemas.openxmlformats.org/officeDocument/2006/relationships/slide" Target="/ppt/slides/slide9.xml" Id="R6fa06fba0fc3495e" /><Relationship Type="http://schemas.openxmlformats.org/officeDocument/2006/relationships/slide" Target="/ppt/slides/slide10.xml" Id="Rca7cb16a49c2428c" /><Relationship Type="http://schemas.openxmlformats.org/officeDocument/2006/relationships/slide" Target="/ppt/slides/slide11.xml" Id="Ra98d007d3c1540a0" /><Relationship Type="http://schemas.openxmlformats.org/officeDocument/2006/relationships/slide" Target="/ppt/slides/slide12.xml" Id="R6f793f6f64ce499b" /><Relationship Type="http://schemas.openxmlformats.org/officeDocument/2006/relationships/slide" Target="/ppt/slides/slide13.xml" Id="R57a0dea82df34d42" /><Relationship Type="http://schemas.openxmlformats.org/officeDocument/2006/relationships/slide" Target="/ppt/slides/slide14.xml" Id="Radf401d97a194c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2c00f8f70940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09baf7b5c147e4" /><Relationship Type="http://schemas.openxmlformats.org/officeDocument/2006/relationships/notesMaster" Target="/ppt/notesMasters/notesMaster1.xml" Id="R95a2196655e040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4457aac72b4947" /><Relationship Type="http://schemas.openxmlformats.org/officeDocument/2006/relationships/notesMaster" Target="/ppt/notesMasters/notesMaster1.xml" Id="R3f2e2278920a47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db9dd83e324746" /><Relationship Type="http://schemas.openxmlformats.org/officeDocument/2006/relationships/notesMaster" Target="/ppt/notesMasters/notesMaster1.xml" Id="Rd5626653c0c741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9a19bb80994107" /><Relationship Type="http://schemas.openxmlformats.org/officeDocument/2006/relationships/notesMaster" Target="/ppt/notesMasters/notesMaster1.xml" Id="R32f34ef1ad0e4f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84fe9da8294f2f" /><Relationship Type="http://schemas.openxmlformats.org/officeDocument/2006/relationships/notesMaster" Target="/ppt/notesMasters/notesMaster1.xml" Id="R3a97802ac9964e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f194e782c1404f" /><Relationship Type="http://schemas.openxmlformats.org/officeDocument/2006/relationships/notesMaster" Target="/ppt/notesMasters/notesMaster1.xml" Id="Rbf8a0401862043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07454a7e844e2d" /><Relationship Type="http://schemas.openxmlformats.org/officeDocument/2006/relationships/notesMaster" Target="/ppt/notesMasters/notesMaster1.xml" Id="R0c5e2c80b3644a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ce64d59cc34a35" /><Relationship Type="http://schemas.openxmlformats.org/officeDocument/2006/relationships/notesMaster" Target="/ppt/notesMasters/notesMaster1.xml" Id="R0c484704199749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d1741fcfdb45e6" /><Relationship Type="http://schemas.openxmlformats.org/officeDocument/2006/relationships/notesMaster" Target="/ppt/notesMasters/notesMaster1.xml" Id="R7aef140724934a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e80f48bd514d8a" /><Relationship Type="http://schemas.openxmlformats.org/officeDocument/2006/relationships/notesMaster" Target="/ppt/notesMasters/notesMaster1.xml" Id="R4248f7005d4e41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a05e2337be4ff3" /><Relationship Type="http://schemas.openxmlformats.org/officeDocument/2006/relationships/notesMaster" Target="/ppt/notesMasters/notesMaster1.xml" Id="Rf04be89e83124c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c87d4bec224d08" /><Relationship Type="http://schemas.openxmlformats.org/officeDocument/2006/relationships/notesMaster" Target="/ppt/notesMasters/notesMaster1.xml" Id="R56420447bc3741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6e70f3e0204956" /><Relationship Type="http://schemas.openxmlformats.org/officeDocument/2006/relationships/notesMaster" Target="/ppt/notesMasters/notesMaster1.xml" Id="Rdc95748510014e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7ae18bf22e4b25" /><Relationship Type="http://schemas.openxmlformats.org/officeDocument/2006/relationships/notesMaster" Target="/ppt/notesMasters/notesMaster1.xml" Id="R2ee5bbb7063f4a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 分钟</a:t>
            </a:r>
          </a:p>
          <a:p xmlns:a="http://schemas.openxmlformats.org/drawingml/2006/main">
            <a:r>
              <a:t>讲师提示：开场用入库上架流程说明：多个模块参与时，普通 CRUD 的边界已经不够。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D:\Git\0.KH.WMS\docs\backend\后端开发指引V3教程\10-跨模块Contract契约.md</a:t>
            </a:r>
          </a:p>
          <a:p xmlns:a="http://schemas.openxmlformats.org/drawingml/2006/main">
            <a:r>
              <a:t>- D:\Git\0.KH.WMS\docs\backend\后端开发指引V3教程\11-业务流程事务和校验扩展.md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讲师提示：说明本讲最重要的不是 API 写法，而是责任归属和一致性边界。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D:\Git\0.KH.WMS\docs\backend\后端开发指引V3教程\10-跨模块Contract契约.md</a:t>
            </a:r>
          </a:p>
          <a:p xmlns:a="http://schemas.openxmlformats.org/drawingml/2006/main">
            <a:r>
              <a:t>- D:\Git\0.KH.WMS\docs\backend\后端开发指引V3教程\11-业务流程事务和校验扩展.md</a:t>
            </a:r>
          </a:p>
          <a:p xmlns:a="http://schemas.openxmlformats.org/drawingml/2006/main">
            <a:r>
              <a:t>- D:\Git\0.KH.WMS\docs\backend\后端底层概念\09-跨模块Contract契约.md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 分钟</a:t>
            </a:r>
          </a:p>
          <a:p xmlns:a="http://schemas.openxmlformats.org/drawingml/2006/main">
            <a:r>
              <a:t>讲师提示：让听众把流程接口理解为业务用例，而不是多个 CRUD 调用的拼接。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D:\Git\0.KH.WMS\docs\backend\后端开发指引V3教程\11-业务流程事务和校验扩展.md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讲师提示：Contract 的颗粒度应围绕业务动作，而不是数据库表。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D:\Git\0.KH.WMS\docs\backend\后端开发指引V3教程\10-跨模块Contract契约.md</a:t>
            </a:r>
          </a:p>
          <a:p xmlns:a="http://schemas.openxmlformats.org/drawingml/2006/main">
            <a:r>
              <a:t>- D:\Git\0.KH.WMS\docs\backend\后端底层概念\09-跨模块Contract契约.md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讲师提示：补充版本兼容：新增字段优先保持向后兼容，不让调用方依赖内部 Entity。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D:\Git\0.KH.WMS\docs\backend\后端开发指引V3教程\10-跨模块Contract契约.md</a:t>
            </a:r>
          </a:p>
          <a:p xmlns:a="http://schemas.openxmlformats.org/drawingml/2006/main">
            <a:r>
              <a:t>- D:\Git\0.KH.WMS\docs\backend\后端开发指引V3教程\B-开发检查清单.md</a:t>
            </a:r>
          </a:p>
          <a:p xmlns:a="http://schemas.openxmlformats.org/drawingml/2006/main">
            <a:r>
              <a:t>- D:\Git\0.KH.WMS\docs\backend\后端底层概念\09-跨模块Contract契约.md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建议时长：7 分钟</a:t>
            </a:r>
          </a:p>
          <a:p xmlns:a="http://schemas.openxmlformats.org/drawingml/2006/main">
            <a:r>
              <a:t>讲师提示：强调被调 Contract 不应擅自开启独立大事务，否则调用方无法保证整链一致。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D:\Git\0.KH.WMS\docs\backend\后端开发指引V3教程\10-跨模块Contract契约.md</a:t>
            </a:r>
          </a:p>
          <a:p xmlns:a="http://schemas.openxmlformats.org/drawingml/2006/main">
            <a:r>
              <a:t>- D:\Git\0.KH.WMS\docs\backend\后端底层概念\06-数据访问仓储与事务边界.md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讲师提示：让听众用“谁最了解整体成功条件”判断事务责任。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D:\Git\0.KH.WMS\docs\backend\后端底层概念\06-数据访问仓储与事务边界.md</a:t>
            </a:r>
          </a:p>
          <a:p xmlns:a="http://schemas.openxmlformats.org/drawingml/2006/main">
            <a:r>
              <a:t>- D:\Git\0.KH.WMS\docs\backend\后端开发指引V3教程\11-业务流程事务和校验扩展.md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讲师提示：代码是教学模板，具体 UnitOfWork 方法以仓库实现为准；重点是早返回风险。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D:\Git\0.KH.WMS\docs\backend\后端底层概念\05-请求管道统一响应异常TraceId日志.md</a:t>
            </a:r>
          </a:p>
          <a:p xmlns:a="http://schemas.openxmlformats.org/drawingml/2006/main">
            <a:r>
              <a:t>- D:\Git\0.KH.WMS\docs\backend\后端底层概念\06-数据访问仓储与事务边界.md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讲师提示：Validator 不是所有业务校验的万能容器，事务相关规则尤其要谨慎。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D:\Git\0.KH.WMS\docs\backend\后端底层概念\11-可插拔校验器.md</a:t>
            </a:r>
          </a:p>
          <a:p xmlns:a="http://schemas.openxmlformats.org/drawingml/2006/main">
            <a:r>
              <a:t>- D:\Git\0.KH.WMS\docs\backend\后端开发指引V3教程\11-业务流程事务和校验扩展.md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讲师提示：补充目标 Service 不能关闭拦截器，返回类型也必须符合配置校验拦截器支持的 ServiceResult 约定。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D:\Git\0.KH.WMS\docs\backend\后端底层概念\11-可插拔校验器.md</a:t>
            </a:r>
          </a:p>
          <a:p xmlns:a="http://schemas.openxmlformats.org/drawingml/2006/main">
            <a:r>
              <a:t>- D:\Git\0.KH.WMS\docs\backend\后端开发指引V3教程\B-开发检查清单.md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讲师提示：讲清 services 字典与构造注入的边界；需要配置服务时按文档约定取得 ConfigService。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D:\Git\0.KH.WMS\docs\backend\后端底层概念\11-可插拔校验器.md</a:t>
            </a:r>
          </a:p>
          <a:p xmlns:a="http://schemas.openxmlformats.org/drawingml/2006/main">
            <a:r>
              <a:t>- D:\Git\0.KH.WMS\docs\backend\后端开发指引V3教程\B-开发检查清单.md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讲师提示：强调“接口限流”不能代替业务幂等，后者必须建立在业务状态上。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D:\Git\0.KH.WMS\docs\backend\后端开发指引V3教程\11-业务流程事务和校验扩展.md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讲师提示：把 B.3、B.4、B.5 合并为流程接口的培训检查单。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D:\Git\0.KH.WMS\docs\backend\后端开发指引V3教程\B-开发检查清单.md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建议时长：8 分钟（含答疑）</a:t>
            </a:r>
          </a:p>
          <a:p xmlns:a="http://schemas.openxmlformats.org/drawingml/2006/main">
            <a:r>
              <a:t>讲师提示：要求成员用入库或出库流程举例，明确调用方、Contract 和事务边界。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D:\Git\0.KH.WMS\docs\backend\后端开发指引V3教程\10-跨模块Contract契约.md</a:t>
            </a:r>
          </a:p>
          <a:p xmlns:a="http://schemas.openxmlformats.org/drawingml/2006/main">
            <a:r>
              <a:t>- D:\Git\0.KH.WMS\docs\backend\后端开发指引V3教程\11-业务流程事务和校验扩展.md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小测参考答案：1. 会泄露内部表结构并让调用方绕过业务规则。2. 由最外层、了解整体成功条件的调用方 Service 控制。3. 依赖锁定后状态、必须与写入原子完成或存在竞态的规则。4. 状态复核、条件更新或业务幂等键，并确保重复请求不产生第二次副作用。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fd560d84e44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c05bcd20264589" /><Relationship Type="http://schemas.openxmlformats.org/officeDocument/2006/relationships/slideLayout" Target="/ppt/slideLayouts/slideLayout1.xml" Id="Rf7d3dd818a1f46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d3dd818a1f46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e87fe74bd4a37" /><Relationship Type="http://schemas.openxmlformats.org/officeDocument/2006/relationships/notesSlide" Target="/ppt/notesSlides/notesSlide1.xml" Id="R05bed9f0627a43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ea428b3ea47b1" /><Relationship Type="http://schemas.openxmlformats.org/officeDocument/2006/relationships/notesSlide" Target="/ppt/notesSlides/notesSlide2.xml" Id="R6ea09dcf22f142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006d09ec04d99" /><Relationship Type="http://schemas.openxmlformats.org/officeDocument/2006/relationships/notesSlide" Target="/ppt/notesSlides/notesSlide3.xml" Id="Re29eacf0a86e4a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545e064124270" /><Relationship Type="http://schemas.openxmlformats.org/officeDocument/2006/relationships/notesSlide" Target="/ppt/notesSlides/notesSlide4.xml" Id="R550d8ecc95d844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48f3e0fad44c0" /><Relationship Type="http://schemas.openxmlformats.org/officeDocument/2006/relationships/notesSlide" Target="/ppt/notesSlides/notesSlide5.xml" Id="R2396d420db1f42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c96ea2572442b" /><Relationship Type="http://schemas.openxmlformats.org/officeDocument/2006/relationships/notesSlide" Target="/ppt/notesSlides/notesSlide6.xml" Id="R618f708c631543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45bd771ba47ad" /><Relationship Type="http://schemas.openxmlformats.org/officeDocument/2006/relationships/notesSlide" Target="/ppt/notesSlides/notesSlide7.xml" Id="R918c791fb7604c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df1d445654805" /><Relationship Type="http://schemas.openxmlformats.org/officeDocument/2006/relationships/notesSlide" Target="/ppt/notesSlides/notesSlide8.xml" Id="Reaec9390ed8240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5f3f8b2f34d95" /><Relationship Type="http://schemas.openxmlformats.org/officeDocument/2006/relationships/notesSlide" Target="/ppt/notesSlides/notesSlide9.xml" Id="R3c29d4d28e3549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17e64ff734344" /><Relationship Type="http://schemas.openxmlformats.org/officeDocument/2006/relationships/notesSlide" Target="/ppt/notesSlides/notesSlide10.xml" Id="Rb71a861faa4646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1453abe054158" /><Relationship Type="http://schemas.openxmlformats.org/officeDocument/2006/relationships/notesSlide" Target="/ppt/notesSlides/notesSlide11.xml" Id="R3bcc31aafca741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b833cbe7249b8" /><Relationship Type="http://schemas.openxmlformats.org/officeDocument/2006/relationships/notesSlide" Target="/ppt/notesSlides/notesSlide12.xml" Id="R078b0e68c6a94c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754c2ed8247fe" /><Relationship Type="http://schemas.openxmlformats.org/officeDocument/2006/relationships/notesSlide" Target="/ppt/notesSlides/notesSlide13.xml" Id="Re96b87fae32f47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c8bde57614cc3" /><Relationship Type="http://schemas.openxmlformats.org/officeDocument/2006/relationships/notesSlide" Target="/ppt/notesSlides/notesSlide14.xml" Id="R6a6b82e586ab4b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531EBC72-7E54-44AC-99BA-1A949A57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47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KH.WMS 后端培训系列  ·  05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7BBB04A4-C543-4246-8FC7-9BF9B486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12776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跨模块 Contract、事务与校验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5A9989F-80AC-405C-9DBE-3C147525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CED47836-BCE7-419E-A403-80B70276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723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让复杂业务流程跨模块协作，同时保持一致性和清晰边界</a:t>
            </a:r>
          </a:p>
        </p:txBody>
      </p:sp>
      <p:sp>
        <p:nvSpPr>
          <p:cNvPr id="5" name="audience">
            <a:extLst xmlns:a="http://schemas.openxmlformats.org/drawingml/2006/main">
              <a:ext uri="{FF2B5EF4-FFF2-40B4-BE49-F238E27FC236}">
                <a16:creationId xmlns:a16="http://schemas.microsoft.com/office/drawing/2014/main" id="{C883E1B5-7173-41E0-B779-47F75EBF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面向：后端新人及已有项目经验成员</a:t>
            </a:r>
          </a:p>
        </p:txBody>
      </p:sp>
    </p:spTree>
    <p:extLst>
      <p:ext uri="{BB962C8B-B14F-4D97-AF65-F5344CB8AC3E}">
        <p14:creationId xmlns:p14="http://schemas.microsoft.com/office/powerpoint/2010/main" val="669355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2EF6B9-8936-4899-B349-AFC5D96F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本次培训讲哪些知识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14F881D-1534-4749-9C3B-59C49083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64E3F80A-250E-413A-9828-EA096508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· Contract、事务与校验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2673B7A-1037-4347-8A66-19397146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14</a:t>
            </a:r>
          </a:p>
        </p:txBody>
      </p:sp>
      <p:sp>
        <p:nvSpPr>
          <p:cNvPr id="5" name="scope-band-0">
            <a:extLst xmlns:a="http://schemas.openxmlformats.org/drawingml/2006/main">
              <a:ext uri="{FF2B5EF4-FFF2-40B4-BE49-F238E27FC236}">
                <a16:creationId xmlns:a16="http://schemas.microsoft.com/office/drawing/2014/main" id="{E6029298-B200-4FDE-AD02-3698845D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scope-label-0">
            <a:extLst xmlns:a="http://schemas.openxmlformats.org/drawingml/2006/main">
              <a:ext uri="{FF2B5EF4-FFF2-40B4-BE49-F238E27FC236}">
                <a16:creationId xmlns:a16="http://schemas.microsoft.com/office/drawing/2014/main" id="{7BDBE2E8-07B8-4112-8B82-888C8A43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知识范围</a:t>
            </a:r>
          </a:p>
        </p:txBody>
      </p:sp>
      <p:sp>
        <p:nvSpPr>
          <p:cNvPr id="7" name="scope-body-0">
            <a:extLst xmlns:a="http://schemas.openxmlformats.org/drawingml/2006/main">
              <a:ext uri="{FF2B5EF4-FFF2-40B4-BE49-F238E27FC236}">
                <a16:creationId xmlns:a16="http://schemas.microsoft.com/office/drawing/2014/main" id="{0556CD31-9AD3-43DF-ADC3-AADA9430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流程接口与普通 CRUD 的本质区别
• Contract 接口、模型、实现和调用边界
• 事务责任、失败回滚与早返回风险
• 可插拔 Validator、事务内校验、并发和幂等</a:t>
            </a:r>
          </a:p>
        </p:txBody>
      </p:sp>
      <p:sp>
        <p:nvSpPr>
          <p:cNvPr id="8" name="scope-band-1">
            <a:extLst xmlns:a="http://schemas.openxmlformats.org/drawingml/2006/main">
              <a:ext uri="{FF2B5EF4-FFF2-40B4-BE49-F238E27FC236}">
                <a16:creationId xmlns:a16="http://schemas.microsoft.com/office/drawing/2014/main" id="{F96D4856-33A1-47CD-8D11-A871D70D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scope-label-1">
            <a:extLst xmlns:a="http://schemas.openxmlformats.org/drawingml/2006/main">
              <a:ext uri="{FF2B5EF4-FFF2-40B4-BE49-F238E27FC236}">
                <a16:creationId xmlns:a16="http://schemas.microsoft.com/office/drawing/2014/main" id="{C176BD60-EC5F-4034-B482-DBC345CA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前置知识</a:t>
            </a:r>
          </a:p>
        </p:txBody>
      </p:sp>
      <p:sp>
        <p:nvSpPr>
          <p:cNvPr id="10" name="scope-body-1">
            <a:extLst xmlns:a="http://schemas.openxmlformats.org/drawingml/2006/main">
              <a:ext uri="{FF2B5EF4-FFF2-40B4-BE49-F238E27FC236}">
                <a16:creationId xmlns:a16="http://schemas.microsoft.com/office/drawing/2014/main" id="{18913459-FBE8-4A6D-953C-89A4D767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已掌握标准 CRUD 和 Service 钩子
• 理解 UnitOfWork、异常与统一响应
• 理解模块能力归属</a:t>
            </a:r>
          </a:p>
        </p:txBody>
      </p:sp>
      <p:sp>
        <p:nvSpPr>
          <p:cNvPr id="11" name="scope-band-2">
            <a:extLst xmlns:a="http://schemas.openxmlformats.org/drawingml/2006/main">
              <a:ext uri="{FF2B5EF4-FFF2-40B4-BE49-F238E27FC236}">
                <a16:creationId xmlns:a16="http://schemas.microsoft.com/office/drawing/2014/main" id="{4E11608E-682A-4D4C-BEBA-90B0D53E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solidFill>
              <a:srgbClr val="EEF7F1"/>
            </a:solidFill>
            <a:prstDash val="solid"/>
          </a:ln>
        </p:spPr>
      </p:sp>
      <p:sp>
        <p:nvSpPr>
          <p:cNvPr id="12" name="scope-label-2">
            <a:extLst xmlns:a="http://schemas.openxmlformats.org/drawingml/2006/main">
              <a:ext uri="{FF2B5EF4-FFF2-40B4-BE49-F238E27FC236}">
                <a16:creationId xmlns:a16="http://schemas.microsoft.com/office/drawing/2014/main" id="{DFDE8FCA-8FC1-4DD0-AD14-74241881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学完应会</a:t>
            </a:r>
          </a:p>
        </p:txBody>
      </p:sp>
      <p:sp>
        <p:nvSpPr>
          <p:cNvPr id="13" name="scope-body-2">
            <a:extLst xmlns:a="http://schemas.openxmlformats.org/drawingml/2006/main">
              <a:ext uri="{FF2B5EF4-FFF2-40B4-BE49-F238E27FC236}">
                <a16:creationId xmlns:a16="http://schemas.microsoft.com/office/drawing/2014/main" id="{3C99708D-8753-48F5-AADB-4737170C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能设计一个不泄露内部实现的 Contract
• 能决定跨模块流程由谁控制事务
• 能判断规则放 Validator 还是事务内部
• 能为回调和状态流转设计并发保护</a:t>
            </a:r>
          </a:p>
        </p:txBody>
      </p:sp>
    </p:spTree>
    <p:extLst>
      <p:ext uri="{BB962C8B-B14F-4D97-AF65-F5344CB8AC3E}">
        <p14:creationId xmlns:p14="http://schemas.microsoft.com/office/powerpoint/2010/main" val="2084620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6888C9-3008-49B6-8ACC-F47E06E3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流程接口跨模块、跨写操作，不能按普通 CRUD 设计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43ACD4A-0629-4E56-AB9B-22F0797F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D08E6C87-1157-49CD-88E6-98E13BDF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· Contract、事务与校验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DC7C9BE-4BB2-4484-9B39-E815F9B7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14</a:t>
            </a:r>
          </a:p>
        </p:txBody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10E8982C-E9F7-4E85-A716-12562AFF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一条业务链只有一个整体成功或失败的语义。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72213C41-6A32-4F2F-83B2-AF817648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tatement-index-0">
            <a:extLst xmlns:a="http://schemas.openxmlformats.org/drawingml/2006/main">
              <a:ext uri="{FF2B5EF4-FFF2-40B4-BE49-F238E27FC236}">
                <a16:creationId xmlns:a16="http://schemas.microsoft.com/office/drawing/2014/main" id="{FBF667EF-031B-4843-B396-E34C81DF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statement-point-0">
            <a:extLst xmlns:a="http://schemas.openxmlformats.org/drawingml/2006/main">
              <a:ext uri="{FF2B5EF4-FFF2-40B4-BE49-F238E27FC236}">
                <a16:creationId xmlns:a16="http://schemas.microsoft.com/office/drawing/2014/main" id="{68405DE8-38FF-4337-922D-C91D1780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一个动作可能修改订单、任务和库存</a:t>
            </a:r>
          </a:p>
        </p:txBody>
      </p:sp>
      <p:sp>
        <p:nvSpPr>
          <p:cNvPr id="9" name="statement-index-1">
            <a:extLst xmlns:a="http://schemas.openxmlformats.org/drawingml/2006/main">
              <a:ext uri="{FF2B5EF4-FFF2-40B4-BE49-F238E27FC236}">
                <a16:creationId xmlns:a16="http://schemas.microsoft.com/office/drawing/2014/main" id="{5BF2C4AB-98C1-4278-A839-38BBCC16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statement-point-1">
            <a:extLst xmlns:a="http://schemas.openxmlformats.org/drawingml/2006/main">
              <a:ext uri="{FF2B5EF4-FFF2-40B4-BE49-F238E27FC236}">
                <a16:creationId xmlns:a16="http://schemas.microsoft.com/office/drawing/2014/main" id="{D1E0FE5C-AB9E-450B-99ED-1512CEB5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调用顺序本身就是业务规则</a:t>
            </a:r>
          </a:p>
        </p:txBody>
      </p:sp>
      <p:sp>
        <p:nvSpPr>
          <p:cNvPr id="11" name="statement-index-2">
            <a:extLst xmlns:a="http://schemas.openxmlformats.org/drawingml/2006/main">
              <a:ext uri="{FF2B5EF4-FFF2-40B4-BE49-F238E27FC236}">
                <a16:creationId xmlns:a16="http://schemas.microsoft.com/office/drawing/2014/main" id="{A73CA614-AE3E-4C77-A0CE-F7767D61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2" name="statement-point-2">
            <a:extLst xmlns:a="http://schemas.openxmlformats.org/drawingml/2006/main">
              <a:ext uri="{FF2B5EF4-FFF2-40B4-BE49-F238E27FC236}">
                <a16:creationId xmlns:a16="http://schemas.microsoft.com/office/drawing/2014/main" id="{F9C27D53-0819-4B0A-A92E-5FAC7D21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任何一步失败都可能需要整体回滚</a:t>
            </a:r>
          </a:p>
        </p:txBody>
      </p:sp>
      <p:sp>
        <p:nvSpPr>
          <p:cNvPr id="13" name="statement-index-3">
            <a:extLst xmlns:a="http://schemas.openxmlformats.org/drawingml/2006/main">
              <a:ext uri="{FF2B5EF4-FFF2-40B4-BE49-F238E27FC236}">
                <a16:creationId xmlns:a16="http://schemas.microsoft.com/office/drawing/2014/main" id="{D3123E46-1544-4D07-B380-DB5C353E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4" name="statement-point-3">
            <a:extLst xmlns:a="http://schemas.openxmlformats.org/drawingml/2006/main">
              <a:ext uri="{FF2B5EF4-FFF2-40B4-BE49-F238E27FC236}">
                <a16:creationId xmlns:a16="http://schemas.microsoft.com/office/drawing/2014/main" id="{8DBE3C9D-B8BF-4365-BDF7-5BE16C5E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重复请求必须被状态复核或幂等挡住</a:t>
            </a:r>
          </a:p>
        </p:txBody>
      </p:sp>
    </p:spTree>
    <p:extLst>
      <p:ext uri="{BB962C8B-B14F-4D97-AF65-F5344CB8AC3E}">
        <p14:creationId xmlns:p14="http://schemas.microsoft.com/office/powerpoint/2010/main" val="1779495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D245C1-740F-4F11-8703-018205F8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Contract 是跨模块门面，不是另一套 CRUD Service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AB530E9-5A3F-4F9F-986A-660F1574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5BDBD661-4B75-42CA-A67F-B1085324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· Contract、事务与校验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5A38A1-37BA-4071-8C2B-534EE058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14</a:t>
            </a:r>
          </a:p>
        </p:txBody>
      </p:sp>
      <p:sp>
        <p:nvSpPr>
          <p:cNvPr id="5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CBC3BA43-FC37-4304-B58B-25D8AC31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73C85C5C-BBD0-40A3-B77E-C7BF41A5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7D4A"/>
                </a:solidFill>
                <a:latin typeface="Microsoft YaHei"/>
                <a:ea typeface="Microsoft YaHei"/>
                <a:cs typeface="Microsoft YaHei"/>
              </a:defRPr>
            </a:pPr>
            <a:r>
              <a:t>好的 Contract</a:t>
            </a:r>
          </a:p>
        </p:txBody>
      </p:sp>
      <p:sp>
        <p:nvSpPr>
          <p:cNvPr id="7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93B413E4-04E1-4C4B-82BC-B27D79F1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以业务能力命名，例如锁定库存、生成任务
• 只暴露调用方真正需要的请求与结果
• 隐藏表结构和仓储实现
• 允许能力归属模块独立演进</a:t>
            </a:r>
          </a:p>
        </p:txBody>
      </p:sp>
      <p:sp>
        <p:nvSpPr>
          <p:cNvPr id="8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ABBD3A6F-73E0-454D-8050-A266A63F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8C47E6FF-D0B0-4F04-8739-12A2C0A9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t>失控的 Contract</a:t>
            </a:r>
          </a:p>
        </p:txBody>
      </p:sp>
      <p:sp>
        <p:nvSpPr>
          <p:cNvPr id="10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D351EF29-D900-4F92-AB3D-6BC731C5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把对方模块全部 CRUD 暴露出来
• 让调用方直接传内部 Entity
• 返回内部仓储或 IQueryable
• 调用方绕过对方业务规则改表</a:t>
            </a:r>
          </a:p>
        </p:txBody>
      </p:sp>
    </p:spTree>
    <p:extLst>
      <p:ext uri="{BB962C8B-B14F-4D97-AF65-F5344CB8AC3E}">
        <p14:creationId xmlns:p14="http://schemas.microsoft.com/office/powerpoint/2010/main" val="907128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0A4FFE-CC01-4613-A69F-D9FAE079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接口放在 Contracts，实现放在能力归属模块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E231735-4E5B-4577-9C08-CA9760B4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E8418F25-CB75-4742-9160-5F822074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· Contract、事务与校验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046689B-0853-48F7-BC66-521A706A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14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83F38030-ADAA-4C94-B48A-6BA761E8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ADE34602-A07C-42FE-918C-C889B28A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0B0E6B2-8ECD-4FF8-AB36-1B741DF0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F457F25B-151B-45A3-967E-C5E17A0E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定义接口</a:t>
            </a:r>
          </a:p>
        </p:txBody>
      </p:sp>
      <p:sp>
        <p:nvSpPr>
          <p:cNvPr id="9" name="flow-body-0">
            <a:extLst xmlns:a="http://schemas.openxmlformats.org/drawingml/2006/main">
              <a:ext uri="{FF2B5EF4-FFF2-40B4-BE49-F238E27FC236}">
                <a16:creationId xmlns:a16="http://schemas.microsoft.com/office/drawing/2014/main" id="{5AE40D4F-99C2-4709-869D-7772FCC0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Contracts/{Domain} 中定义 I...Contract。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8F32B3A6-0851-4583-BC69-468F4C9D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E5CDFFD1-F4A7-4AD4-80C0-0B98D113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E7AC2D27-76AF-4655-BDE7-EA6FA49B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7EDC3C92-1D24-4D43-B0A2-69F4B745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定义模型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2A66E0A9-98E2-4B3F-A003-2DCC7C51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请求和结果模型同样属于契约层。</a:t>
            </a:r>
          </a:p>
        </p:txBody>
      </p:sp>
      <p:sp>
        <p:nvSpPr>
          <p:cNvPr id="1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90D26CE5-62C5-4F30-99F7-9D6F965D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02587E45-41CD-4F14-8D97-F680B539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90BA819-2567-4AC5-A729-E0D1E2E3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9050CCF7-989D-4291-8F1C-72F1E4F6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能力方实现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8A5886CB-57F1-448A-B440-61208526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在拥有数据和规则的模块 Contracts 目录实现。</a:t>
            </a:r>
          </a:p>
        </p:txBody>
      </p:sp>
      <p:sp>
        <p:nvSpPr>
          <p:cNvPr id="20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BF86E41D-3E68-4F68-AA96-884BC38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875206E9-B27C-4D13-9AB3-13E74B12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93789A04-E0EF-4C77-BBEF-BE8A7E34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86FF8489-7DD3-4108-A118-D686588C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显式注册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42D1DF30-A5F0-4DD7-B08A-698F5552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RegisteredService 指向 Contract 接口。</a:t>
            </a:r>
          </a:p>
        </p:txBody>
      </p:sp>
      <p:sp>
        <p:nvSpPr>
          <p:cNvPr id="25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040F15FF-0523-4476-B9E4-F0CF2FC0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C131E29B-99CF-4150-ACBD-9F579FC6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4D6694DD-506C-4669-8ADD-83760AD7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调用方注入</a:t>
            </a:r>
          </a:p>
        </p:txBody>
      </p:sp>
      <p:sp>
        <p:nvSpPr>
          <p:cNvPr id="2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168E621D-2AB1-421D-AFFD-1ABF3192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只引用接口，不引用对方 Services。</a:t>
            </a:r>
          </a:p>
        </p:txBody>
      </p:sp>
    </p:spTree>
    <p:extLst>
      <p:ext uri="{BB962C8B-B14F-4D97-AF65-F5344CB8AC3E}">
        <p14:creationId xmlns:p14="http://schemas.microsoft.com/office/powerpoint/2010/main" val="7599830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8989A8-C26A-4422-801F-9A519AD0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调用方控制整条业务链的事务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CF589E2-0FDA-4D84-80B2-EDB4350D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3AD9C77F-DBDE-439B-B8B9-5A30B3D4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· Contract、事务与校验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DB16D5B-816E-4473-A2CB-A8366753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/ 14</a:t>
            </a:r>
          </a:p>
        </p:txBody>
      </p:sp>
      <p:sp>
        <p:nvSpPr>
          <p:cNvPr id="5" name="flow-intro">
            <a:extLst xmlns:a="http://schemas.openxmlformats.org/drawingml/2006/main">
              <a:ext uri="{FF2B5EF4-FFF2-40B4-BE49-F238E27FC236}">
                <a16:creationId xmlns:a16="http://schemas.microsoft.com/office/drawing/2014/main" id="{4BD2736C-35E5-4960-9408-28F8818E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04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被调用 Contract 参与同一个 UnitOfWork，不自行把大流程切成多个独立提交。</a:t>
            </a:r>
          </a:p>
        </p:txBody>
      </p:sp>
      <p:sp>
        <p:nvSpPr>
          <p:cNvPr id="6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F2577F7D-B212-4FE1-A0F1-D634A6E2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7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E8A3624B-1B97-4AEF-B403-321357FB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8AE8549A-3C24-49D2-9301-461836BE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3D0C69E3-9E18-4198-84F6-922A1655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 Service 开事务</a:t>
            </a:r>
          </a:p>
        </p:txBody>
      </p:sp>
      <p:sp>
        <p:nvSpPr>
          <p:cNvPr id="10" name="flow-body-0">
            <a:extLst xmlns:a="http://schemas.openxmlformats.org/drawingml/2006/main">
              <a:ext uri="{FF2B5EF4-FFF2-40B4-BE49-F238E27FC236}">
                <a16:creationId xmlns:a16="http://schemas.microsoft.com/office/drawing/2014/main" id="{15625822-D4C7-4E44-A8F0-80E1B121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最外层用例建立一致性边界。</a:t>
            </a:r>
          </a:p>
        </p:txBody>
      </p:sp>
      <p:sp>
        <p:nvSpPr>
          <p:cNvPr id="11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2CE79BF0-5150-4FAC-BA0F-6F05B45A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2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AB10EE72-46E7-47DC-8DCF-A2CC0A1E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38125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801E1175-FF6A-491D-9542-F0CA3BA4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3845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C5BE602F-0E43-439A-89E8-3B871FD0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10515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调用订单能力</a:t>
            </a:r>
          </a:p>
        </p:txBody>
      </p:sp>
      <p:sp>
        <p:nvSpPr>
          <p:cNvPr id="15" name="flow-body-1">
            <a:extLst xmlns:a="http://schemas.openxmlformats.org/drawingml/2006/main">
              <a:ext uri="{FF2B5EF4-FFF2-40B4-BE49-F238E27FC236}">
                <a16:creationId xmlns:a16="http://schemas.microsoft.com/office/drawing/2014/main" id="{68D3A46A-A4F9-46C7-A760-69815E53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98145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校验并更新当前业务状态。</a:t>
            </a:r>
          </a:p>
        </p:txBody>
      </p:sp>
      <p:sp>
        <p:nvSpPr>
          <p:cNvPr id="1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FC10B4CF-E429-477B-A114-AD095838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7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2DDECC3C-C73D-4A2F-B7CE-8B06B8F2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38125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6BBAD080-4A77-4A65-96C3-2E7DDAC9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83845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5A809DB2-D28B-4D06-B5D2-F29D1AB1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10515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调用库存 Contract</a:t>
            </a:r>
          </a:p>
        </p:txBody>
      </p:sp>
      <p:sp>
        <p:nvSpPr>
          <p:cNvPr id="20" name="flow-body-2">
            <a:extLst xmlns:a="http://schemas.openxmlformats.org/drawingml/2006/main">
              <a:ext uri="{FF2B5EF4-FFF2-40B4-BE49-F238E27FC236}">
                <a16:creationId xmlns:a16="http://schemas.microsoft.com/office/drawing/2014/main" id="{1318C825-3A2B-43DE-9EAF-492F61F4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98145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按库存模块规则锁定或移动库存。</a:t>
            </a:r>
          </a:p>
        </p:txBody>
      </p:sp>
      <p:sp>
        <p:nvSpPr>
          <p:cNvPr id="21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98BB0F06-1C06-482A-873C-5FFD41F8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2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7A1276A6-A397-41CE-BB16-0EF22DC9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38125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B721A456-04A7-479B-83D8-A0B52276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3845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DD51F554-45E7-4B26-8FC1-F1A1A779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10515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调用任务 Contract</a:t>
            </a:r>
          </a:p>
        </p:txBody>
      </p:sp>
      <p:sp>
        <p:nvSpPr>
          <p:cNvPr id="25" name="flow-body-3">
            <a:extLst xmlns:a="http://schemas.openxmlformats.org/drawingml/2006/main">
              <a:ext uri="{FF2B5EF4-FFF2-40B4-BE49-F238E27FC236}">
                <a16:creationId xmlns:a16="http://schemas.microsoft.com/office/drawing/2014/main" id="{2A8ACF9E-B618-470D-B496-99914E6A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98145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创建或完成执行任务。</a:t>
            </a:r>
          </a:p>
        </p:txBody>
      </p:sp>
      <p:sp>
        <p:nvSpPr>
          <p:cNvPr id="26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02EB02ED-44DD-442E-BBDF-AD07CCF0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38125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D98A145E-7257-4BC7-A4DC-BE332349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83845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8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5EA3DD22-4D39-4A9A-BF94-9D8659D5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10515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统一提交</a:t>
            </a:r>
          </a:p>
        </p:txBody>
      </p:sp>
      <p:sp>
        <p:nvSpPr>
          <p:cNvPr id="29" name="flow-body-4">
            <a:extLst xmlns:a="http://schemas.openxmlformats.org/drawingml/2006/main">
              <a:ext uri="{FF2B5EF4-FFF2-40B4-BE49-F238E27FC236}">
                <a16:creationId xmlns:a16="http://schemas.microsoft.com/office/drawing/2014/main" id="{629C2A67-C0E7-46A1-90D3-C2AABD9F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98145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全部成功才 commit；异常则整体 rollback。</a:t>
            </a:r>
          </a:p>
        </p:txBody>
      </p:sp>
    </p:spTree>
    <p:extLst>
      <p:ext uri="{BB962C8B-B14F-4D97-AF65-F5344CB8AC3E}">
        <p14:creationId xmlns:p14="http://schemas.microsoft.com/office/powerpoint/2010/main" val="10288195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8AABD3-7255-4769-9547-2ED17B8F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三类事务边界按业务一致性选择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4A85029-2BBA-4249-963B-D4A70250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E6D9AF83-B38F-4282-B505-794B9E01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· Contract、事务与校验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DE0A655-67D6-43FF-A8AD-EBC7BF05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/ 14</a:t>
            </a:r>
          </a:p>
        </p:txBody>
      </p:sp>
      <p:sp>
        <p:nvSpPr>
          <p:cNvPr id="5" name="matrix-header-band-0">
            <a:extLst xmlns:a="http://schemas.openxmlformats.org/drawingml/2006/main">
              <a:ext uri="{FF2B5EF4-FFF2-40B4-BE49-F238E27FC236}">
                <a16:creationId xmlns:a16="http://schemas.microsoft.com/office/drawing/2014/main" id="{321BDCC3-E95D-4178-9082-84E7B870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B8D00C03-F250-4626-A116-605E4E43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2914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场景</a:t>
            </a:r>
          </a:p>
        </p:txBody>
      </p:sp>
      <p:sp>
        <p:nvSpPr>
          <p:cNvPr id="7" name="matrix-header-band-1">
            <a:extLst xmlns:a="http://schemas.openxmlformats.org/drawingml/2006/main">
              <a:ext uri="{FF2B5EF4-FFF2-40B4-BE49-F238E27FC236}">
                <a16:creationId xmlns:a16="http://schemas.microsoft.com/office/drawing/2014/main" id="{A3190472-2D59-4EEE-8CA4-14582CE5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76375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22D7E7BF-47DA-4471-904E-9ECAE1BA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28775"/>
            <a:ext cx="2914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推荐边界</a:t>
            </a:r>
          </a:p>
        </p:txBody>
      </p:sp>
      <p:sp>
        <p:nvSpPr>
          <p:cNvPr id="9" name="matrix-header-band-2">
            <a:extLst xmlns:a="http://schemas.openxmlformats.org/drawingml/2006/main">
              <a:ext uri="{FF2B5EF4-FFF2-40B4-BE49-F238E27FC236}">
                <a16:creationId xmlns:a16="http://schemas.microsoft.com/office/drawing/2014/main" id="{260048A9-957C-4B0D-B09D-DE4DB4B7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76375"/>
            <a:ext cx="4991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072D973D-34FC-40EA-BF1C-EC3CCDA2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2877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原因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FEFAC66F-F808-4340-A441-0E7A8F22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4F1E0F61-8CEC-48E8-8F0B-E5FCCCFE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2914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单实体标准 CRUD</a:t>
            </a:r>
          </a:p>
        </p:txBody>
      </p:sp>
      <p:sp>
        <p:nvSpPr>
          <p:cNvPr id="13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E96BF418-6F1E-4F88-8EE0-DF604B2D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14575"/>
            <a:ext cx="2914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基类内置事务</a:t>
            </a:r>
          </a:p>
        </p:txBody>
      </p:sp>
      <p:sp>
        <p:nvSpPr>
          <p:cNvPr id="14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DE8037CE-5AB9-4EFC-968B-F5C9404D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14575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执行链已覆盖写入、钩子和异常回滚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FE6E5A27-A1A2-4457-99B0-FAE96F59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9DF88048-248E-46AE-8E50-BA0EE769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38475"/>
            <a:ext cx="2914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 Service 内多次写入</a:t>
            </a:r>
          </a:p>
        </p:txBody>
      </p:sp>
      <p:sp>
        <p:nvSpPr>
          <p:cNvPr id="17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9D4127BD-12E5-49FF-A0E6-E8A877AE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38475"/>
            <a:ext cx="2914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IUnitOfWork</a:t>
            </a:r>
          </a:p>
        </p:txBody>
      </p:sp>
      <p:sp>
        <p:nvSpPr>
          <p:cNvPr id="18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0A26EA66-5359-40D5-8477-A9B4DCBC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38475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由 Service 清晰控制提交与回滚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0B178C40-4B89-489B-A146-31D8F60D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C8D15F77-CD86-4683-9269-12EEB4C1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2914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跨多个 Contract 的业务流程</a:t>
            </a:r>
          </a:p>
        </p:txBody>
      </p:sp>
      <p:sp>
        <p:nvSpPr>
          <p:cNvPr id="21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FEB34AFF-64EE-47E9-83A2-D50ADB31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2914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调用方 IUnitOfWork</a:t>
            </a:r>
          </a:p>
        </p:txBody>
      </p:sp>
      <p:sp>
        <p:nvSpPr>
          <p:cNvPr id="22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35152B03-B08A-4DCB-AE00-6A5A04FA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保证整条跨模块链只有一次提交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81E71DE2-2414-42F7-95C6-0DFA9AB9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matrix-cell-3-0">
            <a:extLst xmlns:a="http://schemas.openxmlformats.org/drawingml/2006/main">
              <a:ext uri="{FF2B5EF4-FFF2-40B4-BE49-F238E27FC236}">
                <a16:creationId xmlns:a16="http://schemas.microsoft.com/office/drawing/2014/main" id="{DE64A99D-EE71-40B6-986F-5460E9F3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86275"/>
            <a:ext cx="2914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Action 整体事务</a:t>
            </a:r>
          </a:p>
        </p:txBody>
      </p:sp>
      <p:sp>
        <p:nvSpPr>
          <p:cNvPr id="25" name="matrix-cell-3-1">
            <a:extLst xmlns:a="http://schemas.openxmlformats.org/drawingml/2006/main">
              <a:ext uri="{FF2B5EF4-FFF2-40B4-BE49-F238E27FC236}">
                <a16:creationId xmlns:a16="http://schemas.microsoft.com/office/drawing/2014/main" id="{3D722260-A631-4A60-AD88-3D3AE9B0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86275"/>
            <a:ext cx="2914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Transaction Filter</a:t>
            </a:r>
          </a:p>
        </p:txBody>
      </p:sp>
      <p:sp>
        <p:nvSpPr>
          <p:cNvPr id="26" name="matrix-cell-3-2">
            <a:extLst xmlns:a="http://schemas.openxmlformats.org/drawingml/2006/main">
              <a:ext uri="{FF2B5EF4-FFF2-40B4-BE49-F238E27FC236}">
                <a16:creationId xmlns:a16="http://schemas.microsoft.com/office/drawing/2014/main" id="{9ED109A4-2CA2-410A-8AAF-E3874F28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86275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由 MVC 层包裹 Action，但要避免内部重复开事务</a:t>
            </a:r>
          </a:p>
        </p:txBody>
      </p:sp>
    </p:spTree>
    <p:extLst>
      <p:ext uri="{BB962C8B-B14F-4D97-AF65-F5344CB8AC3E}">
        <p14:creationId xmlns:p14="http://schemas.microsoft.com/office/powerpoint/2010/main" val="801367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325CEA-C0E1-488E-8B1D-627BB2EC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早返回前未回滚，业务失败可能被提交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0B5A026-57B7-4F80-818B-AC76E8D0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164497AF-ECE1-4D3A-8EB9-C37CA445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· Contract、事务与校验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099FCC5-EA96-4CBB-B768-9F778986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/ 14</a:t>
            </a:r>
          </a:p>
        </p:txBody>
      </p:sp>
      <p:sp>
        <p:nvSpPr>
          <p:cNvPr id="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E2F143C-EBA2-4E77-9A4D-189BC96C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66675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" name="code-block">
            <a:extLst xmlns:a="http://schemas.openxmlformats.org/drawingml/2006/main">
              <a:ext uri="{FF2B5EF4-FFF2-40B4-BE49-F238E27FC236}">
                <a16:creationId xmlns:a16="http://schemas.microsoft.com/office/drawing/2014/main" id="{17B604F3-7AA6-4FB9-98D8-21BE9613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210300" cy="3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t>await unitOfWork.BeginTranAsync();
var result = await inventoryContract.LockAsync(request);
if (!result.Success)
{
    await unitOfWork.RollbackTranAsync();
    return ServiceResult.Fail(result.Message);
}
await taskContract.CreateAsync(taskRequest);
await unitOfWork.CommitTranAsync();</a:t>
            </a:r>
          </a:p>
        </p:txBody>
      </p:sp>
      <p:sp>
        <p:nvSpPr>
          <p:cNvPr id="7" name="code-side-title">
            <a:extLst xmlns:a="http://schemas.openxmlformats.org/drawingml/2006/main">
              <a:ext uri="{FF2B5EF4-FFF2-40B4-BE49-F238E27FC236}">
                <a16:creationId xmlns:a16="http://schemas.microsoft.com/office/drawing/2014/main" id="{26930BFF-65A8-4F7C-92F6-8D20AF86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905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 Service 的检查点</a:t>
            </a:r>
          </a:p>
        </p:txBody>
      </p:sp>
      <p:sp>
        <p:nvSpPr>
          <p:cNvPr id="8" name="code-side-body">
            <a:extLst xmlns:a="http://schemas.openxmlformats.org/drawingml/2006/main">
              <a:ext uri="{FF2B5EF4-FFF2-40B4-BE49-F238E27FC236}">
                <a16:creationId xmlns:a16="http://schemas.microsoft.com/office/drawing/2014/main" id="{B3BC2FAD-C2BD-4B7C-8C5E-40A91632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390525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事务开始后每个早返回都要审计
• 优先让异常保留回滚语义
• 成功提交只能出现在整体成功之后
• 不要让被调 Contract 独立 commit
• 记录失败响应对应的 TraceId</a:t>
            </a:r>
          </a:p>
        </p:txBody>
      </p:sp>
    </p:spTree>
    <p:extLst>
      <p:ext uri="{BB962C8B-B14F-4D97-AF65-F5344CB8AC3E}">
        <p14:creationId xmlns:p14="http://schemas.microsoft.com/office/powerpoint/2010/main" val="2021825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C5FCE8-C85F-4AF7-8FB0-396C6EE7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Validator 只做业务方法执行前的配置化规则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77B67C9-88DD-4D23-A2D1-403BAF00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3FB65FA2-ED00-4D83-BEB1-FB1AC57E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· Contract、事务与校验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10B0037-F4CB-4984-B686-05047414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/ 14</a:t>
            </a:r>
          </a:p>
        </p:txBody>
      </p:sp>
      <p:sp>
        <p:nvSpPr>
          <p:cNvPr id="5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2C137D3E-218A-4B1B-92E2-9E4E0C20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422826B4-F7D2-4675-BCF9-A9ED8123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7D4A"/>
                </a:solidFill>
                <a:latin typeface="Microsoft YaHei"/>
                <a:ea typeface="Microsoft YaHei"/>
                <a:cs typeface="Microsoft YaHei"/>
              </a:defRPr>
            </a:pPr>
            <a:r>
              <a:t>适合 Validator</a:t>
            </a:r>
          </a:p>
        </p:txBody>
      </p:sp>
      <p:sp>
        <p:nvSpPr>
          <p:cNvPr id="7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74F72E01-FAB6-455E-A998-63FC6206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按配置开关启用的前置校验
• 多个业务入口可复用的规则
• 只依赖参数和普通查询
• 失败时可在执行前安全短路</a:t>
            </a:r>
          </a:p>
        </p:txBody>
      </p:sp>
      <p:sp>
        <p:nvSpPr>
          <p:cNvPr id="8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70F052BF-4ACD-4D1A-883F-6D113861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8697BEA1-4CD0-407B-9B19-1CD282D6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t>放回事务内部</a:t>
            </a:r>
          </a:p>
        </p:txBody>
      </p:sp>
      <p:sp>
        <p:nvSpPr>
          <p:cNvPr id="10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5292EB47-8467-43A7-A6F5-5DB17EA7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依赖加锁后的最新状态
• 必须和写入原子完成
• 存在查询与写入竞态
• 需要修改库存、任务或订单状态</a:t>
            </a:r>
          </a:p>
        </p:txBody>
      </p:sp>
    </p:spTree>
    <p:extLst>
      <p:ext uri="{BB962C8B-B14F-4D97-AF65-F5344CB8AC3E}">
        <p14:creationId xmlns:p14="http://schemas.microsoft.com/office/powerpoint/2010/main" val="10929995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F33590-CF95-45AD-B9A5-5119F3D1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可插拔校验器有五个固定接入步骤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E67E8AA-25F8-48B4-8E8B-5DCE44D7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3B781BDB-4732-4B52-89A8-FAB26439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· Contract、事务与校验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B921295-F1AD-4CB0-BC63-2D3BD5BA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10 / 14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E83B0E08-8E17-46A4-9862-300EB446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EF2512FF-94E8-455C-A339-86086397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09482B78-279D-4AC4-865E-C125368A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C17F68AF-231C-4BDB-94B8-3AD27E0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定义编码</a:t>
            </a:r>
          </a:p>
        </p:txBody>
      </p:sp>
      <p:sp>
        <p:nvSpPr>
          <p:cNvPr id="9" name="flow-body-0">
            <a:extLst xmlns:a="http://schemas.openxmlformats.org/drawingml/2006/main">
              <a:ext uri="{FF2B5EF4-FFF2-40B4-BE49-F238E27FC236}">
                <a16:creationId xmlns:a16="http://schemas.microsoft.com/office/drawing/2014/main" id="{A8662527-59F6-4192-AC3C-27824791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在 ValidatorCodes 增加唯一常量。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F3E659CD-4544-4CA4-B345-849A5F05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41CA4D87-74E0-48B6-A643-04B8C7DE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0F9EFF74-927C-4EF3-BAE6-DA6D436B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AAC48255-4582-4612-925A-E2DE322A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实现 IValidator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3D05210C-3350-4EFD-9807-EEC717D5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类只实现 IValidator，Code 与常量一致。</a:t>
            </a:r>
          </a:p>
        </p:txBody>
      </p:sp>
      <p:sp>
        <p:nvSpPr>
          <p:cNvPr id="1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0E6430D1-3342-498C-B7EE-6CE84B90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90E579C2-9914-4BDB-A802-2F475BF0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56456140-4D7C-42DB-BC61-86A267ED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E6A0D3A9-75D2-46EA-985A-8B197382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关闭自身拦截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188A94E3-C263-4635-8E00-D337922D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Validator 以 WithoutInterceptor 注册。</a:t>
            </a:r>
          </a:p>
        </p:txBody>
      </p:sp>
      <p:sp>
        <p:nvSpPr>
          <p:cNvPr id="20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505D377-44F9-4233-919F-6158AA5E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C758CD42-822E-460F-B09E-027737B6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BA1DE097-1D61-4046-9646-AB4BA317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574154A2-A9D9-450E-8107-2300BB0D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方法挂特性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095241F0-D5BC-4042-AFD4-80E24255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目标方法增加 ConfigValidation。</a:t>
            </a:r>
          </a:p>
        </p:txBody>
      </p:sp>
      <p:sp>
        <p:nvSpPr>
          <p:cNvPr id="25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41EF7035-4458-46D4-93C8-6E57D06B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B2626E01-1D8C-424E-A869-A4D70A5F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98A4B6A8-3FEE-42D6-9724-A76170F8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验证短路</a:t>
            </a:r>
          </a:p>
        </p:txBody>
      </p:sp>
      <p:sp>
        <p:nvSpPr>
          <p:cNvPr id="2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6D7E9C44-2745-4546-9BD6-CA2FD6DC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失败返回错误消息，成功才进入业务方法。</a:t>
            </a:r>
          </a:p>
        </p:txBody>
      </p:sp>
    </p:spTree>
    <p:extLst>
      <p:ext uri="{BB962C8B-B14F-4D97-AF65-F5344CB8AC3E}">
        <p14:creationId xmlns:p14="http://schemas.microsoft.com/office/powerpoint/2010/main" val="12183385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9C2C8A-D1CB-4887-A69A-D9FCD25E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参数、配置和返回类型共同决定 Validator 能否执行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E193292-6CF1-441E-A936-021B20FF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9FC008E5-DCCA-4050-9B75-7630FFE1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· Contract、事务与校验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6259217-D5CE-4A38-968A-7CAE5890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11 / 14</a:t>
            </a:r>
          </a:p>
        </p:txBody>
      </p:sp>
      <p:sp>
        <p:nvSpPr>
          <p:cNvPr id="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8D8D834-10A3-4508-A9D8-3C921708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66675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" name="code-block">
            <a:extLst xmlns:a="http://schemas.openxmlformats.org/drawingml/2006/main">
              <a:ext uri="{FF2B5EF4-FFF2-40B4-BE49-F238E27FC236}">
                <a16:creationId xmlns:a16="http://schemas.microsoft.com/office/drawing/2014/main" id="{89D94E19-0C38-4AF3-96F0-AF8FF3B0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210300" cy="3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t>[RegisteredService(
    WithoutInterceptor = true,
    ServiceType = typeof(IValidator))]
public class ContainerValidator : IValidator
{
    public string Code =&gt; ValidatorCodes.ContainerBind;
    public Task&lt;string?&gt; ValidateAsync(
        object[] args,
        IDictionary&lt;string, object&gt; services)
    {
        var request = args.OfType&lt;List&lt;ContainerBindDto&gt;&gt;()
            .FirstOrDefault();
        return Task.FromResult&lt;string?&gt;(null);
    }
}</a:t>
            </a:r>
          </a:p>
        </p:txBody>
      </p:sp>
      <p:sp>
        <p:nvSpPr>
          <p:cNvPr id="7" name="code-side-title">
            <a:extLst xmlns:a="http://schemas.openxmlformats.org/drawingml/2006/main">
              <a:ext uri="{FF2B5EF4-FFF2-40B4-BE49-F238E27FC236}">
                <a16:creationId xmlns:a16="http://schemas.microsoft.com/office/drawing/2014/main" id="{E2EC9C7D-E48A-4540-86F9-9653EA1A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905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排查校验没执行</a:t>
            </a:r>
          </a:p>
        </p:txBody>
      </p:sp>
      <p:sp>
        <p:nvSpPr>
          <p:cNvPr id="8" name="code-side-body">
            <a:extLst xmlns:a="http://schemas.openxmlformats.org/drawingml/2006/main">
              <a:ext uri="{FF2B5EF4-FFF2-40B4-BE49-F238E27FC236}">
                <a16:creationId xmlns:a16="http://schemas.microsoft.com/office/drawing/2014/main" id="{B532905E-FF2E-4244-915B-C2E67811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390525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Code 与 ValidatorCodes 是否一致
• 实现是否只注册到 IValidator
• 目标方法是否挂 ConfigValidation
• 目标 Service 是否仍启用 AOP
• 方法返回类型是否为 ServiceResult 族</a:t>
            </a:r>
          </a:p>
        </p:txBody>
      </p:sp>
    </p:spTree>
    <p:extLst>
      <p:ext uri="{BB962C8B-B14F-4D97-AF65-F5344CB8AC3E}">
        <p14:creationId xmlns:p14="http://schemas.microsoft.com/office/powerpoint/2010/main" val="14823617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D40D79-D08C-43F8-BE92-2A99AAB5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并发与幂等要在状态复核处收口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76D24F2F-E562-4998-88A4-12352387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C1D72BC4-3052-48DB-A44D-75D60C50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· Contract、事务与校验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FC60549-D7C0-4C43-9D89-EDF91F6B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12 / 14</a:t>
            </a:r>
          </a:p>
        </p:txBody>
      </p:sp>
      <p:sp>
        <p:nvSpPr>
          <p:cNvPr id="5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921D41F1-19F0-4194-9A25-C89DB6B6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CD2D45BC-3B89-47E4-8072-0CE812CA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并发保护</a:t>
            </a:r>
          </a:p>
        </p:txBody>
      </p:sp>
      <p:sp>
        <p:nvSpPr>
          <p:cNvPr id="7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B6AAE2D4-5F89-444E-91D1-0FF6DEFE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更新锁或条件更新保护资源
• 写入前复核订单、任务和库存状态
• 数量判断与扣减保持原子性
• 事务内再次确认可操作条件</a:t>
            </a:r>
          </a:p>
        </p:txBody>
      </p:sp>
      <p:sp>
        <p:nvSpPr>
          <p:cNvPr id="8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FF0D767D-18A4-43D4-B19F-48F39D93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96433654-0263-49F5-8195-511F544A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幂等保护</a:t>
            </a:r>
          </a:p>
        </p:txBody>
      </p:sp>
      <p:sp>
        <p:nvSpPr>
          <p:cNvPr id="10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B66A16D8-3384-4710-A4D1-DF87D788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WCS / PDA 回调允许重复到达
• 已完成状态直接返回成功或安全结果
• 避免重复扣减、重复生成任务
• 用业务键或状态机识别已处理请求</a:t>
            </a:r>
          </a:p>
        </p:txBody>
      </p:sp>
    </p:spTree>
    <p:extLst>
      <p:ext uri="{BB962C8B-B14F-4D97-AF65-F5344CB8AC3E}">
        <p14:creationId xmlns:p14="http://schemas.microsoft.com/office/powerpoint/2010/main" val="1340324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E268C8-7A27-4B9D-85D6-D7DDDABC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流程接口提测前确认边界和失败路径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DDB344B-817C-4975-938F-A7E14CAB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BCDB0DCC-F8F7-499C-8B88-A0052D88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· Contract、事务与校验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D0514C1-9B41-4C55-9494-0AE161C6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13 / 14</a:t>
            </a:r>
          </a:p>
        </p:txBody>
      </p:sp>
      <p:sp>
        <p:nvSpPr>
          <p:cNvPr id="5" name="checklist-title-0">
            <a:extLst xmlns:a="http://schemas.openxmlformats.org/drawingml/2006/main">
              <a:ext uri="{FF2B5EF4-FFF2-40B4-BE49-F238E27FC236}">
                <a16:creationId xmlns:a16="http://schemas.microsoft.com/office/drawing/2014/main" id="{16EEAE9F-1323-4283-B58A-62013339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设计边界</a:t>
            </a:r>
          </a:p>
        </p:txBody>
      </p:sp>
      <p:sp>
        <p:nvSpPr>
          <p:cNvPr id="6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9272DF64-1BBD-4915-AD3F-2B6EED83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check-mark">
            <a:extLst xmlns:a="http://schemas.openxmlformats.org/drawingml/2006/main">
              <a:ext uri="{FF2B5EF4-FFF2-40B4-BE49-F238E27FC236}">
                <a16:creationId xmlns:a16="http://schemas.microsoft.com/office/drawing/2014/main" id="{D6787259-DE3D-4DE8-81CF-492F5148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574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8" name="check-text-0-0">
            <a:extLst xmlns:a="http://schemas.openxmlformats.org/drawingml/2006/main">
              <a:ext uri="{FF2B5EF4-FFF2-40B4-BE49-F238E27FC236}">
                <a16:creationId xmlns:a16="http://schemas.microsoft.com/office/drawing/2014/main" id="{916DF8FE-CB53-4248-B6D4-A8DDCFB8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Contract 只暴露必要业务能力</a:t>
            </a:r>
          </a:p>
        </p:txBody>
      </p:sp>
      <p:sp>
        <p:nvSpPr>
          <p:cNvPr id="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20E7F973-2021-4134-A9B4-BBD98757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check-mark">
            <a:extLst xmlns:a="http://schemas.openxmlformats.org/drawingml/2006/main">
              <a:ext uri="{FF2B5EF4-FFF2-40B4-BE49-F238E27FC236}">
                <a16:creationId xmlns:a16="http://schemas.microsoft.com/office/drawing/2014/main" id="{B7C5D763-EB1D-40FB-8685-52E38AC6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1" name="check-text-0-1">
            <a:extLst xmlns:a="http://schemas.openxmlformats.org/drawingml/2006/main">
              <a:ext uri="{FF2B5EF4-FFF2-40B4-BE49-F238E27FC236}">
                <a16:creationId xmlns:a16="http://schemas.microsoft.com/office/drawing/2014/main" id="{D27B9910-098E-40EA-9856-3D480716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调用方只依赖接口，不引用对方 Service</a:t>
            </a:r>
          </a:p>
        </p:txBody>
      </p:sp>
      <p:sp>
        <p:nvSpPr>
          <p:cNvPr id="12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D3877437-56D1-48AC-A74D-471BA0CD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check-mark">
            <a:extLst xmlns:a="http://schemas.openxmlformats.org/drawingml/2006/main">
              <a:ext uri="{FF2B5EF4-FFF2-40B4-BE49-F238E27FC236}">
                <a16:creationId xmlns:a16="http://schemas.microsoft.com/office/drawing/2014/main" id="{F692A937-1342-4C78-B0B9-446A7FB6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4" name="check-text-0-2">
            <a:extLst xmlns:a="http://schemas.openxmlformats.org/drawingml/2006/main">
              <a:ext uri="{FF2B5EF4-FFF2-40B4-BE49-F238E27FC236}">
                <a16:creationId xmlns:a16="http://schemas.microsoft.com/office/drawing/2014/main" id="{6E2D39B3-9425-4994-A7DD-73B8593C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最外层 Service 控制事务</a:t>
            </a:r>
          </a:p>
        </p:txBody>
      </p:sp>
      <p:sp>
        <p:nvSpPr>
          <p:cNvPr id="15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4E5AB1CF-F744-4D4D-A9FC-9536711B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check-mark">
            <a:extLst xmlns:a="http://schemas.openxmlformats.org/drawingml/2006/main">
              <a:ext uri="{FF2B5EF4-FFF2-40B4-BE49-F238E27FC236}">
                <a16:creationId xmlns:a16="http://schemas.microsoft.com/office/drawing/2014/main" id="{014A0DB9-8456-4E02-B37E-F3CAFDDB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7" name="check-text-0-3">
            <a:extLst xmlns:a="http://schemas.openxmlformats.org/drawingml/2006/main">
              <a:ext uri="{FF2B5EF4-FFF2-40B4-BE49-F238E27FC236}">
                <a16:creationId xmlns:a16="http://schemas.microsoft.com/office/drawing/2014/main" id="{E0B611D1-4AA4-4856-AE3C-7E8EB470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Validator 与事务内校验职责分开</a:t>
            </a:r>
          </a:p>
        </p:txBody>
      </p:sp>
      <p:sp>
        <p:nvSpPr>
          <p:cNvPr id="18" name="checklist-title-1">
            <a:extLst xmlns:a="http://schemas.openxmlformats.org/drawingml/2006/main">
              <a:ext uri="{FF2B5EF4-FFF2-40B4-BE49-F238E27FC236}">
                <a16:creationId xmlns:a16="http://schemas.microsoft.com/office/drawing/2014/main" id="{37CE7756-EE8B-474A-896E-1D347860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240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异常与并发</a:t>
            </a:r>
          </a:p>
        </p:txBody>
      </p:sp>
      <p:sp>
        <p:nvSpPr>
          <p:cNvPr id="1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84D0E069-4DC1-4E37-B580-BF712247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check-mark">
            <a:extLst xmlns:a="http://schemas.openxmlformats.org/drawingml/2006/main">
              <a:ext uri="{FF2B5EF4-FFF2-40B4-BE49-F238E27FC236}">
                <a16:creationId xmlns:a16="http://schemas.microsoft.com/office/drawing/2014/main" id="{C518387B-632E-47BB-A450-2D26BC18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574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1" name="check-text-1-0">
            <a:extLst xmlns:a="http://schemas.openxmlformats.org/drawingml/2006/main">
              <a:ext uri="{FF2B5EF4-FFF2-40B4-BE49-F238E27FC236}">
                <a16:creationId xmlns:a16="http://schemas.microsoft.com/office/drawing/2014/main" id="{E5CAD0CA-C7D4-4636-B6F5-9E15AF60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每个早返回都确认回滚语义</a:t>
            </a:r>
          </a:p>
        </p:txBody>
      </p:sp>
      <p:sp>
        <p:nvSpPr>
          <p:cNvPr id="22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EFFE7E9C-2A5A-4EE2-A876-55AE7CE5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check-mark">
            <a:extLst xmlns:a="http://schemas.openxmlformats.org/drawingml/2006/main">
              <a:ext uri="{FF2B5EF4-FFF2-40B4-BE49-F238E27FC236}">
                <a16:creationId xmlns:a16="http://schemas.microsoft.com/office/drawing/2014/main" id="{FE237532-019C-4C46-8170-2025968F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241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4" name="check-text-1-1">
            <a:extLst xmlns:a="http://schemas.openxmlformats.org/drawingml/2006/main">
              <a:ext uri="{FF2B5EF4-FFF2-40B4-BE49-F238E27FC236}">
                <a16:creationId xmlns:a16="http://schemas.microsoft.com/office/drawing/2014/main" id="{E2C327C0-9B95-41C0-A739-08FF5322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模拟 Contract 中途失败并验证整体回滚</a:t>
            </a:r>
          </a:p>
        </p:txBody>
      </p:sp>
      <p:sp>
        <p:nvSpPr>
          <p:cNvPr id="25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C3569A6A-8EBD-4955-BC07-CE146BFD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check-mark">
            <a:extLst xmlns:a="http://schemas.openxmlformats.org/drawingml/2006/main">
              <a:ext uri="{FF2B5EF4-FFF2-40B4-BE49-F238E27FC236}">
                <a16:creationId xmlns:a16="http://schemas.microsoft.com/office/drawing/2014/main" id="{722D8C63-DAA5-48DC-9C75-4FE56E28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9092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7" name="check-text-1-2">
            <a:extLst xmlns:a="http://schemas.openxmlformats.org/drawingml/2006/main">
              <a:ext uri="{FF2B5EF4-FFF2-40B4-BE49-F238E27FC236}">
                <a16:creationId xmlns:a16="http://schemas.microsoft.com/office/drawing/2014/main" id="{C8FAA546-3AB8-4E67-B528-0A748F23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045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重复回调不会重复扣减或生成任务</a:t>
            </a:r>
          </a:p>
        </p:txBody>
      </p:sp>
      <p:sp>
        <p:nvSpPr>
          <p:cNvPr id="28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1FCA295E-3E71-4A79-A790-4E424F8B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9" name="check-mark">
            <a:extLst xmlns:a="http://schemas.openxmlformats.org/drawingml/2006/main">
              <a:ext uri="{FF2B5EF4-FFF2-40B4-BE49-F238E27FC236}">
                <a16:creationId xmlns:a16="http://schemas.microsoft.com/office/drawing/2014/main" id="{652C2BB4-640E-4205-B954-DB995258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7675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30" name="check-text-1-3">
            <a:extLst xmlns:a="http://schemas.openxmlformats.org/drawingml/2006/main">
              <a:ext uri="{FF2B5EF4-FFF2-40B4-BE49-F238E27FC236}">
                <a16:creationId xmlns:a16="http://schemas.microsoft.com/office/drawing/2014/main" id="{99789E30-DC8B-4800-A0AF-39C23D15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672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成功与失败均可通过 traceId 还原链路</a:t>
            </a:r>
          </a:p>
        </p:txBody>
      </p:sp>
    </p:spTree>
    <p:extLst>
      <p:ext uri="{BB962C8B-B14F-4D97-AF65-F5344CB8AC3E}">
        <p14:creationId xmlns:p14="http://schemas.microsoft.com/office/powerpoint/2010/main" val="14900190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1C1479-0601-4D0A-BCFF-6FB8919D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复盘小测：把结论说出来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0B23DCC5-08BB-4B19-8EF0-8EFC94BF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74A979C3-D6AC-4713-89ED-C7B1A509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· Contract、事务与校验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4555E1B-D650-42C5-B5D0-DEDBE638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14 / 14</a:t>
            </a:r>
          </a:p>
        </p:txBody>
      </p:sp>
      <p:sp>
        <p:nvSpPr>
          <p:cNvPr id="5" name="quiz-questions">
            <a:extLst xmlns:a="http://schemas.openxmlformats.org/drawingml/2006/main">
              <a:ext uri="{FF2B5EF4-FFF2-40B4-BE49-F238E27FC236}">
                <a16:creationId xmlns:a16="http://schemas.microsoft.com/office/drawing/2014/main" id="{A207DDAE-6C04-4164-85CB-8ECDDB8D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68580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01  为什么 Contract 不应该暴露对方模块的整套 CRUD？
02  跨模块流程的事务通常由谁控制？
03  哪些规则不适合做成 Validator？
04  WCS 回调如何避免重复完成和重复扣减？</a:t>
            </a:r>
          </a:p>
        </p:txBody>
      </p:sp>
      <p:sp>
        <p:nvSpPr>
          <p:cNvPr id="6" name="next-panel">
            <a:extLst xmlns:a="http://schemas.openxmlformats.org/drawingml/2006/main">
              <a:ext uri="{FF2B5EF4-FFF2-40B4-BE49-F238E27FC236}">
                <a16:creationId xmlns:a16="http://schemas.microsoft.com/office/drawing/2014/main" id="{123CFC0D-F898-495B-899B-D8B0DEEE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24000"/>
            <a:ext cx="38862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7B5F4EA7-DBE2-4EFE-B593-A4F5F95A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</a:t>
            </a:r>
          </a:p>
        </p:txBody>
      </p:sp>
      <p:sp>
        <p:nvSpPr>
          <p:cNvPr id="8" name="next-body">
            <a:extLst xmlns:a="http://schemas.openxmlformats.org/drawingml/2006/main">
              <a:ext uri="{FF2B5EF4-FFF2-40B4-BE49-F238E27FC236}">
                <a16:creationId xmlns:a16="http://schemas.microsoft.com/office/drawing/2014/main" id="{45543D83-33F8-4478-B630-9F3CF463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238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下一讲进入配置化业务：Config、编码规则、单据状态和策略引擎。</a:t>
            </a:r>
          </a:p>
        </p:txBody>
      </p:sp>
      <p:sp>
        <p:nvSpPr>
          <p:cNvPr id="9" name="answer-hint">
            <a:extLst xmlns:a="http://schemas.openxmlformats.org/drawingml/2006/main">
              <a:ext uri="{FF2B5EF4-FFF2-40B4-BE49-F238E27FC236}">
                <a16:creationId xmlns:a16="http://schemas.microsoft.com/office/drawing/2014/main" id="{9A1ECA5B-1DC7-4C37-8207-A427EF5A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答案与延伸阅读已放入讲师备注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E7B873A1-4C16-4C50-8471-6E24BCDF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685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复杂流程只保留一个清晰的一致性边界。</a:t>
            </a:r>
          </a:p>
        </p:txBody>
      </p:sp>
    </p:spTree>
    <p:extLst>
      <p:ext uri="{BB962C8B-B14F-4D97-AF65-F5344CB8AC3E}">
        <p14:creationId xmlns:p14="http://schemas.microsoft.com/office/powerpoint/2010/main" val="365046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2026-07-10T03:40:05.1730000Z</dcterms:created>
  <dcterms:modified xsi:type="dcterms:W3CDTF">2026-07-10T03:40:05.1730000Z</dcterms:modified>
</coreProperties>
</file>