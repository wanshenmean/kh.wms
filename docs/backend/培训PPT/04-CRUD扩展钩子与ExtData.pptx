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595cbe743e4396" /><Relationship Type="http://schemas.openxmlformats.org/officeDocument/2006/relationships/extended-properties" Target="/docProps/app.xml" Id="R4570b88533474f7c" /><Relationship Type="http://schemas.openxmlformats.org/officeDocument/2006/relationships/officeDocument" Target="/ppt/presentation.xml" Id="Rdbaee780767044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dae59013c74281"/>
  </p:sldMasterIdLst>
  <p:notesMasterIdLst>
    <p:notesMasterId xmlns:r="http://schemas.openxmlformats.org/officeDocument/2006/relationships" r:id="Rbf38759b61284c55"/>
  </p:notesMasterIdLst>
  <p:sldIdLst>
    <p:sldId xmlns:r="http://schemas.openxmlformats.org/officeDocument/2006/relationships" id="256" r:id="R50ff5aef7a7a426f"/>
    <p:sldId xmlns:r="http://schemas.openxmlformats.org/officeDocument/2006/relationships" id="257" r:id="R74378ed3055249cf"/>
    <p:sldId xmlns:r="http://schemas.openxmlformats.org/officeDocument/2006/relationships" id="258" r:id="Ra0e56868be2c4cda"/>
    <p:sldId xmlns:r="http://schemas.openxmlformats.org/officeDocument/2006/relationships" id="259" r:id="R351f142a99fc4bdc"/>
    <p:sldId xmlns:r="http://schemas.openxmlformats.org/officeDocument/2006/relationships" id="260" r:id="Rf4253d000ed04cbc"/>
    <p:sldId xmlns:r="http://schemas.openxmlformats.org/officeDocument/2006/relationships" id="261" r:id="Rdecd7c4c074743ac"/>
    <p:sldId xmlns:r="http://schemas.openxmlformats.org/officeDocument/2006/relationships" id="262" r:id="R184ec3ba4ae845e0"/>
    <p:sldId xmlns:r="http://schemas.openxmlformats.org/officeDocument/2006/relationships" id="263" r:id="Rdc6fd68384244518"/>
    <p:sldId xmlns:r="http://schemas.openxmlformats.org/officeDocument/2006/relationships" id="264" r:id="Ref6c58d849914e04"/>
    <p:sldId xmlns:r="http://schemas.openxmlformats.org/officeDocument/2006/relationships" id="265" r:id="R7c6f0749c9d34b40"/>
    <p:sldId xmlns:r="http://schemas.openxmlformats.org/officeDocument/2006/relationships" id="266" r:id="R676fcfe207ec41e1"/>
    <p:sldId xmlns:r="http://schemas.openxmlformats.org/officeDocument/2006/relationships" id="267" r:id="R026abb65a9e94094"/>
    <p:sldId xmlns:r="http://schemas.openxmlformats.org/officeDocument/2006/relationships" id="268" r:id="R223999ad8aef4e0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15bfe8d88142b3" /><Relationship Type="http://schemas.openxmlformats.org/officeDocument/2006/relationships/slideMaster" Target="/ppt/slideMasters/slideMaster1.xml" Id="R29dae59013c74281" /><Relationship Type="http://schemas.openxmlformats.org/officeDocument/2006/relationships/notesMaster" Target="/ppt/notesMasters/notesMaster1.xml" Id="Rbf38759b61284c55" /><Relationship Type="http://schemas.openxmlformats.org/officeDocument/2006/relationships/presProps" Target="/ppt/presProps.xml" Id="R6d7324712fe84bf1" /><Relationship Type="http://schemas.openxmlformats.org/officeDocument/2006/relationships/tableStyles" Target="/ppt/tableStyles.xml" Id="Rfe06cb22f7254284" /><Relationship Type="http://schemas.openxmlformats.org/officeDocument/2006/relationships/slide" Target="/ppt/slides/slide1.xml" Id="R50ff5aef7a7a426f" /><Relationship Type="http://schemas.openxmlformats.org/officeDocument/2006/relationships/slide" Target="/ppt/slides/slide2.xml" Id="R74378ed3055249cf" /><Relationship Type="http://schemas.openxmlformats.org/officeDocument/2006/relationships/slide" Target="/ppt/slides/slide3.xml" Id="Ra0e56868be2c4cda" /><Relationship Type="http://schemas.openxmlformats.org/officeDocument/2006/relationships/slide" Target="/ppt/slides/slide4.xml" Id="R351f142a99fc4bdc" /><Relationship Type="http://schemas.openxmlformats.org/officeDocument/2006/relationships/slide" Target="/ppt/slides/slide5.xml" Id="Rf4253d000ed04cbc" /><Relationship Type="http://schemas.openxmlformats.org/officeDocument/2006/relationships/slide" Target="/ppt/slides/slide6.xml" Id="Rdecd7c4c074743ac" /><Relationship Type="http://schemas.openxmlformats.org/officeDocument/2006/relationships/slide" Target="/ppt/slides/slide7.xml" Id="R184ec3ba4ae845e0" /><Relationship Type="http://schemas.openxmlformats.org/officeDocument/2006/relationships/slide" Target="/ppt/slides/slide8.xml" Id="Rdc6fd68384244518" /><Relationship Type="http://schemas.openxmlformats.org/officeDocument/2006/relationships/slide" Target="/ppt/slides/slide9.xml" Id="Ref6c58d849914e04" /><Relationship Type="http://schemas.openxmlformats.org/officeDocument/2006/relationships/slide" Target="/ppt/slides/slide10.xml" Id="R7c6f0749c9d34b40" /><Relationship Type="http://schemas.openxmlformats.org/officeDocument/2006/relationships/slide" Target="/ppt/slides/slide11.xml" Id="R676fcfe207ec41e1" /><Relationship Type="http://schemas.openxmlformats.org/officeDocument/2006/relationships/slide" Target="/ppt/slides/slide12.xml" Id="R026abb65a9e94094" /><Relationship Type="http://schemas.openxmlformats.org/officeDocument/2006/relationships/slide" Target="/ppt/slides/slide13.xml" Id="R223999ad8aef4e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88865c790345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4a042782374d4b" /><Relationship Type="http://schemas.openxmlformats.org/officeDocument/2006/relationships/notesMaster" Target="/ppt/notesMasters/notesMaster1.xml" Id="Rc8f0021406174d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e17252d5f04b98" /><Relationship Type="http://schemas.openxmlformats.org/officeDocument/2006/relationships/notesMaster" Target="/ppt/notesMasters/notesMaster1.xml" Id="R85c185c6d53245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034181d7674350" /><Relationship Type="http://schemas.openxmlformats.org/officeDocument/2006/relationships/notesMaster" Target="/ppt/notesMasters/notesMaster1.xml" Id="R340e9509de494e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dc982d1dc14a10" /><Relationship Type="http://schemas.openxmlformats.org/officeDocument/2006/relationships/notesMaster" Target="/ppt/notesMasters/notesMaster1.xml" Id="R87400032fa9f4e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8afc2e76c448ef" /><Relationship Type="http://schemas.openxmlformats.org/officeDocument/2006/relationships/notesMaster" Target="/ppt/notesMasters/notesMaster1.xml" Id="R073664db1b0c4e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8e857a60244078" /><Relationship Type="http://schemas.openxmlformats.org/officeDocument/2006/relationships/notesMaster" Target="/ppt/notesMasters/notesMaster1.xml" Id="Rd7c900516e0a44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abe8ddb8fc4fd8" /><Relationship Type="http://schemas.openxmlformats.org/officeDocument/2006/relationships/notesMaster" Target="/ppt/notesMasters/notesMaster1.xml" Id="Rc888e08ca70843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3a19ea9aae4880" /><Relationship Type="http://schemas.openxmlformats.org/officeDocument/2006/relationships/notesMaster" Target="/ppt/notesMasters/notesMaster1.xml" Id="R2e74c386cac2406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0a8bdc76d54d09" /><Relationship Type="http://schemas.openxmlformats.org/officeDocument/2006/relationships/notesMaster" Target="/ppt/notesMasters/notesMaster1.xml" Id="Ra5f9229a9776499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c6ef1065c4e4a23" /><Relationship Type="http://schemas.openxmlformats.org/officeDocument/2006/relationships/notesMaster" Target="/ppt/notesMasters/notesMaster1.xml" Id="R94b026822059464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4d42237e9044b46" /><Relationship Type="http://schemas.openxmlformats.org/officeDocument/2006/relationships/notesMaster" Target="/ppt/notesMasters/notesMaster1.xml" Id="R33e88568a9be474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14ad1260a714490" /><Relationship Type="http://schemas.openxmlformats.org/officeDocument/2006/relationships/notesMaster" Target="/ppt/notesMasters/notesMaster1.xml" Id="Rda23f6441bef47a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2d02a89763b4f6f" /><Relationship Type="http://schemas.openxmlformats.org/officeDocument/2006/relationships/notesMaster" Target="/ppt/notesMasters/notesMaster1.xml" Id="Rcffd2f2f24ef4c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建议时长：2 分钟</a:t>
            </a:r>
          </a:p>
          <a:p xmlns:a="http://schemas.openxmlformats.org/drawingml/2006/main">
            <a:r>
              <a:t>讲师提示：开场先强调原则：业务差异通过钩子和正确基类接入，不复制 CrudService 或 Controller 的整段实现。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D:\Git\0.KH.WMS\docs\backend\后端开发指引V3教程\07-CRUD基类能力详解.md</a:t>
            </a:r>
          </a:p>
          <a:p xmlns:a="http://schemas.openxmlformats.org/drawingml/2006/main">
            <a:r>
              <a:t>- D:\Git\0.KH.WMS\docs\backend\后端底层概念\07-CRUD基类与扩展钩子.md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 分钟</a:t>
            </a:r>
          </a:p>
          <a:p xmlns:a="http://schemas.openxmlformats.org/drawingml/2006/main">
            <a:r>
              <a:t>讲师提示：说明主从表和 ExtData 都是常见扩展，但解决的问题完全不同。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D:\Git\0.KH.WMS\docs\backend\后端开发指引V3教程\07-CRUD基类能力详解.md</a:t>
            </a:r>
          </a:p>
          <a:p xmlns:a="http://schemas.openxmlformats.org/drawingml/2006/main">
            <a:r>
              <a:t>- D:\Git\0.KH.WMS\docs\backend\后端开发指引V3教程\09-CrudController与ExtDataCrudController怎么选.md</a:t>
            </a:r>
          </a:p>
          <a:p xmlns:a="http://schemas.openxmlformats.org/drawingml/2006/main">
            <a:r>
              <a:t>- D:\Git\0.KH.WMS\docs\backend\后端底层概念\08-ExtData动态字段.md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建议时长：4 分钟</a:t>
            </a:r>
          </a:p>
          <a:p xmlns:a="http://schemas.openxmlformats.org/drawingml/2006/main">
            <a:r>
              <a:t>讲师提示：用“新增前校验唯一性”示例，说明钩子比重写整个 Create Action 更小、更安全。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D:\Git\0.KH.WMS\docs\backend\后端底层概念\07-CRUD基类与扩展钩子.md</a:t>
            </a:r>
          </a:p>
          <a:p xmlns:a="http://schemas.openxmlformats.org/drawingml/2006/main">
            <a:r>
              <a:t>- D:\Git\0.KH.WMS\docs\backend\后端开发指引V3教程\07-CRUD基类能力详解.md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建议时长：6 分钟</a:t>
            </a:r>
          </a:p>
          <a:p xmlns:a="http://schemas.openxmlformats.org/drawingml/2006/main">
            <a:r>
              <a:t>讲师提示：钩子名称以仓库实际基类为准，培训重点是执行时机与责任。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D:\Git\0.KH.WMS\docs\backend\后端底层概念\07-CRUD基类与扩展钩子.md</a:t>
            </a:r>
          </a:p>
          <a:p xmlns:a="http://schemas.openxmlformats.org/drawingml/2006/main">
            <a:r>
              <a:t>- D:\Git\0.KH.WMS\docs\backend\后端开发指引V3教程\07-CRUD基类能力详解.md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 分钟</a:t>
            </a:r>
          </a:p>
          <a:p xmlns:a="http://schemas.openxmlformats.org/drawingml/2006/main">
            <a:r>
              <a:t>讲师提示：强调钩子仍运行在基类事务和异常语义之内。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D:\Git\0.KH.WMS\docs\backend\后端底层概念\07-CRUD基类与扩展钩子.md</a:t>
            </a:r>
          </a:p>
          <a:p xmlns:a="http://schemas.openxmlformats.org/drawingml/2006/main">
            <a:r>
              <a:t>- D:\Git\0.KH.WMS\docs\backend\后端底层概念\06-数据访问仓储与事务边界.md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建议时长：6 分钟</a:t>
            </a:r>
          </a:p>
          <a:p xmlns:a="http://schemas.openxmlformats.org/drawingml/2006/main">
            <a:r>
              <a:t>讲师提示：说明 ManyToOne 通常是引用关系，不由当前主表保存流程反向维护。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D:\Git\0.KH.WMS\docs\backend\后端开发指引V3教程\07-CRUD基类能力详解.md</a:t>
            </a:r>
          </a:p>
          <a:p xmlns:a="http://schemas.openxmlformats.org/drawingml/2006/main">
            <a:r>
              <a:t>- D:\Git\0.KH.WMS\docs\backend\后端底层概念\07-CRUD基类与扩展钩子.md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 分钟</a:t>
            </a:r>
          </a:p>
          <a:p xmlns:a="http://schemas.openxmlformats.org/drawingml/2006/main">
            <a:r>
              <a:t>讲师提示：本页让成员建立“先查基类能力”的习惯。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D:\Git\0.KH.WMS\docs\backend\后端开发指引V3教程\07-CRUD基类能力详解.md</a:t>
            </a:r>
          </a:p>
          <a:p xmlns:a="http://schemas.openxmlformats.org/drawingml/2006/main">
            <a:r>
              <a:t>- D:\Git\0.KH.WMS\docs\backend\后端底层概念\07-CRUD基类与扩展钩子.md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 分钟</a:t>
            </a:r>
          </a:p>
          <a:p xmlns:a="http://schemas.openxmlformats.org/drawingml/2006/main">
            <a:r>
              <a:t>讲师提示：把“是否有真正动态、可配置的展示字段”作为选择依据，而不是看到模板就复制。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D:\Git\0.KH.WMS\docs\backend\后端开发指引V3教程\09-CrudController与ExtDataCrudController怎么选.md</a:t>
            </a:r>
          </a:p>
          <a:p xmlns:a="http://schemas.openxmlformats.org/drawingml/2006/main">
            <a:r>
              <a:t>- D:\Git\0.KH.WMS\docs\backend\后端底层概念\08-ExtData动态字段.md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 分钟</a:t>
            </a:r>
          </a:p>
          <a:p xmlns:a="http://schemas.openxmlformats.org/drawingml/2006/main">
            <a:r>
              <a:t>讲师提示：ExtData 是扩展机制，不是逃避数据库建模的捷径。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D:\Git\0.KH.WMS\docs\backend\后端底层概念\08-ExtData动态字段.md</a:t>
            </a:r>
          </a:p>
          <a:p xmlns:a="http://schemas.openxmlformats.org/drawingml/2006/main">
            <a:r>
              <a:t>- D:\Git\0.KH.WMS\docs\backend\后端开发指引V3教程\B-开发检查清单.md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建议时长：6 分钟</a:t>
            </a:r>
          </a:p>
          <a:p xmlns:a="http://schemas.openxmlformats.org/drawingml/2006/main">
            <a:r>
              <a:t>讲师提示：强调 extDataRaw 是字符串协议；传对象、非法 JSON 或未启用请求缓冲都会失败。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D:\Git\0.KH.WMS\docs\backend\后端底层概念\08-ExtData动态字段.md</a:t>
            </a:r>
          </a:p>
          <a:p xmlns:a="http://schemas.openxmlformats.org/drawingml/2006/main">
            <a:r>
              <a:t>- D:\Git\0.KH.WMS\docs\backend\后端底层概念\17-JSON序列化与HTTP契约约定.md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 分钟</a:t>
            </a:r>
          </a:p>
          <a:p xmlns:a="http://schemas.openxmlformats.org/drawingml/2006/main">
            <a:r>
              <a:t>讲师提示：这是培训必须讲清的当前限制，避免前后端把差异当作接口 Bug。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D:\Git\0.KH.WMS\docs\backend\后端底层概念\08-ExtData动态字段.md</a:t>
            </a:r>
          </a:p>
          <a:p xmlns:a="http://schemas.openxmlformats.org/drawingml/2006/main">
            <a:r>
              <a:t>- D:\Git\0.KH.WMS\docs\backend\后端开发指引V3教程\C-常见坑.md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建议时长：6 分钟</a:t>
            </a:r>
          </a:p>
          <a:p xmlns:a="http://schemas.openxmlformats.org/drawingml/2006/main">
            <a:r>
              <a:t>讲师提示：让成员对照 B.2 清单逐项勾选；主从单据还要分别验证 Header 和 Line。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D:\Git\0.KH.WMS\docs\backend\后端开发指引V3教程\B-开发检查清单.md</a:t>
            </a:r>
          </a:p>
          <a:p xmlns:a="http://schemas.openxmlformats.org/drawingml/2006/main">
            <a:r>
              <a:t>- D:\Git\0.KH.WMS\docs\backend\后端底层概念\08-ExtData动态字段.md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建议时长：8 分钟（含答疑）</a:t>
            </a:r>
          </a:p>
          <a:p xmlns:a="http://schemas.openxmlformats.org/drawingml/2006/main">
            <a:r>
              <a:t>讲师提示：小测后让成员判断当前项目中的一个 ExtData 字段是否选型合理。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D:\Git\0.KH.WMS\docs\backend\后端开发指引V3教程\09-CrudController与ExtDataCrudController怎么选.md</a:t>
            </a:r>
          </a:p>
          <a:p xmlns:a="http://schemas.openxmlformats.org/drawingml/2006/main">
            <a:r>
              <a:t>- D:\Git\0.KH.WMS\docs\backend\后端开发指引V3教程\C-常见坑.md</a:t>
            </a:r>
          </a:p>
          <a:p xmlns:a="http://schemas.openxmlformats.org/drawingml/2006/main">
            <a:r>
              <a:t>- D:\Git\0.KH.WMS\docs\backend\后端底层概念\08-ExtData动态字段.md</a:t>
            </a:r>
          </a:p>
          <a:p xmlns:a="http://schemas.openxmlformats.org/drawingml/2006/main">
            <a:r>
              <a:t>小测参考答案：1. 会复制通用事务、响应和修复，导致后续升级分叉。2. Navigate、主外键和关系类型，并在同一事务识别新增更新删除。3. 参与核心查询、统计、状态、库存和强约束的字段。4. 不一定，当前实现只保证详情展开，分页由前端按配置处理。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3efe83ded64e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648c7f0ec74085" /><Relationship Type="http://schemas.openxmlformats.org/officeDocument/2006/relationships/slideLayout" Target="/ppt/slideLayouts/slideLayout1.xml" Id="R227f0b1b1cc545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7f0b1b1cc545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6f8a1de47a4bf5" /><Relationship Type="http://schemas.openxmlformats.org/officeDocument/2006/relationships/notesSlide" Target="/ppt/notesSlides/notesSlide1.xml" Id="R5a668e60ea9e4d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8ba882936411f" /><Relationship Type="http://schemas.openxmlformats.org/officeDocument/2006/relationships/notesSlide" Target="/ppt/notesSlides/notesSlide2.xml" Id="R1854854743e342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6d33b866e447b5" /><Relationship Type="http://schemas.openxmlformats.org/officeDocument/2006/relationships/notesSlide" Target="/ppt/notesSlides/notesSlide3.xml" Id="Rf5efaafd53444c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e165aa855f4b92" /><Relationship Type="http://schemas.openxmlformats.org/officeDocument/2006/relationships/notesSlide" Target="/ppt/notesSlides/notesSlide4.xml" Id="R163640a7521d4d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0677d5953400b" /><Relationship Type="http://schemas.openxmlformats.org/officeDocument/2006/relationships/notesSlide" Target="/ppt/notesSlides/notesSlide5.xml" Id="Rcd201936ae2748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a2908d0e5498d" /><Relationship Type="http://schemas.openxmlformats.org/officeDocument/2006/relationships/notesSlide" Target="/ppt/notesSlides/notesSlide6.xml" Id="R8844c011853d47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1f465193404b51" /><Relationship Type="http://schemas.openxmlformats.org/officeDocument/2006/relationships/notesSlide" Target="/ppt/notesSlides/notesSlide7.xml" Id="R9f8f7a25730449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c5461fccfb4bcb" /><Relationship Type="http://schemas.openxmlformats.org/officeDocument/2006/relationships/notesSlide" Target="/ppt/notesSlides/notesSlide8.xml" Id="Rb01f0241478144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1df44c48af4174" /><Relationship Type="http://schemas.openxmlformats.org/officeDocument/2006/relationships/notesSlide" Target="/ppt/notesSlides/notesSlide9.xml" Id="R93212c5998e046e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b39f663f9047ec" /><Relationship Type="http://schemas.openxmlformats.org/officeDocument/2006/relationships/notesSlide" Target="/ppt/notesSlides/notesSlide10.xml" Id="Reea06adebb4942c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ec7249fb534603" /><Relationship Type="http://schemas.openxmlformats.org/officeDocument/2006/relationships/notesSlide" Target="/ppt/notesSlides/notesSlide11.xml" Id="R8cb51d8d86fc438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d06422f8d486b" /><Relationship Type="http://schemas.openxmlformats.org/officeDocument/2006/relationships/notesSlide" Target="/ppt/notesSlides/notesSlide12.xml" Id="R2ac22dd8a959456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9551eb16241f7" /><Relationship Type="http://schemas.openxmlformats.org/officeDocument/2006/relationships/notesSlide" Target="/ppt/notesSlides/notesSlide13.xml" Id="R798b41636c9f47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ries-label">
            <a:extLst xmlns:a="http://schemas.openxmlformats.org/drawingml/2006/main">
              <a:ext uri="{FF2B5EF4-FFF2-40B4-BE49-F238E27FC236}">
                <a16:creationId xmlns:a16="http://schemas.microsoft.com/office/drawing/2014/main" id="{009C3D35-903C-4390-80A6-15F24DAD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47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KH.WMS 后端培训系列  ·  04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570B6D6F-7E84-4A6D-9318-8B7951C5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12776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CRUD 扩展钩子与 ExtData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3A7B5FED-A955-4065-A451-9C340743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76750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3E5AA4B0-6FCF-4B94-878D-1383ACD0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0125"/>
            <a:ext cx="723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在不复制框架代码的前提下，扩展主从表、状态和动态字段</a:t>
            </a:r>
          </a:p>
        </p:txBody>
      </p:sp>
      <p:sp>
        <p:nvSpPr>
          <p:cNvPr id="5" name="audience">
            <a:extLst xmlns:a="http://schemas.openxmlformats.org/drawingml/2006/main">
              <a:ext uri="{FF2B5EF4-FFF2-40B4-BE49-F238E27FC236}">
                <a16:creationId xmlns:a16="http://schemas.microsoft.com/office/drawing/2014/main" id="{B998D7A4-6D8A-4019-95F3-BECC5851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面向：后端新人及已有项目经验成员</a:t>
            </a:r>
          </a:p>
        </p:txBody>
      </p:sp>
    </p:spTree>
    <p:extLst>
      <p:ext uri="{BB962C8B-B14F-4D97-AF65-F5344CB8AC3E}">
        <p14:creationId xmlns:p14="http://schemas.microsoft.com/office/powerpoint/2010/main" val="12923309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9B5A8BF-A3B6-48EA-8932-3566D9B6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本次培训讲哪些知识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56B90AC6-6433-4A91-A281-6F3F472D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D0A48D2D-01A1-4DF4-8428-ABF8C5D5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04 · CRUD 扩展与 ExtData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02C9538-3588-4A79-9253-9548DE8E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13</a:t>
            </a:r>
          </a:p>
        </p:txBody>
      </p:sp>
      <p:sp>
        <p:nvSpPr>
          <p:cNvPr id="5" name="scope-band-0">
            <a:extLst xmlns:a="http://schemas.openxmlformats.org/drawingml/2006/main">
              <a:ext uri="{FF2B5EF4-FFF2-40B4-BE49-F238E27FC236}">
                <a16:creationId xmlns:a16="http://schemas.microsoft.com/office/drawing/2014/main" id="{EEB4217E-C9AB-442C-BA36-9B527117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3581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6" name="scope-label-0">
            <a:extLst xmlns:a="http://schemas.openxmlformats.org/drawingml/2006/main">
              <a:ext uri="{FF2B5EF4-FFF2-40B4-BE49-F238E27FC236}">
                <a16:creationId xmlns:a16="http://schemas.microsoft.com/office/drawing/2014/main" id="{F2409A37-B52A-4CA8-B032-F127A807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00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知识范围</a:t>
            </a:r>
          </a:p>
        </p:txBody>
      </p:sp>
      <p:sp>
        <p:nvSpPr>
          <p:cNvPr id="7" name="scope-body-0">
            <a:extLst xmlns:a="http://schemas.openxmlformats.org/drawingml/2006/main">
              <a:ext uri="{FF2B5EF4-FFF2-40B4-BE49-F238E27FC236}">
                <a16:creationId xmlns:a16="http://schemas.microsoft.com/office/drawing/2014/main" id="{97CB892E-6FAA-4AF9-85BA-C8E5A194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35052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• 查询、写入、删除等 CRUD 扩展钩子
• 主从表、启停、导入导出能力
• CrudController 与 ExtDataCrudController 的选择
• ExtData 配置、保存、回显和使用限制</a:t>
            </a:r>
          </a:p>
        </p:txBody>
      </p:sp>
      <p:sp>
        <p:nvSpPr>
          <p:cNvPr id="8" name="scope-band-1">
            <a:extLst xmlns:a="http://schemas.openxmlformats.org/drawingml/2006/main">
              <a:ext uri="{FF2B5EF4-FFF2-40B4-BE49-F238E27FC236}">
                <a16:creationId xmlns:a16="http://schemas.microsoft.com/office/drawing/2014/main" id="{625B2A56-B683-43E8-A143-B6982EC8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66850"/>
            <a:ext cx="3581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9" name="scope-label-1">
            <a:extLst xmlns:a="http://schemas.openxmlformats.org/drawingml/2006/main">
              <a:ext uri="{FF2B5EF4-FFF2-40B4-BE49-F238E27FC236}">
                <a16:creationId xmlns:a16="http://schemas.microsoft.com/office/drawing/2014/main" id="{0A46F248-265A-4905-B6B9-42DCD1E6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19250"/>
            <a:ext cx="3200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前置知识</a:t>
            </a:r>
          </a:p>
        </p:txBody>
      </p:sp>
      <p:sp>
        <p:nvSpPr>
          <p:cNvPr id="10" name="scope-body-1">
            <a:extLst xmlns:a="http://schemas.openxmlformats.org/drawingml/2006/main">
              <a:ext uri="{FF2B5EF4-FFF2-40B4-BE49-F238E27FC236}">
                <a16:creationId xmlns:a16="http://schemas.microsoft.com/office/drawing/2014/main" id="{B2F3752A-DDF8-477B-BAA9-9B39EB3C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35052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• 能独立新增普通 CRUD
• 理解基类执行链和事务基础
• 了解 JSON 字符串和前后端字段协议</a:t>
            </a:r>
          </a:p>
        </p:txBody>
      </p:sp>
      <p:sp>
        <p:nvSpPr>
          <p:cNvPr id="11" name="scope-band-2">
            <a:extLst xmlns:a="http://schemas.openxmlformats.org/drawingml/2006/main">
              <a:ext uri="{FF2B5EF4-FFF2-40B4-BE49-F238E27FC236}">
                <a16:creationId xmlns:a16="http://schemas.microsoft.com/office/drawing/2014/main" id="{4C803A53-50CF-43E5-8F47-1EA50BB0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66850"/>
            <a:ext cx="3581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1"/>
          </a:solidFill>
          <a:ln xmlns:a="http://schemas.openxmlformats.org/drawingml/2006/main" w="0">
            <a:solidFill>
              <a:srgbClr val="EEF7F1"/>
            </a:solidFill>
            <a:prstDash val="solid"/>
          </a:ln>
        </p:spPr>
      </p:sp>
      <p:sp>
        <p:nvSpPr>
          <p:cNvPr id="12" name="scope-label-2">
            <a:extLst xmlns:a="http://schemas.openxmlformats.org/drawingml/2006/main">
              <a:ext uri="{FF2B5EF4-FFF2-40B4-BE49-F238E27FC236}">
                <a16:creationId xmlns:a16="http://schemas.microsoft.com/office/drawing/2014/main" id="{5AF0B335-186D-4F38-A411-C9548E47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19250"/>
            <a:ext cx="3200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学完应会</a:t>
            </a:r>
          </a:p>
        </p:txBody>
      </p:sp>
      <p:sp>
        <p:nvSpPr>
          <p:cNvPr id="13" name="scope-body-2">
            <a:extLst xmlns:a="http://schemas.openxmlformats.org/drawingml/2006/main">
              <a:ext uri="{FF2B5EF4-FFF2-40B4-BE49-F238E27FC236}">
                <a16:creationId xmlns:a16="http://schemas.microsoft.com/office/drawing/2014/main" id="{2057CB49-655E-4449-ACF5-3CAF12EC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5052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• 能选择正确钩子扩展业务
• 能配置主从关系并理解保存边界
• 能判断是否真的需要 ExtData
• 能排查动态字段保存和回显问题</a:t>
            </a:r>
          </a:p>
        </p:txBody>
      </p:sp>
    </p:spTree>
    <p:extLst>
      <p:ext uri="{BB962C8B-B14F-4D97-AF65-F5344CB8AC3E}">
        <p14:creationId xmlns:p14="http://schemas.microsoft.com/office/powerpoint/2010/main" val="4501762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F0A399-50B2-4146-AFF6-377369BF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扩展 CRUD 的原则：重写钩子，不复制基类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7422FF2D-BE58-4B44-8E05-8B9F2FE9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146BCF50-5D6F-4D20-AED1-D88705FB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04 · CRUD 扩展与 ExtData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6CEAC1D-5926-4E0D-B521-BE0BD72A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13</a:t>
            </a:r>
          </a:p>
        </p:txBody>
      </p:sp>
      <p:sp>
        <p:nvSpPr>
          <p:cNvPr id="5" name="statement">
            <a:extLst xmlns:a="http://schemas.openxmlformats.org/drawingml/2006/main">
              <a:ext uri="{FF2B5EF4-FFF2-40B4-BE49-F238E27FC236}">
                <a16:creationId xmlns:a16="http://schemas.microsoft.com/office/drawing/2014/main" id="{9CF0A12D-48CC-4438-9301-FA834FEA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066800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通用执行链归框架，业务差异归 Service 钩子。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3F5A6F96-6FB2-4118-98C6-28064F73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statement-index-0">
            <a:extLst xmlns:a="http://schemas.openxmlformats.org/drawingml/2006/main">
              <a:ext uri="{FF2B5EF4-FFF2-40B4-BE49-F238E27FC236}">
                <a16:creationId xmlns:a16="http://schemas.microsoft.com/office/drawing/2014/main" id="{73FFB2D8-6D28-4CDF-9460-A826F670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49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8" name="statement-point-0">
            <a:extLst xmlns:a="http://schemas.openxmlformats.org/drawingml/2006/main">
              <a:ext uri="{FF2B5EF4-FFF2-40B4-BE49-F238E27FC236}">
                <a16:creationId xmlns:a16="http://schemas.microsoft.com/office/drawing/2014/main" id="{F873FADA-CF7E-42C4-92A4-A107D5EC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25622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保留统一事务与响应</a:t>
            </a:r>
          </a:p>
        </p:txBody>
      </p:sp>
      <p:sp>
        <p:nvSpPr>
          <p:cNvPr id="9" name="statement-index-1">
            <a:extLst xmlns:a="http://schemas.openxmlformats.org/drawingml/2006/main">
              <a:ext uri="{FF2B5EF4-FFF2-40B4-BE49-F238E27FC236}">
                <a16:creationId xmlns:a16="http://schemas.microsoft.com/office/drawing/2014/main" id="{618F0464-B63A-4E95-9110-76E883E8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267200"/>
            <a:ext cx="49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0" name="statement-point-1">
            <a:extLst xmlns:a="http://schemas.openxmlformats.org/drawingml/2006/main">
              <a:ext uri="{FF2B5EF4-FFF2-40B4-BE49-F238E27FC236}">
                <a16:creationId xmlns:a16="http://schemas.microsoft.com/office/drawing/2014/main" id="{641A4EAE-2CA0-4F8A-97D6-F873C411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762500"/>
            <a:ext cx="25622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只改当前业务需要的步骤</a:t>
            </a:r>
          </a:p>
        </p:txBody>
      </p:sp>
      <p:sp>
        <p:nvSpPr>
          <p:cNvPr id="11" name="statement-index-2">
            <a:extLst xmlns:a="http://schemas.openxmlformats.org/drawingml/2006/main">
              <a:ext uri="{FF2B5EF4-FFF2-40B4-BE49-F238E27FC236}">
                <a16:creationId xmlns:a16="http://schemas.microsoft.com/office/drawing/2014/main" id="{1DDA8C64-54FA-4768-A6E5-FA123614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67200"/>
            <a:ext cx="49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2" name="statement-point-2">
            <a:extLst xmlns:a="http://schemas.openxmlformats.org/drawingml/2006/main">
              <a:ext uri="{FF2B5EF4-FFF2-40B4-BE49-F238E27FC236}">
                <a16:creationId xmlns:a16="http://schemas.microsoft.com/office/drawing/2014/main" id="{AE07BA2A-55F0-436B-88E2-A4BA0BF5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62500"/>
            <a:ext cx="25622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升级基类时不丢失通用修复</a:t>
            </a:r>
          </a:p>
        </p:txBody>
      </p:sp>
      <p:sp>
        <p:nvSpPr>
          <p:cNvPr id="13" name="statement-index-3">
            <a:extLst xmlns:a="http://schemas.openxmlformats.org/drawingml/2006/main">
              <a:ext uri="{FF2B5EF4-FFF2-40B4-BE49-F238E27FC236}">
                <a16:creationId xmlns:a16="http://schemas.microsoft.com/office/drawing/2014/main" id="{3BB57B2B-808D-4926-9C83-1D286C46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267200"/>
            <a:ext cx="49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14" name="statement-point-3">
            <a:extLst xmlns:a="http://schemas.openxmlformats.org/drawingml/2006/main">
              <a:ext uri="{FF2B5EF4-FFF2-40B4-BE49-F238E27FC236}">
                <a16:creationId xmlns:a16="http://schemas.microsoft.com/office/drawing/2014/main" id="{79EAA2EB-9A0B-4383-B140-7D29173F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762500"/>
            <a:ext cx="25622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排错时能明确是框架还是业务钩子</a:t>
            </a:r>
          </a:p>
        </p:txBody>
      </p:sp>
    </p:spTree>
    <p:extLst>
      <p:ext uri="{BB962C8B-B14F-4D97-AF65-F5344CB8AC3E}">
        <p14:creationId xmlns:p14="http://schemas.microsoft.com/office/powerpoint/2010/main" val="8630780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3DE6511-241C-488E-BA82-847A2BB9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查询、写入和删除都有明确扩展点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03E7C8CD-401A-4A57-895F-BECFFF9A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54DBEFD6-0D70-4B36-B65E-FA41909A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04 · CRUD 扩展与 ExtData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988C9FB-FD76-453C-88F4-C45AA269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13</a:t>
            </a:r>
          </a:p>
        </p:txBody>
      </p:sp>
      <p:sp>
        <p:nvSpPr>
          <p:cNvPr id="5" name="matrix-header-band-0">
            <a:extLst xmlns:a="http://schemas.openxmlformats.org/drawingml/2006/main">
              <a:ext uri="{FF2B5EF4-FFF2-40B4-BE49-F238E27FC236}">
                <a16:creationId xmlns:a16="http://schemas.microsoft.com/office/drawing/2014/main" id="{A3EA32F7-6BAF-4312-A333-CD89F514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2381250" cy="69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matrix-header-0">
            <a:extLst xmlns:a="http://schemas.openxmlformats.org/drawingml/2006/main">
              <a:ext uri="{FF2B5EF4-FFF2-40B4-BE49-F238E27FC236}">
                <a16:creationId xmlns:a16="http://schemas.microsoft.com/office/drawing/2014/main" id="{8A9A28A9-ADBB-4873-99DC-9ED8BB9A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28775"/>
            <a:ext cx="2152650" cy="46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阶段</a:t>
            </a:r>
          </a:p>
        </p:txBody>
      </p:sp>
      <p:sp>
        <p:nvSpPr>
          <p:cNvPr id="7" name="matrix-header-band-1">
            <a:extLst xmlns:a="http://schemas.openxmlformats.org/drawingml/2006/main">
              <a:ext uri="{FF2B5EF4-FFF2-40B4-BE49-F238E27FC236}">
                <a16:creationId xmlns:a16="http://schemas.microsoft.com/office/drawing/2014/main" id="{62FF6514-F0B1-4C6D-8F11-D7919DB7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476375"/>
            <a:ext cx="4572000" cy="69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matrix-header-1">
            <a:extLst xmlns:a="http://schemas.openxmlformats.org/drawingml/2006/main">
              <a:ext uri="{FF2B5EF4-FFF2-40B4-BE49-F238E27FC236}">
                <a16:creationId xmlns:a16="http://schemas.microsoft.com/office/drawing/2014/main" id="{97810819-2B91-4D4E-AC58-AB59E2BE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28775"/>
            <a:ext cx="4343400" cy="46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适合放什么</a:t>
            </a:r>
          </a:p>
        </p:txBody>
      </p:sp>
      <p:sp>
        <p:nvSpPr>
          <p:cNvPr id="9" name="matrix-header-band-2">
            <a:extLst xmlns:a="http://schemas.openxmlformats.org/drawingml/2006/main">
              <a:ext uri="{FF2B5EF4-FFF2-40B4-BE49-F238E27FC236}">
                <a16:creationId xmlns:a16="http://schemas.microsoft.com/office/drawing/2014/main" id="{04A7E335-D84E-4CD1-9CD7-FBF14925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476375"/>
            <a:ext cx="4324350" cy="69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matrix-header-2">
            <a:extLst xmlns:a="http://schemas.openxmlformats.org/drawingml/2006/main">
              <a:ext uri="{FF2B5EF4-FFF2-40B4-BE49-F238E27FC236}">
                <a16:creationId xmlns:a16="http://schemas.microsoft.com/office/drawing/2014/main" id="{F3E279A1-B744-4AE8-809F-0ED06F0E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28775"/>
            <a:ext cx="4095750" cy="46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不适合放什么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4F921969-B90D-4327-9315-0CF49C56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63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matrix-cell-0-0">
            <a:extLst xmlns:a="http://schemas.openxmlformats.org/drawingml/2006/main">
              <a:ext uri="{FF2B5EF4-FFF2-40B4-BE49-F238E27FC236}">
                <a16:creationId xmlns:a16="http://schemas.microsoft.com/office/drawing/2014/main" id="{0D02A806-94F0-4542-9C18-1B85B92C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9175"/>
            <a:ext cx="215265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查询前 / 查询构建</a:t>
            </a:r>
          </a:p>
        </p:txBody>
      </p:sp>
      <p:sp>
        <p:nvSpPr>
          <p:cNvPr id="13" name="matrix-cell-0-1">
            <a:extLst xmlns:a="http://schemas.openxmlformats.org/drawingml/2006/main">
              <a:ext uri="{FF2B5EF4-FFF2-40B4-BE49-F238E27FC236}">
                <a16:creationId xmlns:a16="http://schemas.microsoft.com/office/drawing/2014/main" id="{76DF2EAF-EB68-4D26-94E3-845B7420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89175"/>
            <a:ext cx="434340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默认过滤、包含导航、关联查询</a:t>
            </a:r>
          </a:p>
        </p:txBody>
      </p:sp>
      <p:sp>
        <p:nvSpPr>
          <p:cNvPr id="14" name="matrix-cell-0-2">
            <a:extLst xmlns:a="http://schemas.openxmlformats.org/drawingml/2006/main">
              <a:ext uri="{FF2B5EF4-FFF2-40B4-BE49-F238E27FC236}">
                <a16:creationId xmlns:a16="http://schemas.microsoft.com/office/drawing/2014/main" id="{81E35A1B-5F4A-44B1-A196-987B8311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89175"/>
            <a:ext cx="409575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在 Controller 拼接复杂数据库逻辑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95FC4AB8-4568-4DB2-A40A-91CAC68A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6" name="matrix-cell-1-0">
            <a:extLst xmlns:a="http://schemas.openxmlformats.org/drawingml/2006/main">
              <a:ext uri="{FF2B5EF4-FFF2-40B4-BE49-F238E27FC236}">
                <a16:creationId xmlns:a16="http://schemas.microsoft.com/office/drawing/2014/main" id="{6076EADD-3B28-42B1-B158-6401BAD9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87675"/>
            <a:ext cx="215265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新增前</a:t>
            </a:r>
          </a:p>
        </p:txBody>
      </p:sp>
      <p:sp>
        <p:nvSpPr>
          <p:cNvPr id="17" name="matrix-cell-1-1">
            <a:extLst xmlns:a="http://schemas.openxmlformats.org/drawingml/2006/main">
              <a:ext uri="{FF2B5EF4-FFF2-40B4-BE49-F238E27FC236}">
                <a16:creationId xmlns:a16="http://schemas.microsoft.com/office/drawing/2014/main" id="{2969D53E-4B99-4001-940C-2131FD34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87675"/>
            <a:ext cx="434340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唯一性、默认值、业务前置校验</a:t>
            </a:r>
          </a:p>
        </p:txBody>
      </p:sp>
      <p:sp>
        <p:nvSpPr>
          <p:cNvPr id="18" name="matrix-cell-1-2">
            <a:extLst xmlns:a="http://schemas.openxmlformats.org/drawingml/2006/main">
              <a:ext uri="{FF2B5EF4-FFF2-40B4-BE49-F238E27FC236}">
                <a16:creationId xmlns:a16="http://schemas.microsoft.com/office/drawing/2014/main" id="{23418FA6-ACD0-4C3B-9A40-A43D7621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87675"/>
            <a:ext cx="409575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发送外部通知等不可回滚副作用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EA63F32F-2E14-47CF-BC53-9C3DE92E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0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0" name="matrix-cell-2-0">
            <a:extLst xmlns:a="http://schemas.openxmlformats.org/drawingml/2006/main">
              <a:ext uri="{FF2B5EF4-FFF2-40B4-BE49-F238E27FC236}">
                <a16:creationId xmlns:a16="http://schemas.microsoft.com/office/drawing/2014/main" id="{3BFFDBE7-F2DC-4362-81F6-5D532E79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86175"/>
            <a:ext cx="215265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新增后</a:t>
            </a:r>
          </a:p>
        </p:txBody>
      </p:sp>
      <p:sp>
        <p:nvSpPr>
          <p:cNvPr id="21" name="matrix-cell-2-1">
            <a:extLst xmlns:a="http://schemas.openxmlformats.org/drawingml/2006/main">
              <a:ext uri="{FF2B5EF4-FFF2-40B4-BE49-F238E27FC236}">
                <a16:creationId xmlns:a16="http://schemas.microsoft.com/office/drawing/2014/main" id="{9BBECF9A-B240-46F5-88A6-51926370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86175"/>
            <a:ext cx="434340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依赖主实体 ID 的后置写入</a:t>
            </a:r>
          </a:p>
        </p:txBody>
      </p:sp>
      <p:sp>
        <p:nvSpPr>
          <p:cNvPr id="22" name="matrix-cell-2-2">
            <a:extLst xmlns:a="http://schemas.openxmlformats.org/drawingml/2006/main">
              <a:ext uri="{FF2B5EF4-FFF2-40B4-BE49-F238E27FC236}">
                <a16:creationId xmlns:a16="http://schemas.microsoft.com/office/drawing/2014/main" id="{B50C682E-9D11-4948-B0BC-F88A1875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86175"/>
            <a:ext cx="409575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绕过事务直接提交独立连接</a:t>
            </a:r>
          </a:p>
        </p:txBody>
      </p:sp>
      <p:sp>
        <p:nvSpPr>
          <p:cNvPr id="23" name="rule">
            <a:extLst xmlns:a="http://schemas.openxmlformats.org/drawingml/2006/main">
              <a:ext uri="{FF2B5EF4-FFF2-40B4-BE49-F238E27FC236}">
                <a16:creationId xmlns:a16="http://schemas.microsoft.com/office/drawing/2014/main" id="{8105AC5A-777F-4C36-9A1F-8A8A5051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4" name="matrix-cell-3-0">
            <a:extLst xmlns:a="http://schemas.openxmlformats.org/drawingml/2006/main">
              <a:ext uri="{FF2B5EF4-FFF2-40B4-BE49-F238E27FC236}">
                <a16:creationId xmlns:a16="http://schemas.microsoft.com/office/drawing/2014/main" id="{152E453F-94C3-431A-8DA4-E431F5FF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4675"/>
            <a:ext cx="215265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更新前 / 后</a:t>
            </a:r>
          </a:p>
        </p:txBody>
      </p:sp>
      <p:sp>
        <p:nvSpPr>
          <p:cNvPr id="25" name="matrix-cell-3-1">
            <a:extLst xmlns:a="http://schemas.openxmlformats.org/drawingml/2006/main">
              <a:ext uri="{FF2B5EF4-FFF2-40B4-BE49-F238E27FC236}">
                <a16:creationId xmlns:a16="http://schemas.microsoft.com/office/drawing/2014/main" id="{50F3A209-E537-41F0-A19F-0C77C7A0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84675"/>
            <a:ext cx="434340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状态校验、字段保护、关联维护</a:t>
            </a:r>
          </a:p>
        </p:txBody>
      </p:sp>
      <p:sp>
        <p:nvSpPr>
          <p:cNvPr id="26" name="matrix-cell-3-2">
            <a:extLst xmlns:a="http://schemas.openxmlformats.org/drawingml/2006/main">
              <a:ext uri="{FF2B5EF4-FFF2-40B4-BE49-F238E27FC236}">
                <a16:creationId xmlns:a16="http://schemas.microsoft.com/office/drawing/2014/main" id="{DD638EFE-B458-4A4E-9E4C-E9907857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84675"/>
            <a:ext cx="409575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整段复制基类更新流程</a:t>
            </a:r>
          </a:p>
        </p:txBody>
      </p:sp>
      <p:sp>
        <p:nvSpPr>
          <p:cNvPr id="27" name="rule">
            <a:extLst xmlns:a="http://schemas.openxmlformats.org/drawingml/2006/main">
              <a:ext uri="{FF2B5EF4-FFF2-40B4-BE49-F238E27FC236}">
                <a16:creationId xmlns:a16="http://schemas.microsoft.com/office/drawing/2014/main" id="{686DA950-5EB4-4338-80A2-18B89D0B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8" name="matrix-cell-4-0">
            <a:extLst xmlns:a="http://schemas.openxmlformats.org/drawingml/2006/main">
              <a:ext uri="{FF2B5EF4-FFF2-40B4-BE49-F238E27FC236}">
                <a16:creationId xmlns:a16="http://schemas.microsoft.com/office/drawing/2014/main" id="{358BAF19-25E6-48D6-8972-14394F26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83175"/>
            <a:ext cx="215265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删除前 / 后</a:t>
            </a:r>
          </a:p>
        </p:txBody>
      </p:sp>
      <p:sp>
        <p:nvSpPr>
          <p:cNvPr id="29" name="matrix-cell-4-1">
            <a:extLst xmlns:a="http://schemas.openxmlformats.org/drawingml/2006/main">
              <a:ext uri="{FF2B5EF4-FFF2-40B4-BE49-F238E27FC236}">
                <a16:creationId xmlns:a16="http://schemas.microsoft.com/office/drawing/2014/main" id="{B282A550-DA82-4375-AE3D-9C03BDEA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83175"/>
            <a:ext cx="434340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引用检查、关联清理、审计动作</a:t>
            </a:r>
          </a:p>
        </p:txBody>
      </p:sp>
      <p:sp>
        <p:nvSpPr>
          <p:cNvPr id="30" name="matrix-cell-4-2">
            <a:extLst xmlns:a="http://schemas.openxmlformats.org/drawingml/2006/main">
              <a:ext uri="{FF2B5EF4-FFF2-40B4-BE49-F238E27FC236}">
                <a16:creationId xmlns:a16="http://schemas.microsoft.com/office/drawing/2014/main" id="{EBC7053C-A663-4377-8D7D-4F5EA606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83175"/>
            <a:ext cx="409575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在 Controller 手写批量删除事务</a:t>
            </a:r>
          </a:p>
        </p:txBody>
      </p:sp>
    </p:spTree>
    <p:extLst>
      <p:ext uri="{BB962C8B-B14F-4D97-AF65-F5344CB8AC3E}">
        <p14:creationId xmlns:p14="http://schemas.microsoft.com/office/powerpoint/2010/main" val="14694814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87492D9-9F75-48AD-AB37-0241BACF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钩子里做业务差异，不接管通用执行链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FA1B18DE-BCBD-499A-9717-5E6EB9D2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D4EB5337-7797-4B2E-BEC0-260EA90C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04 · CRUD 扩展与 ExtData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CC716C4-BE55-4676-80AB-3ADD32DD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05 / 13</a:t>
            </a:r>
          </a:p>
        </p:txBody>
      </p:sp>
      <p:sp>
        <p:nvSpPr>
          <p:cNvPr id="5" name="compare-band-0">
            <a:extLst xmlns:a="http://schemas.openxmlformats.org/drawingml/2006/main">
              <a:ext uri="{FF2B5EF4-FFF2-40B4-BE49-F238E27FC236}">
                <a16:creationId xmlns:a16="http://schemas.microsoft.com/office/drawing/2014/main" id="{13DBB2D7-D602-4A6C-B008-5753F7A2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533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6" name="compare-title-0">
            <a:extLst xmlns:a="http://schemas.openxmlformats.org/drawingml/2006/main">
              <a:ext uri="{FF2B5EF4-FFF2-40B4-BE49-F238E27FC236}">
                <a16:creationId xmlns:a16="http://schemas.microsoft.com/office/drawing/2014/main" id="{26A1D472-A9A6-4B73-B7CF-6FB98733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4914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7D4A"/>
                </a:solidFill>
                <a:latin typeface="Microsoft YaHei"/>
                <a:ea typeface="Microsoft YaHei"/>
                <a:cs typeface="Microsoft YaHei"/>
              </a:defRPr>
            </a:pPr>
            <a:r>
              <a:t>推荐</a:t>
            </a:r>
          </a:p>
        </p:txBody>
      </p:sp>
      <p:sp>
        <p:nvSpPr>
          <p:cNvPr id="7" name="compare-body-0">
            <a:extLst xmlns:a="http://schemas.openxmlformats.org/drawingml/2006/main">
              <a:ext uri="{FF2B5EF4-FFF2-40B4-BE49-F238E27FC236}">
                <a16:creationId xmlns:a16="http://schemas.microsoft.com/office/drawing/2014/main" id="{10171B71-D161-456B-AF7B-7698C7D4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43200"/>
            <a:ext cx="52578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• 校验当前业务唯一性和状态
• 设置默认值、审计说明或衍生字段
• 扩展当前实体查询
• 使用同一 UnitOfWork 写关联数据</a:t>
            </a:r>
          </a:p>
        </p:txBody>
      </p:sp>
      <p:sp>
        <p:nvSpPr>
          <p:cNvPr id="8" name="compare-band-1">
            <a:extLst xmlns:a="http://schemas.openxmlformats.org/drawingml/2006/main">
              <a:ext uri="{FF2B5EF4-FFF2-40B4-BE49-F238E27FC236}">
                <a16:creationId xmlns:a16="http://schemas.microsoft.com/office/drawing/2014/main" id="{8D19C429-9E95-4070-8816-9255E441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62100"/>
            <a:ext cx="533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9" name="compare-title-1">
            <a:extLst xmlns:a="http://schemas.openxmlformats.org/drawingml/2006/main">
              <a:ext uri="{FF2B5EF4-FFF2-40B4-BE49-F238E27FC236}">
                <a16:creationId xmlns:a16="http://schemas.microsoft.com/office/drawing/2014/main" id="{12F86D53-8886-4414-BB79-88E83201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90700"/>
            <a:ext cx="4914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t>避免</a:t>
            </a:r>
          </a:p>
        </p:txBody>
      </p:sp>
      <p:sp>
        <p:nvSpPr>
          <p:cNvPr id="10" name="compare-body-1">
            <a:extLst xmlns:a="http://schemas.openxmlformats.org/drawingml/2006/main">
              <a:ext uri="{FF2B5EF4-FFF2-40B4-BE49-F238E27FC236}">
                <a16:creationId xmlns:a16="http://schemas.microsoft.com/office/drawing/2014/main" id="{7C753AD6-157C-4928-9C55-7A1AE804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43200"/>
            <a:ext cx="52578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• 手动复制分页、更新、删除全过程
• 再次开启与外层重叠的事务
• 吞异常后返回匿名对象
• 在钩子里调用不可回滚外部副作用</a:t>
            </a:r>
          </a:p>
        </p:txBody>
      </p:sp>
    </p:spTree>
    <p:extLst>
      <p:ext uri="{BB962C8B-B14F-4D97-AF65-F5344CB8AC3E}">
        <p14:creationId xmlns:p14="http://schemas.microsoft.com/office/powerpoint/2010/main" val="515627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81725F-845F-40CE-901C-475112EE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主从表保存依赖关系配置和同一事务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BB132BE8-8517-4969-9EA7-88722D7B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F5D34EE4-D558-4F56-98B4-F0A50B0D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04 · CRUD 扩展与 ExtData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78E7F79-ADAE-4F91-93DA-265F23D4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06 / 13</a:t>
            </a:r>
          </a:p>
        </p:txBody>
      </p:sp>
      <p:sp>
        <p:nvSpPr>
          <p:cNvPr id="5" name="flow-intro">
            <a:extLst xmlns:a="http://schemas.openxmlformats.org/drawingml/2006/main">
              <a:ext uri="{FF2B5EF4-FFF2-40B4-BE49-F238E27FC236}">
                <a16:creationId xmlns:a16="http://schemas.microsoft.com/office/drawing/2014/main" id="{60B47E6E-619A-4A63-9E7E-0DA06350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1049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框架必须先知道导航关系，才能判断明细是新增、更新还是删除。</a:t>
            </a:r>
          </a:p>
        </p:txBody>
      </p:sp>
      <p:sp>
        <p:nvSpPr>
          <p:cNvPr id="6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7B0D6454-0BF1-4319-9744-B99F6A6F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305" y="335280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7" name="flow-index-0">
            <a:extLst xmlns:a="http://schemas.openxmlformats.org/drawingml/2006/main">
              <a:ext uri="{FF2B5EF4-FFF2-40B4-BE49-F238E27FC236}">
                <a16:creationId xmlns:a16="http://schemas.microsoft.com/office/drawing/2014/main" id="{98A89ED7-14EC-4DE2-8875-8E567752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2F899B02-52AC-48FA-8E21-D233CE69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60F857B5-70FC-4DFB-9620-B243B610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配置 Navigate</a:t>
            </a:r>
          </a:p>
        </p:txBody>
      </p:sp>
      <p:sp>
        <p:nvSpPr>
          <p:cNvPr id="10" name="flow-body-0">
            <a:extLst xmlns:a="http://schemas.openxmlformats.org/drawingml/2006/main">
              <a:ext uri="{FF2B5EF4-FFF2-40B4-BE49-F238E27FC236}">
                <a16:creationId xmlns:a16="http://schemas.microsoft.com/office/drawing/2014/main" id="{4268A6A5-FA1B-4170-8503-88305728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8145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声明 OneToMany、OneToOne 等关系。</a:t>
            </a:r>
          </a:p>
        </p:txBody>
      </p:sp>
      <p:sp>
        <p:nvSpPr>
          <p:cNvPr id="11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4501F34B-A44B-4762-B539-67FDA419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835" y="335280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2" name="flow-index-1">
            <a:extLst xmlns:a="http://schemas.openxmlformats.org/drawingml/2006/main">
              <a:ext uri="{FF2B5EF4-FFF2-40B4-BE49-F238E27FC236}">
                <a16:creationId xmlns:a16="http://schemas.microsoft.com/office/drawing/2014/main" id="{7E1F5ACB-925B-4E58-8FC3-50F52A0D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38125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E6807147-B788-4254-BCE2-EFE20668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83845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363FE134-2B3F-4D49-85A2-6F1AFB93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310515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保存主实体</a:t>
            </a:r>
          </a:p>
        </p:txBody>
      </p:sp>
      <p:sp>
        <p:nvSpPr>
          <p:cNvPr id="15" name="flow-body-1">
            <a:extLst xmlns:a="http://schemas.openxmlformats.org/drawingml/2006/main">
              <a:ext uri="{FF2B5EF4-FFF2-40B4-BE49-F238E27FC236}">
                <a16:creationId xmlns:a16="http://schemas.microsoft.com/office/drawing/2014/main" id="{07F95D69-6BC6-4C1C-BD6F-7806D77C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398145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生成或确认主键。</a:t>
            </a:r>
          </a:p>
        </p:txBody>
      </p:sp>
      <p:sp>
        <p:nvSpPr>
          <p:cNvPr id="16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511343E0-CD32-44A2-AC89-031B0EB7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1365" y="335280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7" name="flow-index-2">
            <a:extLst xmlns:a="http://schemas.openxmlformats.org/drawingml/2006/main">
              <a:ext uri="{FF2B5EF4-FFF2-40B4-BE49-F238E27FC236}">
                <a16:creationId xmlns:a16="http://schemas.microsoft.com/office/drawing/2014/main" id="{9AE12BFC-E6A8-4B86-A799-6760239F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238125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94907BCB-51D8-4651-ABF0-19245569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283845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A18B899D-E45A-4C0B-A3AE-C0707427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310515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识别明细差异</a:t>
            </a:r>
          </a:p>
        </p:txBody>
      </p:sp>
      <p:sp>
        <p:nvSpPr>
          <p:cNvPr id="20" name="flow-body-2">
            <a:extLst xmlns:a="http://schemas.openxmlformats.org/drawingml/2006/main">
              <a:ext uri="{FF2B5EF4-FFF2-40B4-BE49-F238E27FC236}">
                <a16:creationId xmlns:a16="http://schemas.microsoft.com/office/drawing/2014/main" id="{CB59D31B-4808-45E1-B9DD-5E35B072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398145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按主键判断新增、更新、删除。</a:t>
            </a:r>
          </a:p>
        </p:txBody>
      </p:sp>
      <p:sp>
        <p:nvSpPr>
          <p:cNvPr id="21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DB909954-F685-49D6-B2AE-DAFDFA64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895" y="335280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2" name="flow-index-3">
            <a:extLst xmlns:a="http://schemas.openxmlformats.org/drawingml/2006/main">
              <a:ext uri="{FF2B5EF4-FFF2-40B4-BE49-F238E27FC236}">
                <a16:creationId xmlns:a16="http://schemas.microsoft.com/office/drawing/2014/main" id="{DA43B661-A62C-4BD5-8CC7-A0D24476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38125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3" name="rule">
            <a:extLst xmlns:a="http://schemas.openxmlformats.org/drawingml/2006/main">
              <a:ext uri="{FF2B5EF4-FFF2-40B4-BE49-F238E27FC236}">
                <a16:creationId xmlns:a16="http://schemas.microsoft.com/office/drawing/2014/main" id="{22E7FF44-F888-4F42-B6FF-38ADDCDE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83845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4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75478F15-4512-4482-8345-9D4AD369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310515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保存关系数据</a:t>
            </a:r>
          </a:p>
        </p:txBody>
      </p:sp>
      <p:sp>
        <p:nvSpPr>
          <p:cNvPr id="25" name="flow-body-3">
            <a:extLst xmlns:a="http://schemas.openxmlformats.org/drawingml/2006/main">
              <a:ext uri="{FF2B5EF4-FFF2-40B4-BE49-F238E27FC236}">
                <a16:creationId xmlns:a16="http://schemas.microsoft.com/office/drawing/2014/main" id="{0813BA05-D07F-4E74-BCE5-C2ED8F84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398145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OneToMany / OneToOne 进入同一事务。</a:t>
            </a:r>
          </a:p>
        </p:txBody>
      </p:sp>
      <p:sp>
        <p:nvSpPr>
          <p:cNvPr id="26" name="flow-index-4">
            <a:extLst xmlns:a="http://schemas.openxmlformats.org/drawingml/2006/main">
              <a:ext uri="{FF2B5EF4-FFF2-40B4-BE49-F238E27FC236}">
                <a16:creationId xmlns:a16="http://schemas.microsoft.com/office/drawing/2014/main" id="{9C1B7888-149D-40E7-9151-91977F46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238125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27" name="rule">
            <a:extLst xmlns:a="http://schemas.openxmlformats.org/drawingml/2006/main">
              <a:ext uri="{FF2B5EF4-FFF2-40B4-BE49-F238E27FC236}">
                <a16:creationId xmlns:a16="http://schemas.microsoft.com/office/drawing/2014/main" id="{49934CB4-A4DC-41D8-A64A-96D155E4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283845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8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BC535DF3-DCE2-48C7-A358-9EAC379E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310515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提交或回滚</a:t>
            </a:r>
          </a:p>
        </p:txBody>
      </p:sp>
      <p:sp>
        <p:nvSpPr>
          <p:cNvPr id="29" name="flow-body-4">
            <a:extLst xmlns:a="http://schemas.openxmlformats.org/drawingml/2006/main">
              <a:ext uri="{FF2B5EF4-FFF2-40B4-BE49-F238E27FC236}">
                <a16:creationId xmlns:a16="http://schemas.microsoft.com/office/drawing/2014/main" id="{A620182F-3737-4770-896B-6BA3C510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398145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任何一步异常都保持整体一致。</a:t>
            </a:r>
          </a:p>
        </p:txBody>
      </p:sp>
    </p:spTree>
    <p:extLst>
      <p:ext uri="{BB962C8B-B14F-4D97-AF65-F5344CB8AC3E}">
        <p14:creationId xmlns:p14="http://schemas.microsoft.com/office/powerpoint/2010/main" val="18984256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18EF73-6E3A-4711-9D21-3C713355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启停、导入导出和主从保存都是可复用能力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BFFF7294-C638-40F8-88DD-D7A3CDAF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45A51074-F2F9-4B17-B1BA-BA47ACDC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04 · CRUD 扩展与 ExtData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0928A1B-6CA5-4CA5-8694-E2CEFF0A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07 / 13</a:t>
            </a:r>
          </a:p>
        </p:txBody>
      </p:sp>
      <p:sp>
        <p:nvSpPr>
          <p:cNvPr id="5" name="grid-intro">
            <a:extLst xmlns:a="http://schemas.openxmlformats.org/drawingml/2006/main">
              <a:ext uri="{FF2B5EF4-FFF2-40B4-BE49-F238E27FC236}">
                <a16:creationId xmlns:a16="http://schemas.microsoft.com/office/drawing/2014/main" id="{CAA966E4-01E4-4004-A792-72371C92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049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先确认实体和基类是否已经提供能力，再决定是否写自定义接口。</a:t>
            </a:r>
          </a:p>
        </p:txBody>
      </p:sp>
      <p:sp>
        <p:nvSpPr>
          <p:cNvPr id="6" name="grid-panel-0">
            <a:extLst xmlns:a="http://schemas.openxmlformats.org/drawingml/2006/main">
              <a:ext uri="{FF2B5EF4-FFF2-40B4-BE49-F238E27FC236}">
                <a16:creationId xmlns:a16="http://schemas.microsoft.com/office/drawing/2014/main" id="{A1BB7D4F-A766-49A7-8651-3D0BCCB0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35814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7" name="grid-title-0">
            <a:extLst xmlns:a="http://schemas.openxmlformats.org/drawingml/2006/main">
              <a:ext uri="{FF2B5EF4-FFF2-40B4-BE49-F238E27FC236}">
                <a16:creationId xmlns:a16="http://schemas.microsoft.com/office/drawing/2014/main" id="{18AF0198-582C-4CDE-9334-C881213A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3238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状态启停</a:t>
            </a:r>
          </a:p>
        </p:txBody>
      </p:sp>
      <p:sp>
        <p:nvSpPr>
          <p:cNvPr id="8" name="grid-body-0">
            <a:extLst xmlns:a="http://schemas.openxmlformats.org/drawingml/2006/main">
              <a:ext uri="{FF2B5EF4-FFF2-40B4-BE49-F238E27FC236}">
                <a16:creationId xmlns:a16="http://schemas.microsoft.com/office/drawing/2014/main" id="{1ADABE41-892A-418C-B741-38015A60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05100"/>
            <a:ext cx="32385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实体实现 IEnableDisableEntity 后使用统一入口和状态语义。</a:t>
            </a:r>
          </a:p>
        </p:txBody>
      </p:sp>
      <p:sp>
        <p:nvSpPr>
          <p:cNvPr id="9" name="grid-panel-1">
            <a:extLst xmlns:a="http://schemas.openxmlformats.org/drawingml/2006/main">
              <a:ext uri="{FF2B5EF4-FFF2-40B4-BE49-F238E27FC236}">
                <a16:creationId xmlns:a16="http://schemas.microsoft.com/office/drawing/2014/main" id="{A62C349C-74F7-4706-BEDA-B3AAC520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81200"/>
            <a:ext cx="35814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0">
            <a:solidFill>
              <a:srgbClr val="F8F9FA"/>
            </a:solidFill>
            <a:prstDash val="solid"/>
          </a:ln>
        </p:spPr>
      </p:sp>
      <p:sp>
        <p:nvSpPr>
          <p:cNvPr id="10" name="grid-title-1">
            <a:extLst xmlns:a="http://schemas.openxmlformats.org/drawingml/2006/main">
              <a:ext uri="{FF2B5EF4-FFF2-40B4-BE49-F238E27FC236}">
                <a16:creationId xmlns:a16="http://schemas.microsoft.com/office/drawing/2014/main" id="{A6D5288E-3AB5-4A0A-A2FF-26A4DBF7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52650"/>
            <a:ext cx="3238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批量删除</a:t>
            </a:r>
          </a:p>
        </p:txBody>
      </p:sp>
      <p:sp>
        <p:nvSpPr>
          <p:cNvPr id="11" name="grid-body-1">
            <a:extLst xmlns:a="http://schemas.openxmlformats.org/drawingml/2006/main">
              <a:ext uri="{FF2B5EF4-FFF2-40B4-BE49-F238E27FC236}">
                <a16:creationId xmlns:a16="http://schemas.microsoft.com/office/drawing/2014/main" id="{19BE5154-B83B-4C92-BF64-333331A7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05100"/>
            <a:ext cx="32385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使用基类批量能力并让事务统一处理。</a:t>
            </a:r>
          </a:p>
        </p:txBody>
      </p:sp>
      <p:sp>
        <p:nvSpPr>
          <p:cNvPr id="12" name="grid-panel-2">
            <a:extLst xmlns:a="http://schemas.openxmlformats.org/drawingml/2006/main">
              <a:ext uri="{FF2B5EF4-FFF2-40B4-BE49-F238E27FC236}">
                <a16:creationId xmlns:a16="http://schemas.microsoft.com/office/drawing/2014/main" id="{335E25F7-4456-4485-A17C-77A2CBA8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81200"/>
            <a:ext cx="35814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13" name="grid-title-2">
            <a:extLst xmlns:a="http://schemas.openxmlformats.org/drawingml/2006/main">
              <a:ext uri="{FF2B5EF4-FFF2-40B4-BE49-F238E27FC236}">
                <a16:creationId xmlns:a16="http://schemas.microsoft.com/office/drawing/2014/main" id="{7981A119-5028-4306-96BF-6603FA37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52650"/>
            <a:ext cx="3238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导入</a:t>
            </a:r>
          </a:p>
        </p:txBody>
      </p:sp>
      <p:sp>
        <p:nvSpPr>
          <p:cNvPr id="14" name="grid-body-2">
            <a:extLst xmlns:a="http://schemas.openxmlformats.org/drawingml/2006/main">
              <a:ext uri="{FF2B5EF4-FFF2-40B4-BE49-F238E27FC236}">
                <a16:creationId xmlns:a16="http://schemas.microsoft.com/office/drawing/2014/main" id="{A0188AB4-533D-48CE-837D-E8FDF08B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05100"/>
            <a:ext cx="32385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复用字段解析、校验和写入钩子。</a:t>
            </a:r>
          </a:p>
        </p:txBody>
      </p:sp>
      <p:sp>
        <p:nvSpPr>
          <p:cNvPr id="15" name="grid-panel-3">
            <a:extLst xmlns:a="http://schemas.openxmlformats.org/drawingml/2006/main">
              <a:ext uri="{FF2B5EF4-FFF2-40B4-BE49-F238E27FC236}">
                <a16:creationId xmlns:a16="http://schemas.microsoft.com/office/drawing/2014/main" id="{77D89B4E-7EAA-4448-9972-3326FAFE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0"/>
            <a:ext cx="35814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0">
            <a:solidFill>
              <a:srgbClr val="F8F9FA"/>
            </a:solidFill>
            <a:prstDash val="solid"/>
          </a:ln>
        </p:spPr>
      </p:sp>
      <p:sp>
        <p:nvSpPr>
          <p:cNvPr id="16" name="grid-title-3">
            <a:extLst xmlns:a="http://schemas.openxmlformats.org/drawingml/2006/main">
              <a:ext uri="{FF2B5EF4-FFF2-40B4-BE49-F238E27FC236}">
                <a16:creationId xmlns:a16="http://schemas.microsoft.com/office/drawing/2014/main" id="{4C402D7A-EB0E-4F5B-BB1A-96AE3736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3238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导出</a:t>
            </a:r>
          </a:p>
        </p:txBody>
      </p:sp>
      <p:sp>
        <p:nvSpPr>
          <p:cNvPr id="17" name="grid-body-3">
            <a:extLst xmlns:a="http://schemas.openxmlformats.org/drawingml/2006/main">
              <a:ext uri="{FF2B5EF4-FFF2-40B4-BE49-F238E27FC236}">
                <a16:creationId xmlns:a16="http://schemas.microsoft.com/office/drawing/2014/main" id="{BBE2C93B-85DF-4BFC-BBB0-5E1A2421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05400"/>
            <a:ext cx="32385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复用查询链和字段输出约定。</a:t>
            </a:r>
          </a:p>
        </p:txBody>
      </p:sp>
      <p:sp>
        <p:nvSpPr>
          <p:cNvPr id="18" name="grid-panel-4">
            <a:extLst xmlns:a="http://schemas.openxmlformats.org/drawingml/2006/main">
              <a:ext uri="{FF2B5EF4-FFF2-40B4-BE49-F238E27FC236}">
                <a16:creationId xmlns:a16="http://schemas.microsoft.com/office/drawing/2014/main" id="{C355A317-6083-41F6-BE03-C1180C1A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81500"/>
            <a:ext cx="35814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19" name="grid-title-4">
            <a:extLst xmlns:a="http://schemas.openxmlformats.org/drawingml/2006/main">
              <a:ext uri="{FF2B5EF4-FFF2-40B4-BE49-F238E27FC236}">
                <a16:creationId xmlns:a16="http://schemas.microsoft.com/office/drawing/2014/main" id="{CDB6C07A-4AA6-4DCC-A7C5-39FFA861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52950"/>
            <a:ext cx="3238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主从保存</a:t>
            </a:r>
          </a:p>
        </p:txBody>
      </p:sp>
      <p:sp>
        <p:nvSpPr>
          <p:cNvPr id="20" name="grid-body-4">
            <a:extLst xmlns:a="http://schemas.openxmlformats.org/drawingml/2006/main">
              <a:ext uri="{FF2B5EF4-FFF2-40B4-BE49-F238E27FC236}">
                <a16:creationId xmlns:a16="http://schemas.microsoft.com/office/drawing/2014/main" id="{D8149749-CCAD-4E5B-91A4-B5D872A4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05400"/>
            <a:ext cx="32385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通过 Navigate 和关系类型管理明细差异。</a:t>
            </a:r>
          </a:p>
        </p:txBody>
      </p:sp>
      <p:sp>
        <p:nvSpPr>
          <p:cNvPr id="21" name="grid-panel-5">
            <a:extLst xmlns:a="http://schemas.openxmlformats.org/drawingml/2006/main">
              <a:ext uri="{FF2B5EF4-FFF2-40B4-BE49-F238E27FC236}">
                <a16:creationId xmlns:a16="http://schemas.microsoft.com/office/drawing/2014/main" id="{387FD731-CA49-405F-B91A-3C961FF9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81500"/>
            <a:ext cx="35814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0">
            <a:solidFill>
              <a:srgbClr val="F8F9FA"/>
            </a:solidFill>
            <a:prstDash val="solid"/>
          </a:ln>
        </p:spPr>
      </p:sp>
      <p:sp>
        <p:nvSpPr>
          <p:cNvPr id="22" name="grid-title-5">
            <a:extLst xmlns:a="http://schemas.openxmlformats.org/drawingml/2006/main">
              <a:ext uri="{FF2B5EF4-FFF2-40B4-BE49-F238E27FC236}">
                <a16:creationId xmlns:a16="http://schemas.microsoft.com/office/drawing/2014/main" id="{365DE323-2AE4-472D-8AD2-9A599958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52950"/>
            <a:ext cx="3238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查询扩展</a:t>
            </a:r>
          </a:p>
        </p:txBody>
      </p:sp>
      <p:sp>
        <p:nvSpPr>
          <p:cNvPr id="23" name="grid-body-5">
            <a:extLst xmlns:a="http://schemas.openxmlformats.org/drawingml/2006/main">
              <a:ext uri="{FF2B5EF4-FFF2-40B4-BE49-F238E27FC236}">
                <a16:creationId xmlns:a16="http://schemas.microsoft.com/office/drawing/2014/main" id="{F445CC12-C83E-4194-9913-798FB341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105400"/>
            <a:ext cx="32385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优先扩展 Service 查询落点，而不是重写 HTTP 入口。</a:t>
            </a:r>
          </a:p>
        </p:txBody>
      </p:sp>
    </p:spTree>
    <p:extLst>
      <p:ext uri="{BB962C8B-B14F-4D97-AF65-F5344CB8AC3E}">
        <p14:creationId xmlns:p14="http://schemas.microsoft.com/office/powerpoint/2010/main" val="21071365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66EA5B-4E14-481A-BBE3-48C4B7C9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两种 Controller 的核心差异是动态字段协议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A2091310-2528-4A98-A810-527BAD1F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74B4CE2F-874D-4ADC-B477-8B8A2105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04 · CRUD 扩展与 ExtData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08B2A70-BCE9-4D28-AED2-CA91C003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08 / 13</a:t>
            </a:r>
          </a:p>
        </p:txBody>
      </p:sp>
      <p:sp>
        <p:nvSpPr>
          <p:cNvPr id="5" name="compare-intro">
            <a:extLst xmlns:a="http://schemas.openxmlformats.org/drawingml/2006/main">
              <a:ext uri="{FF2B5EF4-FFF2-40B4-BE49-F238E27FC236}">
                <a16:creationId xmlns:a16="http://schemas.microsoft.com/office/drawing/2014/main" id="{52751671-F3AF-4F88-B847-DCF6FE82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049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有 ExtData 属性不代表任何场景都应该使用动态字段 Controller。</a:t>
            </a:r>
          </a:p>
        </p:txBody>
      </p:sp>
      <p:sp>
        <p:nvSpPr>
          <p:cNvPr id="6" name="compare-band-0">
            <a:extLst xmlns:a="http://schemas.openxmlformats.org/drawingml/2006/main">
              <a:ext uri="{FF2B5EF4-FFF2-40B4-BE49-F238E27FC236}">
                <a16:creationId xmlns:a16="http://schemas.microsoft.com/office/drawing/2014/main" id="{6DA64234-6924-4BE3-A8B5-35C2B308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533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7" name="compare-title-0">
            <a:extLst xmlns:a="http://schemas.openxmlformats.org/drawingml/2006/main">
              <a:ext uri="{FF2B5EF4-FFF2-40B4-BE49-F238E27FC236}">
                <a16:creationId xmlns:a16="http://schemas.microsoft.com/office/drawing/2014/main" id="{A865A694-C88D-4209-BAD4-170C7C5D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4914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CrudController&lt;TEntity&gt;</a:t>
            </a:r>
          </a:p>
        </p:txBody>
      </p:sp>
      <p:sp>
        <p:nvSpPr>
          <p:cNvPr id="8" name="compare-body-0">
            <a:extLst xmlns:a="http://schemas.openxmlformats.org/drawingml/2006/main">
              <a:ext uri="{FF2B5EF4-FFF2-40B4-BE49-F238E27FC236}">
                <a16:creationId xmlns:a16="http://schemas.microsoft.com/office/drawing/2014/main" id="{83A3AB2E-4CA0-4193-BF56-241E856C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81350"/>
            <a:ext cx="52578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• 普通固定字段维护
• 请求体按实体 / DTO 正常绑定
• 列表与详情遵循标准序列化
• 默认优先选择</a:t>
            </a:r>
          </a:p>
        </p:txBody>
      </p:sp>
      <p:sp>
        <p:nvSpPr>
          <p:cNvPr id="9" name="compare-band-1">
            <a:extLst xmlns:a="http://schemas.openxmlformats.org/drawingml/2006/main">
              <a:ext uri="{FF2B5EF4-FFF2-40B4-BE49-F238E27FC236}">
                <a16:creationId xmlns:a16="http://schemas.microsoft.com/office/drawing/2014/main" id="{D5A738D3-E44C-4BBB-AFCA-CF6FCF6B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533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10" name="compare-title-1">
            <a:extLst xmlns:a="http://schemas.openxmlformats.org/drawingml/2006/main">
              <a:ext uri="{FF2B5EF4-FFF2-40B4-BE49-F238E27FC236}">
                <a16:creationId xmlns:a16="http://schemas.microsoft.com/office/drawing/2014/main" id="{2D559C42-B812-4165-90C3-39FC3E22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28850"/>
            <a:ext cx="4914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ExtDataCrudController&lt;TEntity&gt;</a:t>
            </a:r>
          </a:p>
        </p:txBody>
      </p:sp>
      <p:sp>
        <p:nvSpPr>
          <p:cNvPr id="11" name="compare-body-1">
            <a:extLst xmlns:a="http://schemas.openxmlformats.org/drawingml/2006/main">
              <a:ext uri="{FF2B5EF4-FFF2-40B4-BE49-F238E27FC236}">
                <a16:creationId xmlns:a16="http://schemas.microsoft.com/office/drawing/2014/main" id="{13190ACA-C63A-4FC0-AEC9-96867786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81350"/>
            <a:ext cx="52578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• 实体存在 string? ExtData
• 保存时需要读取 extDataRaw
• 详情需要把动态字段展平
• 需配合表单配置 Contract</a:t>
            </a:r>
          </a:p>
        </p:txBody>
      </p:sp>
    </p:spTree>
    <p:extLst>
      <p:ext uri="{BB962C8B-B14F-4D97-AF65-F5344CB8AC3E}">
        <p14:creationId xmlns:p14="http://schemas.microsoft.com/office/powerpoint/2010/main" val="16942427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580489-995E-425E-AC3F-B6DFC128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ExtData 适合展示扩展，不适合核心业务字段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A599720A-E68D-4D39-80A7-671FD632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4C010537-EB85-4B4B-9064-A2035638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04 · CRUD 扩展与 ExtData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209C446-5015-4AF3-9BBA-288E0F90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09 / 13</a:t>
            </a:r>
          </a:p>
        </p:txBody>
      </p:sp>
      <p:sp>
        <p:nvSpPr>
          <p:cNvPr id="5" name="compare-band-0">
            <a:extLst xmlns:a="http://schemas.openxmlformats.org/drawingml/2006/main">
              <a:ext uri="{FF2B5EF4-FFF2-40B4-BE49-F238E27FC236}">
                <a16:creationId xmlns:a16="http://schemas.microsoft.com/office/drawing/2014/main" id="{3CE06F41-FAC5-4F98-AAA6-8EDA0563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533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6" name="compare-title-0">
            <a:extLst xmlns:a="http://schemas.openxmlformats.org/drawingml/2006/main">
              <a:ext uri="{FF2B5EF4-FFF2-40B4-BE49-F238E27FC236}">
                <a16:creationId xmlns:a16="http://schemas.microsoft.com/office/drawing/2014/main" id="{647BDE5D-07D1-4EBE-8E2F-AD6F4426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4914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7D4A"/>
                </a:solidFill>
                <a:latin typeface="Microsoft YaHei"/>
                <a:ea typeface="Microsoft YaHei"/>
                <a:cs typeface="Microsoft YaHei"/>
              </a:defRPr>
            </a:pPr>
            <a:r>
              <a:t>适合放入 ExtData</a:t>
            </a:r>
          </a:p>
        </p:txBody>
      </p:sp>
      <p:sp>
        <p:nvSpPr>
          <p:cNvPr id="7" name="compare-body-0">
            <a:extLst xmlns:a="http://schemas.openxmlformats.org/drawingml/2006/main">
              <a:ext uri="{FF2B5EF4-FFF2-40B4-BE49-F238E27FC236}">
                <a16:creationId xmlns:a16="http://schemas.microsoft.com/office/drawing/2014/main" id="{87FE7A3A-DB62-47C5-AE3F-7F6A9176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43200"/>
            <a:ext cx="52578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• 客户差异化的补充展示字段
• 不参与关键查询和统计的字段
• 运行期可通过表单配置增减
• 缺失时不破坏核心流程</a:t>
            </a:r>
          </a:p>
        </p:txBody>
      </p:sp>
      <p:sp>
        <p:nvSpPr>
          <p:cNvPr id="8" name="compare-band-1">
            <a:extLst xmlns:a="http://schemas.openxmlformats.org/drawingml/2006/main">
              <a:ext uri="{FF2B5EF4-FFF2-40B4-BE49-F238E27FC236}">
                <a16:creationId xmlns:a16="http://schemas.microsoft.com/office/drawing/2014/main" id="{ED5F62FF-4649-4BC6-AC8A-648489DA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62100"/>
            <a:ext cx="533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9" name="compare-title-1">
            <a:extLst xmlns:a="http://schemas.openxmlformats.org/drawingml/2006/main">
              <a:ext uri="{FF2B5EF4-FFF2-40B4-BE49-F238E27FC236}">
                <a16:creationId xmlns:a16="http://schemas.microsoft.com/office/drawing/2014/main" id="{6A41CEF5-4AA7-4FA8-BFCF-EEBD83BE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90700"/>
            <a:ext cx="4914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t>应该建正式字段</a:t>
            </a:r>
          </a:p>
        </p:txBody>
      </p:sp>
      <p:sp>
        <p:nvSpPr>
          <p:cNvPr id="10" name="compare-body-1">
            <a:extLst xmlns:a="http://schemas.openxmlformats.org/drawingml/2006/main">
              <a:ext uri="{FF2B5EF4-FFF2-40B4-BE49-F238E27FC236}">
                <a16:creationId xmlns:a16="http://schemas.microsoft.com/office/drawing/2014/main" id="{8D8BDAED-F3B7-4B41-A612-36ED4B98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43200"/>
            <a:ext cx="52578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• 参与过滤、排序、聚合和索引
• 决定状态、库存或事务规则
• 需要数据库约束和强类型
• 跨模块 Contract 长期依赖</a:t>
            </a:r>
          </a:p>
        </p:txBody>
      </p:sp>
    </p:spTree>
    <p:extLst>
      <p:ext uri="{BB962C8B-B14F-4D97-AF65-F5344CB8AC3E}">
        <p14:creationId xmlns:p14="http://schemas.microsoft.com/office/powerpoint/2010/main" val="16573713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1EF868-D906-492B-8507-0655F2B8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保存链读取 extDataRaw，再序列化进 ExtData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893D9182-A278-425B-814E-926DBEF4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6CEF0EB1-B9BF-4FDD-853D-EF1CA6D8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04 · CRUD 扩展与 ExtData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AF275A8-53CA-45BA-8226-14F1D49C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10 / 13</a:t>
            </a:r>
          </a:p>
        </p:txBody>
      </p:sp>
      <p:sp>
        <p:nvSpPr>
          <p:cNvPr id="5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FBB94841-595A-40B6-BA14-18E25E26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30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6" name="flow-index-0">
            <a:extLst xmlns:a="http://schemas.openxmlformats.org/drawingml/2006/main">
              <a:ext uri="{FF2B5EF4-FFF2-40B4-BE49-F238E27FC236}">
                <a16:creationId xmlns:a16="http://schemas.microsoft.com/office/drawing/2014/main" id="{63982378-88B0-4902-AEA8-D6622EFF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F71E3E43-62D9-4542-85D1-08F00F34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28E6ADC8-D425-48B8-9725-68D7AAD7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前端读取配置</a:t>
            </a:r>
          </a:p>
        </p:txBody>
      </p:sp>
      <p:sp>
        <p:nvSpPr>
          <p:cNvPr id="9" name="flow-body-0">
            <a:extLst xmlns:a="http://schemas.openxmlformats.org/drawingml/2006/main">
              <a:ext uri="{FF2B5EF4-FFF2-40B4-BE49-F238E27FC236}">
                <a16:creationId xmlns:a16="http://schemas.microsoft.com/office/drawing/2014/main" id="{A389A6F8-E6E7-49E5-BC93-2E412916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GET /form-config 获取动态字段定义。</a:t>
            </a:r>
          </a:p>
        </p:txBody>
      </p:sp>
      <p:sp>
        <p:nvSpPr>
          <p:cNvPr id="10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9929C726-CF8C-49D5-B6F7-25EA5F9E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83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1" name="flow-index-1">
            <a:extLst xmlns:a="http://schemas.openxmlformats.org/drawingml/2006/main">
              <a:ext uri="{FF2B5EF4-FFF2-40B4-BE49-F238E27FC236}">
                <a16:creationId xmlns:a16="http://schemas.microsoft.com/office/drawing/2014/main" id="{9BF573C3-5F13-4A7A-9394-1DBA8978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0C17C95B-94E1-4AFF-B6F8-3ADB64D0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56900524-39D2-4810-A77E-B43A55E7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提交 extDataRaw</a:t>
            </a:r>
          </a:p>
        </p:txBody>
      </p:sp>
      <p:sp>
        <p:nvSpPr>
          <p:cNvPr id="14" name="flow-body-1">
            <a:extLst xmlns:a="http://schemas.openxmlformats.org/drawingml/2006/main">
              <a:ext uri="{FF2B5EF4-FFF2-40B4-BE49-F238E27FC236}">
                <a16:creationId xmlns:a16="http://schemas.microsoft.com/office/drawing/2014/main" id="{379EB570-83AD-4F3A-BC27-9720BAD8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按约定传合法 JSON 字符串。</a:t>
            </a:r>
          </a:p>
        </p:txBody>
      </p:sp>
      <p:sp>
        <p:nvSpPr>
          <p:cNvPr id="15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8834EE48-E09E-4197-8A74-EDBCC18A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136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6" name="flow-index-2">
            <a:extLst xmlns:a="http://schemas.openxmlformats.org/drawingml/2006/main">
              <a:ext uri="{FF2B5EF4-FFF2-40B4-BE49-F238E27FC236}">
                <a16:creationId xmlns:a16="http://schemas.microsoft.com/office/drawing/2014/main" id="{18EF6096-15DE-498D-B981-4C51AA6F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9580678C-C959-4D65-AA12-6C362048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70FEBE60-BCD2-4BD0-91AE-0FC68D8E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请求体可重读</a:t>
            </a:r>
          </a:p>
        </p:txBody>
      </p:sp>
      <p:sp>
        <p:nvSpPr>
          <p:cNvPr id="19" name="flow-body-2">
            <a:extLst xmlns:a="http://schemas.openxmlformats.org/drawingml/2006/main">
              <a:ext uri="{FF2B5EF4-FFF2-40B4-BE49-F238E27FC236}">
                <a16:creationId xmlns:a16="http://schemas.microsoft.com/office/drawing/2014/main" id="{1534B522-557A-4FFC-9912-32E70004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EnableBuffering 允许 Controller 再次读取 Body。</a:t>
            </a:r>
          </a:p>
        </p:txBody>
      </p:sp>
      <p:sp>
        <p:nvSpPr>
          <p:cNvPr id="20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84B346C8-E89D-4799-963E-6EC4FEA4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89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1" name="flow-index-3">
            <a:extLst xmlns:a="http://schemas.openxmlformats.org/drawingml/2006/main">
              <a:ext uri="{FF2B5EF4-FFF2-40B4-BE49-F238E27FC236}">
                <a16:creationId xmlns:a16="http://schemas.microsoft.com/office/drawing/2014/main" id="{CF4A9C13-36CA-488B-AAAE-FD321253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AD6AEEBB-5C79-4261-A3E0-D20F71BB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3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BD69D7FF-E946-4B3D-9C0B-E18661CB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写入 ExtData</a:t>
            </a:r>
          </a:p>
        </p:txBody>
      </p:sp>
      <p:sp>
        <p:nvSpPr>
          <p:cNvPr id="24" name="flow-body-3">
            <a:extLst xmlns:a="http://schemas.openxmlformats.org/drawingml/2006/main">
              <a:ext uri="{FF2B5EF4-FFF2-40B4-BE49-F238E27FC236}">
                <a16:creationId xmlns:a16="http://schemas.microsoft.com/office/drawing/2014/main" id="{1F167563-84A3-40D8-8C39-8751709B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动态字段序列化到实体字符串字段。</a:t>
            </a:r>
          </a:p>
        </p:txBody>
      </p:sp>
      <p:sp>
        <p:nvSpPr>
          <p:cNvPr id="25" name="flow-index-4">
            <a:extLst xmlns:a="http://schemas.openxmlformats.org/drawingml/2006/main">
              <a:ext uri="{FF2B5EF4-FFF2-40B4-BE49-F238E27FC236}">
                <a16:creationId xmlns:a16="http://schemas.microsoft.com/office/drawing/2014/main" id="{7FC4A1CA-1629-4D68-9586-55C2480E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174137B1-28B0-44C5-A632-51183223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7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A2E84567-01AD-4C6A-BD51-C2CA3F86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业务钩子继续执行</a:t>
            </a:r>
          </a:p>
        </p:txBody>
      </p:sp>
      <p:sp>
        <p:nvSpPr>
          <p:cNvPr id="28" name="flow-body-4">
            <a:extLst xmlns:a="http://schemas.openxmlformats.org/drawingml/2006/main">
              <a:ext uri="{FF2B5EF4-FFF2-40B4-BE49-F238E27FC236}">
                <a16:creationId xmlns:a16="http://schemas.microsoft.com/office/drawing/2014/main" id="{FD99C370-189F-4472-9CF5-F40CD353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与普通 CRUD 一样进入 Service 执行链。</a:t>
            </a:r>
          </a:p>
        </p:txBody>
      </p:sp>
    </p:spTree>
    <p:extLst>
      <p:ext uri="{BB962C8B-B14F-4D97-AF65-F5344CB8AC3E}">
        <p14:creationId xmlns:p14="http://schemas.microsoft.com/office/powerpoint/2010/main" val="7295522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14C8C76-E930-4129-859F-A7530A22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详情会展开动态字段，分页当前不会自动展开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1F91B03F-3A16-46A5-9F10-91D1BBBA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5B7F32CC-5CE9-45D8-B6C8-304F8CFF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04 · CRUD 扩展与 ExtData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B8E00B0-7B1B-480F-98D8-2ED2AC02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11 / 13</a:t>
            </a:r>
          </a:p>
        </p:txBody>
      </p:sp>
      <p:sp>
        <p:nvSpPr>
          <p:cNvPr id="5" name="compare-intro">
            <a:extLst xmlns:a="http://schemas.openxmlformats.org/drawingml/2006/main">
              <a:ext uri="{FF2B5EF4-FFF2-40B4-BE49-F238E27FC236}">
                <a16:creationId xmlns:a16="http://schemas.microsoft.com/office/drawing/2014/main" id="{78D2EB94-F993-46B4-BE47-F7ABFF28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049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列表和详情返回差异是当前实现边界，不要误以为配置或保存失败。</a:t>
            </a:r>
          </a:p>
        </p:txBody>
      </p:sp>
      <p:sp>
        <p:nvSpPr>
          <p:cNvPr id="6" name="compare-band-0">
            <a:extLst xmlns:a="http://schemas.openxmlformats.org/drawingml/2006/main">
              <a:ext uri="{FF2B5EF4-FFF2-40B4-BE49-F238E27FC236}">
                <a16:creationId xmlns:a16="http://schemas.microsoft.com/office/drawing/2014/main" id="{86E2DCFA-4E72-473E-8F7E-91BE6882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533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7" name="compare-title-0">
            <a:extLst xmlns:a="http://schemas.openxmlformats.org/drawingml/2006/main">
              <a:ext uri="{FF2B5EF4-FFF2-40B4-BE49-F238E27FC236}">
                <a16:creationId xmlns:a16="http://schemas.microsoft.com/office/drawing/2014/main" id="{CB6B94C8-2FFD-4E26-AB45-7BC3D37B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4914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GetById 详情</a:t>
            </a:r>
          </a:p>
        </p:txBody>
      </p:sp>
      <p:sp>
        <p:nvSpPr>
          <p:cNvPr id="8" name="compare-body-0">
            <a:extLst xmlns:a="http://schemas.openxmlformats.org/drawingml/2006/main">
              <a:ext uri="{FF2B5EF4-FFF2-40B4-BE49-F238E27FC236}">
                <a16:creationId xmlns:a16="http://schemas.microsoft.com/office/drawing/2014/main" id="{5F9D1F7F-172D-4C04-8BC3-96D8F5F3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81350"/>
            <a:ext cx="52578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• 读取实体 ExtData
• 按配置把动态字段展平
• 前端详情表单直接回显
• 适合单条维护场景</a:t>
            </a:r>
          </a:p>
        </p:txBody>
      </p:sp>
      <p:sp>
        <p:nvSpPr>
          <p:cNvPr id="9" name="compare-band-1">
            <a:extLst xmlns:a="http://schemas.openxmlformats.org/drawingml/2006/main">
              <a:ext uri="{FF2B5EF4-FFF2-40B4-BE49-F238E27FC236}">
                <a16:creationId xmlns:a16="http://schemas.microsoft.com/office/drawing/2014/main" id="{F50C4129-E4A2-4066-B85A-C964AC25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533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10" name="compare-title-1">
            <a:extLst xmlns:a="http://schemas.openxmlformats.org/drawingml/2006/main">
              <a:ext uri="{FF2B5EF4-FFF2-40B4-BE49-F238E27FC236}">
                <a16:creationId xmlns:a16="http://schemas.microsoft.com/office/drawing/2014/main" id="{F6568829-88DF-4D74-AB84-377B055C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28850"/>
            <a:ext cx="4914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分页列表</a:t>
            </a:r>
          </a:p>
        </p:txBody>
      </p:sp>
      <p:sp>
        <p:nvSpPr>
          <p:cNvPr id="11" name="compare-body-1">
            <a:extLst xmlns:a="http://schemas.openxmlformats.org/drawingml/2006/main">
              <a:ext uri="{FF2B5EF4-FFF2-40B4-BE49-F238E27FC236}">
                <a16:creationId xmlns:a16="http://schemas.microsoft.com/office/drawing/2014/main" id="{C14F1C66-CA04-45B5-A02B-1D18E624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81350"/>
            <a:ext cx="52578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• 当前基类不会自动展平所有动态字段
• 前端列表按 load / 配置自行处理
• 动态字段不适合核心排序和统计
• 需要稳定查询时应建正式列</a:t>
            </a:r>
          </a:p>
        </p:txBody>
      </p:sp>
    </p:spTree>
    <p:extLst>
      <p:ext uri="{BB962C8B-B14F-4D97-AF65-F5344CB8AC3E}">
        <p14:creationId xmlns:p14="http://schemas.microsoft.com/office/powerpoint/2010/main" val="16595820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1DB063-31E6-42BC-994C-C3294FC0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带 ExtData 的 CRUD 提测前检查五件事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1EB55D32-F37F-474A-870E-EF0987A8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75AD9EFD-1657-47D5-9A6F-5E604183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04 · CRUD 扩展与 ExtData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94C2A94-ACB2-4BC8-A4DB-0C113B86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12 / 13</a:t>
            </a:r>
          </a:p>
        </p:txBody>
      </p:sp>
      <p:sp>
        <p:nvSpPr>
          <p:cNvPr id="5" name="checklist-title-0">
            <a:extLst xmlns:a="http://schemas.openxmlformats.org/drawingml/2006/main">
              <a:ext uri="{FF2B5EF4-FFF2-40B4-BE49-F238E27FC236}">
                <a16:creationId xmlns:a16="http://schemas.microsoft.com/office/drawing/2014/main" id="{B7BC9934-9771-4496-805C-605A6779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5143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模型与接口</a:t>
            </a:r>
          </a:p>
        </p:txBody>
      </p:sp>
      <p:sp>
        <p:nvSpPr>
          <p:cNvPr id="6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C496A880-769A-47D4-9B97-72885698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check-mark">
            <a:extLst xmlns:a="http://schemas.openxmlformats.org/drawingml/2006/main">
              <a:ext uri="{FF2B5EF4-FFF2-40B4-BE49-F238E27FC236}">
                <a16:creationId xmlns:a16="http://schemas.microsoft.com/office/drawing/2014/main" id="{D43C1400-E3F6-48CA-AFCF-081D59E4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5742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8" name="check-text-0-0">
            <a:extLst xmlns:a="http://schemas.openxmlformats.org/drawingml/2006/main">
              <a:ext uri="{FF2B5EF4-FFF2-40B4-BE49-F238E27FC236}">
                <a16:creationId xmlns:a16="http://schemas.microsoft.com/office/drawing/2014/main" id="{635BE369-30AD-462F-9EB2-2F0EAE55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字段确实适合动态扩展，不参与核心规则</a:t>
            </a:r>
          </a:p>
        </p:txBody>
      </p:sp>
      <p:sp>
        <p:nvSpPr>
          <p:cNvPr id="9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1714EF84-C34E-4057-82BA-226AB148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check-mark">
            <a:extLst xmlns:a="http://schemas.openxmlformats.org/drawingml/2006/main">
              <a:ext uri="{FF2B5EF4-FFF2-40B4-BE49-F238E27FC236}">
                <a16:creationId xmlns:a16="http://schemas.microsoft.com/office/drawing/2014/main" id="{880B8B95-34F1-4C95-A1F5-9953F276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417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11" name="check-text-0-1">
            <a:extLst xmlns:a="http://schemas.openxmlformats.org/drawingml/2006/main">
              <a:ext uri="{FF2B5EF4-FFF2-40B4-BE49-F238E27FC236}">
                <a16:creationId xmlns:a16="http://schemas.microsoft.com/office/drawing/2014/main" id="{D48E35C4-D2FA-4D28-9433-DA5BE865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实体存在 string? ExtData</a:t>
            </a:r>
          </a:p>
        </p:txBody>
      </p:sp>
      <p:sp>
        <p:nvSpPr>
          <p:cNvPr id="12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530BF95D-077C-408D-B9C0-E0BC31E6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check-mark">
            <a:extLst xmlns:a="http://schemas.openxmlformats.org/drawingml/2006/main">
              <a:ext uri="{FF2B5EF4-FFF2-40B4-BE49-F238E27FC236}">
                <a16:creationId xmlns:a16="http://schemas.microsoft.com/office/drawing/2014/main" id="{A650A39C-4AFB-4AB9-8B77-FDFD6537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9092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14" name="check-text-0-2">
            <a:extLst xmlns:a="http://schemas.openxmlformats.org/drawingml/2006/main">
              <a:ext uri="{FF2B5EF4-FFF2-40B4-BE49-F238E27FC236}">
                <a16:creationId xmlns:a16="http://schemas.microsoft.com/office/drawing/2014/main" id="{AF15CFA0-3A5F-4F2D-A7DF-71945465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Controller 继承 ExtDataCrudController</a:t>
            </a:r>
          </a:p>
        </p:txBody>
      </p:sp>
      <p:sp>
        <p:nvSpPr>
          <p:cNvPr id="15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30151589-6A19-488F-A552-7AB98EE2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6" name="check-mark">
            <a:extLst xmlns:a="http://schemas.openxmlformats.org/drawingml/2006/main">
              <a:ext uri="{FF2B5EF4-FFF2-40B4-BE49-F238E27FC236}">
                <a16:creationId xmlns:a16="http://schemas.microsoft.com/office/drawing/2014/main" id="{490EA72B-32E6-4B3C-91BF-F6F1528E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5767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17" name="check-text-0-3">
            <a:extLst xmlns:a="http://schemas.openxmlformats.org/drawingml/2006/main">
              <a:ext uri="{FF2B5EF4-FFF2-40B4-BE49-F238E27FC236}">
                <a16:creationId xmlns:a16="http://schemas.microsoft.com/office/drawing/2014/main" id="{421A65DE-9545-4519-BBBB-89511331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表单配置和 Contract 能按业务类型命中</a:t>
            </a:r>
          </a:p>
        </p:txBody>
      </p:sp>
      <p:sp>
        <p:nvSpPr>
          <p:cNvPr id="18" name="checklist-title-1">
            <a:extLst xmlns:a="http://schemas.openxmlformats.org/drawingml/2006/main">
              <a:ext uri="{FF2B5EF4-FFF2-40B4-BE49-F238E27FC236}">
                <a16:creationId xmlns:a16="http://schemas.microsoft.com/office/drawing/2014/main" id="{FAA79E54-DD9A-4D92-951F-1FD67052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24000"/>
            <a:ext cx="5143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请求与回显</a:t>
            </a:r>
          </a:p>
        </p:txBody>
      </p:sp>
      <p:sp>
        <p:nvSpPr>
          <p:cNvPr id="19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E1C2C4FA-C1B9-4B49-97D0-AEC71505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050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0" name="check-mark">
            <a:extLst xmlns:a="http://schemas.openxmlformats.org/drawingml/2006/main">
              <a:ext uri="{FF2B5EF4-FFF2-40B4-BE49-F238E27FC236}">
                <a16:creationId xmlns:a16="http://schemas.microsoft.com/office/drawing/2014/main" id="{02C730CE-DD0A-4D93-BBD4-11E11F92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5742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21" name="check-text-1-0">
            <a:extLst xmlns:a="http://schemas.openxmlformats.org/drawingml/2006/main">
              <a:ext uri="{FF2B5EF4-FFF2-40B4-BE49-F238E27FC236}">
                <a16:creationId xmlns:a16="http://schemas.microsoft.com/office/drawing/2014/main" id="{0A43F96B-D185-423E-8B4A-96904DBA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6695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前端提交 extDataRaw 且内容为合法 JSON 字符串</a:t>
            </a:r>
          </a:p>
        </p:txBody>
      </p:sp>
      <p:sp>
        <p:nvSpPr>
          <p:cNvPr id="22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7BA86BD5-7FDB-4BF2-BCFE-B2CC3138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71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3" name="check-mark">
            <a:extLst xmlns:a="http://schemas.openxmlformats.org/drawingml/2006/main">
              <a:ext uri="{FF2B5EF4-FFF2-40B4-BE49-F238E27FC236}">
                <a16:creationId xmlns:a16="http://schemas.microsoft.com/office/drawing/2014/main" id="{3471F7EE-EDCE-4488-B5B0-755B3CD7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2417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24" name="check-text-1-1">
            <a:extLst xmlns:a="http://schemas.openxmlformats.org/drawingml/2006/main">
              <a:ext uri="{FF2B5EF4-FFF2-40B4-BE49-F238E27FC236}">
                <a16:creationId xmlns:a16="http://schemas.microsoft.com/office/drawing/2014/main" id="{6EF83B5F-5EE2-4924-AE2C-E574694D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337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Program 已启用请求体缓冲</a:t>
            </a:r>
          </a:p>
        </p:txBody>
      </p:sp>
      <p:sp>
        <p:nvSpPr>
          <p:cNvPr id="25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B9DBC1CE-6FFF-42F2-87CF-96A8998F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38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6" name="check-mark">
            <a:extLst xmlns:a="http://schemas.openxmlformats.org/drawingml/2006/main">
              <a:ext uri="{FF2B5EF4-FFF2-40B4-BE49-F238E27FC236}">
                <a16:creationId xmlns:a16="http://schemas.microsoft.com/office/drawing/2014/main" id="{7B36E7E0-D23E-42AE-9344-473DA064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9092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27" name="check-text-1-2">
            <a:extLst xmlns:a="http://schemas.openxmlformats.org/drawingml/2006/main">
              <a:ext uri="{FF2B5EF4-FFF2-40B4-BE49-F238E27FC236}">
                <a16:creationId xmlns:a16="http://schemas.microsoft.com/office/drawing/2014/main" id="{37489226-282B-4DA0-A24B-3C50ED7B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0045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新增与更新都能保存 ExtData</a:t>
            </a:r>
          </a:p>
        </p:txBody>
      </p:sp>
      <p:sp>
        <p:nvSpPr>
          <p:cNvPr id="28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6440DA32-3387-4D5A-8049-58B1941F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9" name="check-mark">
            <a:extLst xmlns:a="http://schemas.openxmlformats.org/drawingml/2006/main">
              <a:ext uri="{FF2B5EF4-FFF2-40B4-BE49-F238E27FC236}">
                <a16:creationId xmlns:a16="http://schemas.microsoft.com/office/drawing/2014/main" id="{A12E3101-C680-454D-8550-D58AD147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5767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30" name="check-text-1-3">
            <a:extLst xmlns:a="http://schemas.openxmlformats.org/drawingml/2006/main">
              <a:ext uri="{FF2B5EF4-FFF2-40B4-BE49-F238E27FC236}">
                <a16:creationId xmlns:a16="http://schemas.microsoft.com/office/drawing/2014/main" id="{7900336A-A01A-41C5-BC51-1209E29A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672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详情回显、分页表现和明细字段均按当前边界验证</a:t>
            </a:r>
          </a:p>
        </p:txBody>
      </p:sp>
    </p:spTree>
    <p:extLst>
      <p:ext uri="{BB962C8B-B14F-4D97-AF65-F5344CB8AC3E}">
        <p14:creationId xmlns:p14="http://schemas.microsoft.com/office/powerpoint/2010/main" val="1961452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646B52-E2CA-4E65-BC1B-4D3B536D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复盘小测：把结论说出来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CDCAD8F4-56BB-41B9-8907-387A3D91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366C7651-1889-4509-8515-7151AB05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04 · CRUD 扩展与 ExtData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A1922AE-22B6-470F-8EBF-CB6961C1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13 / 13</a:t>
            </a:r>
          </a:p>
        </p:txBody>
      </p:sp>
      <p:sp>
        <p:nvSpPr>
          <p:cNvPr id="5" name="quiz-questions">
            <a:extLst xmlns:a="http://schemas.openxmlformats.org/drawingml/2006/main">
              <a:ext uri="{FF2B5EF4-FFF2-40B4-BE49-F238E27FC236}">
                <a16:creationId xmlns:a16="http://schemas.microsoft.com/office/drawing/2014/main" id="{F1C5ED64-F2A4-4605-A860-70D80876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6858000" cy="419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01  为什么不应该复制 CrudService 的完整实现来扩展业务？
02  OneToMany 主从保存依赖哪些关系信息？
03  什么字段不应该放进 ExtData？
04  ExtData 详情能回显但分页看不到展开字段，是否一定是 Bug？</a:t>
            </a:r>
          </a:p>
        </p:txBody>
      </p:sp>
      <p:sp>
        <p:nvSpPr>
          <p:cNvPr id="6" name="next-panel">
            <a:extLst xmlns:a="http://schemas.openxmlformats.org/drawingml/2006/main">
              <a:ext uri="{FF2B5EF4-FFF2-40B4-BE49-F238E27FC236}">
                <a16:creationId xmlns:a16="http://schemas.microsoft.com/office/drawing/2014/main" id="{52679B2D-616B-4000-BDEC-9DC918E5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24000"/>
            <a:ext cx="38862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7" name="next-title">
            <a:extLst xmlns:a="http://schemas.openxmlformats.org/drawingml/2006/main">
              <a:ext uri="{FF2B5EF4-FFF2-40B4-BE49-F238E27FC236}">
                <a16:creationId xmlns:a16="http://schemas.microsoft.com/office/drawing/2014/main" id="{8266B97D-9329-4D62-824F-BF68ED30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47850"/>
            <a:ext cx="3238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下一步</a:t>
            </a:r>
          </a:p>
        </p:txBody>
      </p:sp>
      <p:sp>
        <p:nvSpPr>
          <p:cNvPr id="8" name="next-body">
            <a:extLst xmlns:a="http://schemas.openxmlformats.org/drawingml/2006/main">
              <a:ext uri="{FF2B5EF4-FFF2-40B4-BE49-F238E27FC236}">
                <a16:creationId xmlns:a16="http://schemas.microsoft.com/office/drawing/2014/main" id="{1AD41F65-E0B6-4591-857C-317C43A4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71750"/>
            <a:ext cx="32385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下一讲进入流程型接口：跨模块 Contract、事务责任、配置校验和幂等。</a:t>
            </a:r>
          </a:p>
        </p:txBody>
      </p:sp>
      <p:sp>
        <p:nvSpPr>
          <p:cNvPr id="9" name="answer-hint">
            <a:extLst xmlns:a="http://schemas.openxmlformats.org/drawingml/2006/main">
              <a:ext uri="{FF2B5EF4-FFF2-40B4-BE49-F238E27FC236}">
                <a16:creationId xmlns:a16="http://schemas.microsoft.com/office/drawing/2014/main" id="{E68942C8-4E46-4355-91C1-5593DC6F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14850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答案与延伸阅读已放入讲师备注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37F52B64-EECC-4137-BBE0-E6AB388A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67400"/>
            <a:ext cx="6858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扩展能力要接在正确钩子上，动态字段要守住数据建模边界。</a:t>
            </a:r>
          </a:p>
        </p:txBody>
      </p:sp>
    </p:spTree>
    <p:extLst>
      <p:ext uri="{BB962C8B-B14F-4D97-AF65-F5344CB8AC3E}">
        <p14:creationId xmlns:p14="http://schemas.microsoft.com/office/powerpoint/2010/main" val="15271099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2026-07-10T03:40:03.9160000Z</dcterms:created>
  <dcterms:modified xsi:type="dcterms:W3CDTF">2026-07-10T03:40:03.9160000Z</dcterms:modified>
</coreProperties>
</file>