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9459f974234549" /><Relationship Type="http://schemas.openxmlformats.org/officeDocument/2006/relationships/extended-properties" Target="/docProps/app.xml" Id="Rd5b6adfc50ad4f2d" /><Relationship Type="http://schemas.openxmlformats.org/officeDocument/2006/relationships/officeDocument" Target="/ppt/presentation.xml" Id="Rdc12f0b5b75c40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21e20cff094662"/>
  </p:sldMasterIdLst>
  <p:notesMasterIdLst>
    <p:notesMasterId xmlns:r="http://schemas.openxmlformats.org/officeDocument/2006/relationships" r:id="R60e90aab97a842b2"/>
  </p:notesMasterIdLst>
  <p:sldIdLst>
    <p:sldId xmlns:r="http://schemas.openxmlformats.org/officeDocument/2006/relationships" id="256" r:id="R5571284c28e441ff"/>
    <p:sldId xmlns:r="http://schemas.openxmlformats.org/officeDocument/2006/relationships" id="257" r:id="Re039f19350804fda"/>
    <p:sldId xmlns:r="http://schemas.openxmlformats.org/officeDocument/2006/relationships" id="258" r:id="R23ededeb99df41e4"/>
    <p:sldId xmlns:r="http://schemas.openxmlformats.org/officeDocument/2006/relationships" id="259" r:id="R2ae65a8ffe4340f5"/>
    <p:sldId xmlns:r="http://schemas.openxmlformats.org/officeDocument/2006/relationships" id="260" r:id="Rfc53eab6acdd42e1"/>
    <p:sldId xmlns:r="http://schemas.openxmlformats.org/officeDocument/2006/relationships" id="261" r:id="Ra4ef85b0f9354f6d"/>
    <p:sldId xmlns:r="http://schemas.openxmlformats.org/officeDocument/2006/relationships" id="262" r:id="R3309b9958d254cf2"/>
    <p:sldId xmlns:r="http://schemas.openxmlformats.org/officeDocument/2006/relationships" id="263" r:id="R923adc92068c4016"/>
    <p:sldId xmlns:r="http://schemas.openxmlformats.org/officeDocument/2006/relationships" id="264" r:id="R032d5bff23ca4d21"/>
    <p:sldId xmlns:r="http://schemas.openxmlformats.org/officeDocument/2006/relationships" id="265" r:id="Rd75c53952ec2494e"/>
    <p:sldId xmlns:r="http://schemas.openxmlformats.org/officeDocument/2006/relationships" id="266" r:id="R1c696cf5b3524b2a"/>
    <p:sldId xmlns:r="http://schemas.openxmlformats.org/officeDocument/2006/relationships" id="267" r:id="R34384347b3634870"/>
    <p:sldId xmlns:r="http://schemas.openxmlformats.org/officeDocument/2006/relationships" id="268" r:id="Rcddfd972acd6481c"/>
    <p:sldId xmlns:r="http://schemas.openxmlformats.org/officeDocument/2006/relationships" id="269" r:id="R74c5251f1b144d7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ae5992922f4910" /><Relationship Type="http://schemas.openxmlformats.org/officeDocument/2006/relationships/slideMaster" Target="/ppt/slideMasters/slideMaster1.xml" Id="Ref21e20cff094662" /><Relationship Type="http://schemas.openxmlformats.org/officeDocument/2006/relationships/notesMaster" Target="/ppt/notesMasters/notesMaster1.xml" Id="R60e90aab97a842b2" /><Relationship Type="http://schemas.openxmlformats.org/officeDocument/2006/relationships/presProps" Target="/ppt/presProps.xml" Id="R470b1166b93c4917" /><Relationship Type="http://schemas.openxmlformats.org/officeDocument/2006/relationships/tableStyles" Target="/ppt/tableStyles.xml" Id="R38be8df590e14d4a" /><Relationship Type="http://schemas.openxmlformats.org/officeDocument/2006/relationships/slide" Target="/ppt/slides/slide1.xml" Id="R5571284c28e441ff" /><Relationship Type="http://schemas.openxmlformats.org/officeDocument/2006/relationships/slide" Target="/ppt/slides/slide2.xml" Id="Re039f19350804fda" /><Relationship Type="http://schemas.openxmlformats.org/officeDocument/2006/relationships/slide" Target="/ppt/slides/slide3.xml" Id="R23ededeb99df41e4" /><Relationship Type="http://schemas.openxmlformats.org/officeDocument/2006/relationships/slide" Target="/ppt/slides/slide4.xml" Id="R2ae65a8ffe4340f5" /><Relationship Type="http://schemas.openxmlformats.org/officeDocument/2006/relationships/slide" Target="/ppt/slides/slide5.xml" Id="Rfc53eab6acdd42e1" /><Relationship Type="http://schemas.openxmlformats.org/officeDocument/2006/relationships/slide" Target="/ppt/slides/slide6.xml" Id="Ra4ef85b0f9354f6d" /><Relationship Type="http://schemas.openxmlformats.org/officeDocument/2006/relationships/slide" Target="/ppt/slides/slide7.xml" Id="R3309b9958d254cf2" /><Relationship Type="http://schemas.openxmlformats.org/officeDocument/2006/relationships/slide" Target="/ppt/slides/slide8.xml" Id="R923adc92068c4016" /><Relationship Type="http://schemas.openxmlformats.org/officeDocument/2006/relationships/slide" Target="/ppt/slides/slide9.xml" Id="R032d5bff23ca4d21" /><Relationship Type="http://schemas.openxmlformats.org/officeDocument/2006/relationships/slide" Target="/ppt/slides/slide10.xml" Id="Rd75c53952ec2494e" /><Relationship Type="http://schemas.openxmlformats.org/officeDocument/2006/relationships/slide" Target="/ppt/slides/slide11.xml" Id="R1c696cf5b3524b2a" /><Relationship Type="http://schemas.openxmlformats.org/officeDocument/2006/relationships/slide" Target="/ppt/slides/slide12.xml" Id="R34384347b3634870" /><Relationship Type="http://schemas.openxmlformats.org/officeDocument/2006/relationships/slide" Target="/ppt/slides/slide13.xml" Id="Rcddfd972acd6481c" /><Relationship Type="http://schemas.openxmlformats.org/officeDocument/2006/relationships/slide" Target="/ppt/slides/slide14.xml" Id="R74c5251f1b144d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64cd8738eb40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92780d074244df" /><Relationship Type="http://schemas.openxmlformats.org/officeDocument/2006/relationships/notesMaster" Target="/ppt/notesMasters/notesMaster1.xml" Id="R31be411e0f4346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77e7a33e594691" /><Relationship Type="http://schemas.openxmlformats.org/officeDocument/2006/relationships/notesMaster" Target="/ppt/notesMasters/notesMaster1.xml" Id="R3f3c5f0df9c149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85957ac9f74b0d" /><Relationship Type="http://schemas.openxmlformats.org/officeDocument/2006/relationships/notesMaster" Target="/ppt/notesMasters/notesMaster1.xml" Id="Raf049826453d48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bfb519fded4823" /><Relationship Type="http://schemas.openxmlformats.org/officeDocument/2006/relationships/notesMaster" Target="/ppt/notesMasters/notesMaster1.xml" Id="Rf31b0a8ce90845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61ee20151b45a5" /><Relationship Type="http://schemas.openxmlformats.org/officeDocument/2006/relationships/notesMaster" Target="/ppt/notesMasters/notesMaster1.xml" Id="Re3a316ecdbd04e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443fbfc24644bf" /><Relationship Type="http://schemas.openxmlformats.org/officeDocument/2006/relationships/notesMaster" Target="/ppt/notesMasters/notesMaster1.xml" Id="R45a57b193c694e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4160a9440745c0" /><Relationship Type="http://schemas.openxmlformats.org/officeDocument/2006/relationships/notesMaster" Target="/ppt/notesMasters/notesMaster1.xml" Id="Ra67e37d3549f43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c7620a904942e0" /><Relationship Type="http://schemas.openxmlformats.org/officeDocument/2006/relationships/notesMaster" Target="/ppt/notesMasters/notesMaster1.xml" Id="Rec8d50fcd00f47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43361c84b14fc5" /><Relationship Type="http://schemas.openxmlformats.org/officeDocument/2006/relationships/notesMaster" Target="/ppt/notesMasters/notesMaster1.xml" Id="Rdba34cc617f342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d30d9e3e9848e9" /><Relationship Type="http://schemas.openxmlformats.org/officeDocument/2006/relationships/notesMaster" Target="/ppt/notesMasters/notesMaster1.xml" Id="R2a6fc6bf892647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0843b934714b02" /><Relationship Type="http://schemas.openxmlformats.org/officeDocument/2006/relationships/notesMaster" Target="/ppt/notesMasters/notesMaster1.xml" Id="R7348f14d4c414e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d50a2c60cb4866" /><Relationship Type="http://schemas.openxmlformats.org/officeDocument/2006/relationships/notesMaster" Target="/ppt/notesMasters/notesMaster1.xml" Id="R22d42201821441c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28897e00c34b4d" /><Relationship Type="http://schemas.openxmlformats.org/officeDocument/2006/relationships/notesMaster" Target="/ppt/notesMasters/notesMaster1.xml" Id="Re031452c765140f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f5cfbc2f89b4da0" /><Relationship Type="http://schemas.openxmlformats.org/officeDocument/2006/relationships/notesMaster" Target="/ppt/notesMasters/notesMaster1.xml" Id="R7e9c326235d247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建议时长：2 分钟</a:t>
            </a:r>
          </a:p>
          <a:p xmlns:a="http://schemas.openxmlformats.org/drawingml/2006/main">
            <a:r>
              <a:t>讲师提示：这是综合课，不重复解释每个框架概念，而是验证它们如何在真实业务流程中协作。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D:\Git\0.KH.WMS\docs\backend\后端开发指引V3教程\12-结合源码的后端深度走读.md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讲师提示：提醒听众不要一次打开所有文件，只沿业务动作和状态变化走读。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D:\Git\0.KH.WMS\docs\backend\后端开发指引V3教程\12-结合源码的后端深度走读.md</a:t>
            </a:r>
          </a:p>
          <a:p xmlns:a="http://schemas.openxmlformats.org/drawingml/2006/main">
            <a:r>
              <a:t>- D:\Git\0.KH.WMS\docs\backend\后端开发指引V3教程\B-开发检查清单.md</a:t>
            </a:r>
          </a:p>
          <a:p xmlns:a="http://schemas.openxmlformats.org/drawingml/2006/main">
            <a:r>
              <a:t>- D:\Git\0.KH.WMS\docs\backend\后端开发指引V3教程\C-常见坑.md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讲师提示：综合课以第三条主线为重点；前两条用于判断入口和底层执行方式。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D:\Git\0.KH.WMS\docs\backend\后端开发指引V3教程\12-结合源码的后端深度走读.md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 分钟</a:t>
            </a:r>
          </a:p>
          <a:p xmlns:a="http://schemas.openxmlformats.org/drawingml/2006/main">
            <a:r>
              <a:t>讲师提示：走读时每一步都问：输入状态、写哪些表、调用哪个 Contract、失败如何回滚。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D:\Git\0.KH.WMS\docs\backend\后端开发指引V3教程\12-结合源码的后端深度走读.md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讲师提示：以文档中的 ContainerBindService.ContainerBindAsync 为入口，实际字段和条件在 IDE 中逐项确认。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D:\Git\0.KH.WMS\docs\backend\后端开发指引V3教程\12-结合源码的后端深度走读.md</a:t>
            </a:r>
          </a:p>
          <a:p xmlns:a="http://schemas.openxmlformats.org/drawingml/2006/main">
            <a:r>
              <a:t>- D:\Git\0.KH.WMS\docs\backend\后端底层概念\11-可插拔校验器.md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 分钟</a:t>
            </a:r>
          </a:p>
          <a:p xmlns:a="http://schemas.openxmlformats.org/drawingml/2006/main">
            <a:r>
              <a:t>讲师提示：强调入库模块提出业务目标，策略引擎负责决策，任务模块负责执行能力。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D:\Git\0.KH.WMS\docs\backend\后端开发指引V3教程\12-结合源码的后端深度走读.md</a:t>
            </a:r>
          </a:p>
          <a:p xmlns:a="http://schemas.openxmlformats.org/drawingml/2006/main">
            <a:r>
              <a:t>- D:\Git\0.KH.WMS\docs\backend\后端底层概念\14-策略算法底座.md</a:t>
            </a:r>
          </a:p>
          <a:p xmlns:a="http://schemas.openxmlformats.org/drawingml/2006/main">
            <a:r>
              <a:t>- D:\Git\0.KH.WMS\docs\backend\后端底层概念\09-跨模块Contract契约.md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 分钟</a:t>
            </a:r>
          </a:p>
          <a:p xmlns:a="http://schemas.openxmlformats.org/drawingml/2006/main">
            <a:r>
              <a:t>讲师提示：结合更新锁、条件更新或状态复核说明幂等；不能用限流替代。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D:\Git\0.KH.WMS\docs\backend\后端开发指引V3教程\12-结合源码的后端深度走读.md</a:t>
            </a:r>
          </a:p>
          <a:p xmlns:a="http://schemas.openxmlformats.org/drawingml/2006/main">
            <a:r>
              <a:t>- D:\Git\0.KH.WMS\docs\backend\后端开发指引V3教程\C-常见坑.md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 分钟</a:t>
            </a:r>
          </a:p>
          <a:p xmlns:a="http://schemas.openxmlformats.org/drawingml/2006/main">
            <a:r>
              <a:t>讲师提示：指出分配与任务是两个边界：一个决定用哪份库存，一个决定如何执行。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D:\Git\0.KH.WMS\docs\backend\后端开发指引V3教程\12-结合源码的后端深度走读.md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 分钟</a:t>
            </a:r>
          </a:p>
          <a:p xmlns:a="http://schemas.openxmlformats.org/drawingml/2006/main">
            <a:r>
              <a:t>讲师提示：库存数量不能由出库模块直接改表，应通过 Inventory Contract 保持规则和流水完整。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D:\Git\0.KH.WMS\docs\backend\后端开发指引V3教程\12-结合源码的后端深度走读.md</a:t>
            </a:r>
          </a:p>
          <a:p xmlns:a="http://schemas.openxmlformats.org/drawingml/2006/main">
            <a:r>
              <a:t>- D:\Git\0.KH.WMS\docs\backend\后端底层概念\09-跨模块Contract契约.md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讲师提示：任务编码、状态和存储属于 Task 模块，出库模块不应复制任务内部维护。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D:\Git\0.KH.WMS\docs\backend\后端开发指引V3教程\12-结合源码的后端深度走读.md</a:t>
            </a:r>
          </a:p>
          <a:p xmlns:a="http://schemas.openxmlformats.org/drawingml/2006/main">
            <a:r>
              <a:t>- D:\Git\0.KH.WMS\docs\backend\后端底层概念\12-编码规则与单据状态.md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讲师提示：用不一致反例说明为什么事务边界必须覆盖 Contract 调用和状态推进。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D:\Git\0.KH.WMS\docs\backend\后端开发指引V3教程\12-结合源码的后端深度走读.md</a:t>
            </a:r>
          </a:p>
          <a:p xmlns:a="http://schemas.openxmlformats.org/drawingml/2006/main">
            <a:r>
              <a:t>- D:\Git\0.KH.WMS\docs\backend\后端底层概念\06-数据访问仓储与事务边界.md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讲师提示：三者缺一会出现不同问题：依赖混乱、数据不一致或算法硬编码。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D:\Git\0.KH.WMS\docs\backend\后端开发指引V3教程\12-结合源码的后端深度走读.md</a:t>
            </a:r>
          </a:p>
          <a:p xmlns:a="http://schemas.openxmlformats.org/drawingml/2006/main">
            <a:r>
              <a:t>- D:\Git\0.KH.WMS\docs\backend\后端底层概念\09-跨模块Contract契约.md</a:t>
            </a:r>
          </a:p>
          <a:p xmlns:a="http://schemas.openxmlformats.org/drawingml/2006/main">
            <a:r>
              <a:t>- D:\Git\0.KH.WMS\docs\backend\后端底层概念\14-策略算法底座.md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 分钟</a:t>
            </a:r>
          </a:p>
          <a:p xmlns:a="http://schemas.openxmlformats.org/drawingml/2006/main">
            <a:r>
              <a:t>讲师提示：让成员先用症状定位业务动作，再沿调用关系向外扩展，不从整个仓库盲搜。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D:\Git\0.KH.WMS\docs\backend\后端开发指引V3教程\12-结合源码的后端深度走读.md</a:t>
            </a:r>
          </a:p>
          <a:p xmlns:a="http://schemas.openxmlformats.org/drawingml/2006/main">
            <a:r>
              <a:t>- D:\Git\0.KH.WMS\docs\backend\后端开发指引V3教程\C-常见坑.md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建议时长：10 分钟（含课程答疑）</a:t>
            </a:r>
          </a:p>
          <a:p xmlns:a="http://schemas.openxmlformats.org/drawingml/2006/main">
            <a:r>
              <a:t>讲师提示：用最后十分钟让成员选择入库或出库链现场复述；答案不完整时回到三条主线定位。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D:\Git\0.KH.WMS\docs\backend\后端开发指引V3教程\12-结合源码的后端深度走读.md</a:t>
            </a:r>
          </a:p>
          <a:p xmlns:a="http://schemas.openxmlformats.org/drawingml/2006/main">
            <a:r>
              <a:t>- D:\Git\0.KH.WMS\docs\backend\后端开发指引V3教程\B-开发检查清单.md</a:t>
            </a:r>
          </a:p>
          <a:p xmlns:a="http://schemas.openxmlformats.org/drawingml/2006/main">
            <a:r>
              <a:t>- D:\Git\0.KH.WMS\docs\backend\后端开发指引V3教程\C-常见坑.md</a:t>
            </a:r>
          </a:p>
          <a:p xmlns:a="http://schemas.openxmlformats.org/drawingml/2006/main">
            <a:r>
              <a:t>小测参考答案：1. 策略选择目标，任务 Contract 创建可执行任务，流程 Service 的事务保证订单与任务状态一致。2. 库存模块拥有库存规则、并发语义和流水，外部必须通过 IInventoryContract。3. 在任务完成业务入口、状态复核和实际副作用之前。4. 从 AllocateAsync 的库存选择与原子锁定主线开始，再追策略、Contract 和事务。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cb7d8e9a7f49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99e16e0fe14d7a" /><Relationship Type="http://schemas.openxmlformats.org/officeDocument/2006/relationships/slideLayout" Target="/ppt/slideLayouts/slideLayout1.xml" Id="Rc33428d06ca344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3428d06ca344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a326695224f1b" /><Relationship Type="http://schemas.openxmlformats.org/officeDocument/2006/relationships/notesSlide" Target="/ppt/notesSlides/notesSlide1.xml" Id="Rf6acdc39b3f848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dff8e58564c5b" /><Relationship Type="http://schemas.openxmlformats.org/officeDocument/2006/relationships/notesSlide" Target="/ppt/notesSlides/notesSlide2.xml" Id="R520ad65b38894a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10e8ccf1a4bc2" /><Relationship Type="http://schemas.openxmlformats.org/officeDocument/2006/relationships/notesSlide" Target="/ppt/notesSlides/notesSlide3.xml" Id="Rdd2c491a0c8844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051d9ec54472f" /><Relationship Type="http://schemas.openxmlformats.org/officeDocument/2006/relationships/notesSlide" Target="/ppt/notesSlides/notesSlide4.xml" Id="R4162040b715b4b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01f4207794208" /><Relationship Type="http://schemas.openxmlformats.org/officeDocument/2006/relationships/notesSlide" Target="/ppt/notesSlides/notesSlide5.xml" Id="Re270a5143dd74e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40127196a4740" /><Relationship Type="http://schemas.openxmlformats.org/officeDocument/2006/relationships/notesSlide" Target="/ppt/notesSlides/notesSlide6.xml" Id="Rf3667b69f5e244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f60849b6e45cf" /><Relationship Type="http://schemas.openxmlformats.org/officeDocument/2006/relationships/notesSlide" Target="/ppt/notesSlides/notesSlide7.xml" Id="Rd3d79571ccb843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b6ffd4fad48db" /><Relationship Type="http://schemas.openxmlformats.org/officeDocument/2006/relationships/notesSlide" Target="/ppt/notesSlides/notesSlide8.xml" Id="R6a99beb7a7fb4b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633fb65da4746" /><Relationship Type="http://schemas.openxmlformats.org/officeDocument/2006/relationships/notesSlide" Target="/ppt/notesSlides/notesSlide9.xml" Id="Re2d9a26f506b4a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a9a5cdf1e4107" /><Relationship Type="http://schemas.openxmlformats.org/officeDocument/2006/relationships/notesSlide" Target="/ppt/notesSlides/notesSlide10.xml" Id="R1b6951dee7994b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e06d842884339" /><Relationship Type="http://schemas.openxmlformats.org/officeDocument/2006/relationships/notesSlide" Target="/ppt/notesSlides/notesSlide11.xml" Id="R4e5d76776ce546b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a55f5a9024371" /><Relationship Type="http://schemas.openxmlformats.org/officeDocument/2006/relationships/notesSlide" Target="/ppt/notesSlides/notesSlide12.xml" Id="R299e5611fdb3464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14017889284293" /><Relationship Type="http://schemas.openxmlformats.org/officeDocument/2006/relationships/notesSlide" Target="/ppt/notesSlides/notesSlide13.xml" Id="R9910be06f842419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9eb6323ab4f88" /><Relationship Type="http://schemas.openxmlformats.org/officeDocument/2006/relationships/notesSlide" Target="/ppt/notesSlides/notesSlide14.xml" Id="R6d3c2ea7e6084a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0DD2831C-F9ED-4D4C-A3BE-F4E6CE92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47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KH.WMS 后端培训系列  ·  09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72038056-D6AB-43CA-8B2E-5D10DD33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12776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WMS 核心业务源码走读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7DE5F06-EBF5-4B19-8E1E-193652A7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E6D1D707-1A60-4312-9DE3-D571BEAC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723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把启动、CRUD、Contract、事务与策略放回真实入出库链路</a:t>
            </a:r>
          </a:p>
        </p:txBody>
      </p:sp>
      <p:sp>
        <p:nvSpPr>
          <p:cNvPr id="5" name="audience">
            <a:extLst xmlns:a="http://schemas.openxmlformats.org/drawingml/2006/main">
              <a:ext uri="{FF2B5EF4-FFF2-40B4-BE49-F238E27FC236}">
                <a16:creationId xmlns:a16="http://schemas.microsoft.com/office/drawing/2014/main" id="{11BF14C3-D30B-4CDF-9325-72F5F4D9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面向：后端新人及已有项目经验成员</a:t>
            </a:r>
          </a:p>
        </p:txBody>
      </p:sp>
    </p:spTree>
    <p:extLst>
      <p:ext uri="{BB962C8B-B14F-4D97-AF65-F5344CB8AC3E}">
        <p14:creationId xmlns:p14="http://schemas.microsoft.com/office/powerpoint/2010/main" val="4361463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22972B-25A7-4C07-A190-DC343065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本次培训讲哪些知识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E2578437-9B72-4CA9-91D6-BB6260E5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2BCBC587-57FE-45BF-A3CA-FE9ADDA4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09 · WMS 源码走读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55F93C6-94F2-47C3-8C97-6A141A7B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14</a:t>
            </a:r>
          </a:p>
        </p:txBody>
      </p:sp>
      <p:sp>
        <p:nvSpPr>
          <p:cNvPr id="5" name="scope-band-0">
            <a:extLst xmlns:a="http://schemas.openxmlformats.org/drawingml/2006/main">
              <a:ext uri="{FF2B5EF4-FFF2-40B4-BE49-F238E27FC236}">
                <a16:creationId xmlns:a16="http://schemas.microsoft.com/office/drawing/2014/main" id="{77C0C531-3639-425B-9E02-9E13C86E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3581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6" name="scope-label-0">
            <a:extLst xmlns:a="http://schemas.openxmlformats.org/drawingml/2006/main">
              <a:ext uri="{FF2B5EF4-FFF2-40B4-BE49-F238E27FC236}">
                <a16:creationId xmlns:a16="http://schemas.microsoft.com/office/drawing/2014/main" id="{FE757280-297E-42A8-A3F9-155A11B5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0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知识范围</a:t>
            </a:r>
          </a:p>
        </p:txBody>
      </p:sp>
      <p:sp>
        <p:nvSpPr>
          <p:cNvPr id="7" name="scope-body-0">
            <a:extLst xmlns:a="http://schemas.openxmlformats.org/drawingml/2006/main">
              <a:ext uri="{FF2B5EF4-FFF2-40B4-BE49-F238E27FC236}">
                <a16:creationId xmlns:a16="http://schemas.microsoft.com/office/drawing/2014/main" id="{6B6EC4EE-4645-42DA-9874-3081ADEC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35052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启动、CRUD、业务流程三条源码主线
• 入库组盘、请求上架和任务完成
• 出库分配、任务生成和拣货完成
• Contract、事务、策略、并发幂等与综合排障</a:t>
            </a:r>
          </a:p>
        </p:txBody>
      </p:sp>
      <p:sp>
        <p:nvSpPr>
          <p:cNvPr id="8" name="scope-band-1">
            <a:extLst xmlns:a="http://schemas.openxmlformats.org/drawingml/2006/main">
              <a:ext uri="{FF2B5EF4-FFF2-40B4-BE49-F238E27FC236}">
                <a16:creationId xmlns:a16="http://schemas.microsoft.com/office/drawing/2014/main" id="{0F7E0B3B-F36E-435F-8F2A-598B5B28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66850"/>
            <a:ext cx="3581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9" name="scope-label-1">
            <a:extLst xmlns:a="http://schemas.openxmlformats.org/drawingml/2006/main">
              <a:ext uri="{FF2B5EF4-FFF2-40B4-BE49-F238E27FC236}">
                <a16:creationId xmlns:a16="http://schemas.microsoft.com/office/drawing/2014/main" id="{0FE79ABE-E028-4569-B683-223425F8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19250"/>
            <a:ext cx="320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前置知识</a:t>
            </a:r>
          </a:p>
        </p:txBody>
      </p:sp>
      <p:sp>
        <p:nvSpPr>
          <p:cNvPr id="10" name="scope-body-1">
            <a:extLst xmlns:a="http://schemas.openxmlformats.org/drawingml/2006/main">
              <a:ext uri="{FF2B5EF4-FFF2-40B4-BE49-F238E27FC236}">
                <a16:creationId xmlns:a16="http://schemas.microsoft.com/office/drawing/2014/main" id="{18DFEBDF-3242-48A7-8E70-0D68922C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35052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完成前 8 讲或具备等价项目经验
• 理解入库、出库、任务与库存基础业务
• 能使用 IDE 跳转定义和调用方</a:t>
            </a:r>
          </a:p>
        </p:txBody>
      </p:sp>
      <p:sp>
        <p:nvSpPr>
          <p:cNvPr id="11" name="scope-band-2">
            <a:extLst xmlns:a="http://schemas.openxmlformats.org/drawingml/2006/main">
              <a:ext uri="{FF2B5EF4-FFF2-40B4-BE49-F238E27FC236}">
                <a16:creationId xmlns:a16="http://schemas.microsoft.com/office/drawing/2014/main" id="{BF009F5A-7239-4331-86AD-F992A184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66850"/>
            <a:ext cx="3581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1"/>
          </a:solidFill>
          <a:ln xmlns:a="http://schemas.openxmlformats.org/drawingml/2006/main" w="0">
            <a:solidFill>
              <a:srgbClr val="EEF7F1"/>
            </a:solidFill>
            <a:prstDash val="solid"/>
          </a:ln>
        </p:spPr>
      </p:sp>
      <p:sp>
        <p:nvSpPr>
          <p:cNvPr id="12" name="scope-label-2">
            <a:extLst xmlns:a="http://schemas.openxmlformats.org/drawingml/2006/main">
              <a:ext uri="{FF2B5EF4-FFF2-40B4-BE49-F238E27FC236}">
                <a16:creationId xmlns:a16="http://schemas.microsoft.com/office/drawing/2014/main" id="{61572D6A-236F-4D84-83C6-E3639E46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19250"/>
            <a:ext cx="320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学完应会</a:t>
            </a:r>
          </a:p>
        </p:txBody>
      </p:sp>
      <p:sp>
        <p:nvSpPr>
          <p:cNvPr id="13" name="scope-body-2">
            <a:extLst xmlns:a="http://schemas.openxmlformats.org/drawingml/2006/main">
              <a:ext uri="{FF2B5EF4-FFF2-40B4-BE49-F238E27FC236}">
                <a16:creationId xmlns:a16="http://schemas.microsoft.com/office/drawing/2014/main" id="{7CCE9097-9027-4791-835F-27DD6C38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5052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• 能沿真实方法追踪跨模块调用
• 能说清每个边界由哪个模块负责
• 能识别事务、策略和状态复核位置
• 能从现象反推优先阅读的源码位置</a:t>
            </a:r>
          </a:p>
        </p:txBody>
      </p:sp>
    </p:spTree>
    <p:extLst>
      <p:ext uri="{BB962C8B-B14F-4D97-AF65-F5344CB8AC3E}">
        <p14:creationId xmlns:p14="http://schemas.microsoft.com/office/powerpoint/2010/main" val="6876691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7A6FE8-7C01-4235-A938-9CF8264E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源码走读只抓三条主线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D6EE3907-985E-4D9F-8013-806917BE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7F95B197-F42B-44C3-9850-7DB43154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09 · WMS 源码走读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14BF490-A9D2-44DC-A21D-BB37843D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14</a:t>
            </a:r>
          </a:p>
        </p:txBody>
      </p:sp>
      <p:sp>
        <p:nvSpPr>
          <p:cNvPr id="5" name="column-title-0">
            <a:extLst xmlns:a="http://schemas.openxmlformats.org/drawingml/2006/main">
              <a:ext uri="{FF2B5EF4-FFF2-40B4-BE49-F238E27FC236}">
                <a16:creationId xmlns:a16="http://schemas.microsoft.com/office/drawing/2014/main" id="{BF63BC3C-75AA-4869-85B1-D70350D8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35687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启动主线</a:t>
            </a:r>
          </a:p>
        </p:txBody>
      </p:sp>
      <p:sp>
        <p:nvSpPr>
          <p:cNvPr id="6" name="column-body-0">
            <a:extLst xmlns:a="http://schemas.openxmlformats.org/drawingml/2006/main">
              <a:ext uri="{FF2B5EF4-FFF2-40B4-BE49-F238E27FC236}">
                <a16:creationId xmlns:a16="http://schemas.microsoft.com/office/drawing/2014/main" id="{180CFA79-A32B-48E2-B5FA-4DB89994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3568700" cy="30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Program → AddInfrastructure → 程序集扫描 → 请求管道。回答“代码为什么能运行”。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307F83EA-F066-47F6-8B87-E0DAC363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8775" y="1619250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column-title-1">
            <a:extLst xmlns:a="http://schemas.openxmlformats.org/drawingml/2006/main">
              <a:ext uri="{FF2B5EF4-FFF2-40B4-BE49-F238E27FC236}">
                <a16:creationId xmlns:a16="http://schemas.microsoft.com/office/drawing/2014/main" id="{8DB09C00-B7BE-4E43-A175-8A39BED1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1619250"/>
            <a:ext cx="35687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CRUD 主线</a:t>
            </a:r>
          </a:p>
        </p:txBody>
      </p:sp>
      <p:sp>
        <p:nvSpPr>
          <p:cNvPr id="9" name="column-body-1">
            <a:extLst xmlns:a="http://schemas.openxmlformats.org/drawingml/2006/main">
              <a:ext uri="{FF2B5EF4-FFF2-40B4-BE49-F238E27FC236}">
                <a16:creationId xmlns:a16="http://schemas.microsoft.com/office/drawing/2014/main" id="{1F25DE54-7C8F-4C82-B12E-34198B07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514600"/>
            <a:ext cx="3568700" cy="30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Controller → 代理 → CrudService → Repository → UnitOfWork。回答“普通维护怎样落库”。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5AE30274-C4C7-4A74-8803-6DBD60FA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25" y="1619250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column-title-2">
            <a:extLst xmlns:a="http://schemas.openxmlformats.org/drawingml/2006/main">
              <a:ext uri="{FF2B5EF4-FFF2-40B4-BE49-F238E27FC236}">
                <a16:creationId xmlns:a16="http://schemas.microsoft.com/office/drawing/2014/main" id="{8ED2502D-FC27-4BA6-AFE2-BCB1BEA7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1619250"/>
            <a:ext cx="35687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业务流程主线</a:t>
            </a:r>
          </a:p>
        </p:txBody>
      </p:sp>
      <p:sp>
        <p:nvSpPr>
          <p:cNvPr id="12" name="column-body-2">
            <a:extLst xmlns:a="http://schemas.openxmlformats.org/drawingml/2006/main">
              <a:ext uri="{FF2B5EF4-FFF2-40B4-BE49-F238E27FC236}">
                <a16:creationId xmlns:a16="http://schemas.microsoft.com/office/drawing/2014/main" id="{954177C8-015F-48A6-A2A8-496AE163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2514600"/>
            <a:ext cx="3568700" cy="30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流程 Service → Contract → 策略 → 事务 → 状态复核。回答“复杂动作怎样保持一致”。</a:t>
            </a:r>
          </a:p>
        </p:txBody>
      </p:sp>
    </p:spTree>
    <p:extLst>
      <p:ext uri="{BB962C8B-B14F-4D97-AF65-F5344CB8AC3E}">
        <p14:creationId xmlns:p14="http://schemas.microsoft.com/office/powerpoint/2010/main" val="11321348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008BCA-63A2-406B-B5F4-A819D305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入库链由组盘、请求上架和上架完成串起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7F8FB8B7-C85B-4630-859F-1A5A6CD1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B94BFCBA-E9CC-4955-85A8-9D0C7227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09 · WMS 源码走读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2D96762-9E49-4A83-AF80-784D6DE0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14</a:t>
            </a:r>
          </a:p>
        </p:txBody>
      </p:sp>
      <p:sp>
        <p:nvSpPr>
          <p:cNvPr id="5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B4D126E0-0274-4737-9968-63F04A60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0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6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CB6D77CE-4CB2-4558-81CF-49010F4A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70127388-3732-40A6-827C-AA61A058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34F33434-1FBC-4351-BFDA-766DABD8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入库订单</a:t>
            </a:r>
          </a:p>
        </p:txBody>
      </p:sp>
      <p:sp>
        <p:nvSpPr>
          <p:cNvPr id="9" name="flow-body-0">
            <a:extLst xmlns:a="http://schemas.openxmlformats.org/drawingml/2006/main">
              <a:ext uri="{FF2B5EF4-FFF2-40B4-BE49-F238E27FC236}">
                <a16:creationId xmlns:a16="http://schemas.microsoft.com/office/drawing/2014/main" id="{CF3D9B18-348E-4FCD-BB01-9172E58A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提供待收货、待组盘的业务来源。</a:t>
            </a:r>
          </a:p>
        </p:txBody>
      </p:sp>
      <p:sp>
        <p:nvSpPr>
          <p:cNvPr id="10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C60B32FB-B679-4F65-9181-C6953463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83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1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7FB84B97-64EA-4813-A89F-F34BD1C8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8DA9FF07-DA1D-4054-930A-4A9CAB86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EE184A05-BD43-4C4A-954A-73B35CCE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ContainerBind
Async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86971AD1-7382-442A-AA54-1A77E08A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组盘并建立容器与入库明细关系。</a:t>
            </a:r>
          </a:p>
        </p:txBody>
      </p:sp>
      <p:sp>
        <p:nvSpPr>
          <p:cNvPr id="15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A294E62D-B281-4B0E-9750-E0D96589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136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6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8645EC17-9CAC-4852-82A2-20C891CC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1D609530-9076-4CEB-8A2E-A525B33F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5C035E30-629B-47BA-B96A-B2585197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RequestPutAway
Async</a:t>
            </a:r>
          </a:p>
        </p:txBody>
      </p:sp>
      <p:sp>
        <p:nvSpPr>
          <p:cNvPr id="19" name="flow-body-2">
            <a:extLst xmlns:a="http://schemas.openxmlformats.org/drawingml/2006/main">
              <a:ext uri="{FF2B5EF4-FFF2-40B4-BE49-F238E27FC236}">
                <a16:creationId xmlns:a16="http://schemas.microsoft.com/office/drawing/2014/main" id="{65129A35-61FC-45FA-B4E7-8574581B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调用上架策略并请求生成任务。</a:t>
            </a:r>
          </a:p>
        </p:txBody>
      </p:sp>
      <p:sp>
        <p:nvSpPr>
          <p:cNvPr id="20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0D9A1B64-EE3E-471A-B4B2-AE2322C4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89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1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6DFED87E-5CBB-4094-97DE-0892346F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D4C2164B-99D9-4B60-A07C-FE309C58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3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38F73094-F48F-40EB-98E7-83863919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任务执行</a:t>
            </a:r>
          </a:p>
        </p:txBody>
      </p:sp>
      <p:sp>
        <p:nvSpPr>
          <p:cNvPr id="24" name="flow-body-3">
            <a:extLst xmlns:a="http://schemas.openxmlformats.org/drawingml/2006/main">
              <a:ext uri="{FF2B5EF4-FFF2-40B4-BE49-F238E27FC236}">
                <a16:creationId xmlns:a16="http://schemas.microsoft.com/office/drawing/2014/main" id="{99145994-6518-40B4-95FF-850A9D59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WCS / 人工作业执行搬运。</a:t>
            </a:r>
          </a:p>
        </p:txBody>
      </p:sp>
      <p:sp>
        <p:nvSpPr>
          <p:cNvPr id="25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9DFCC523-CDBE-44C4-A639-9BE14918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F4B45336-8043-4F0C-B51B-725E123B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7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0CAEFDE2-6ED4-415F-8C7C-6CF409E1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CompleteTaskBy
WcsAsync</a:t>
            </a:r>
          </a:p>
        </p:txBody>
      </p:sp>
      <p:sp>
        <p:nvSpPr>
          <p:cNvPr id="28" name="flow-body-4">
            <a:extLst xmlns:a="http://schemas.openxmlformats.org/drawingml/2006/main">
              <a:ext uri="{FF2B5EF4-FFF2-40B4-BE49-F238E27FC236}">
                <a16:creationId xmlns:a16="http://schemas.microsoft.com/office/drawing/2014/main" id="{2A8F8874-BE2A-4348-9BE4-C188DC74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完成任务并同步库存与订单状态。</a:t>
            </a:r>
          </a:p>
        </p:txBody>
      </p:sp>
    </p:spTree>
    <p:extLst>
      <p:ext uri="{BB962C8B-B14F-4D97-AF65-F5344CB8AC3E}">
        <p14:creationId xmlns:p14="http://schemas.microsoft.com/office/powerpoint/2010/main" val="9548089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975DBE-39DB-4659-BA62-7FEADFC7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ContainerBindAsync 先守住容器和订单关系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9CD70C91-CB22-45F4-8D72-80BE2886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7F7B97A6-B633-42F8-B4CA-89E099F6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09 · WMS 源码走读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9FD8A14-CC0C-450E-8C17-9B47D4C8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14</a:t>
            </a:r>
          </a:p>
        </p:txBody>
      </p:sp>
      <p:sp>
        <p:nvSpPr>
          <p:cNvPr id="5" name="checklist-title-0">
            <a:extLst xmlns:a="http://schemas.openxmlformats.org/drawingml/2006/main">
              <a:ext uri="{FF2B5EF4-FFF2-40B4-BE49-F238E27FC236}">
                <a16:creationId xmlns:a16="http://schemas.microsoft.com/office/drawing/2014/main" id="{BD22AA4D-373E-4CC8-BDC4-7EA79A90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5143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执行前</a:t>
            </a:r>
          </a:p>
        </p:txBody>
      </p:sp>
      <p:sp>
        <p:nvSpPr>
          <p:cNvPr id="6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9A5E2420-391A-48F6-85E0-F47377BB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check-mark">
            <a:extLst xmlns:a="http://schemas.openxmlformats.org/drawingml/2006/main">
              <a:ext uri="{FF2B5EF4-FFF2-40B4-BE49-F238E27FC236}">
                <a16:creationId xmlns:a16="http://schemas.microsoft.com/office/drawing/2014/main" id="{9719916B-DAC8-4053-8598-B554CC7E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5742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8" name="check-text-0-0">
            <a:extLst xmlns:a="http://schemas.openxmlformats.org/drawingml/2006/main">
              <a:ext uri="{FF2B5EF4-FFF2-40B4-BE49-F238E27FC236}">
                <a16:creationId xmlns:a16="http://schemas.microsoft.com/office/drawing/2014/main" id="{AD055129-88D6-4C8C-B3E5-A58DEF37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请求中的容器、订单和明细存在</a:t>
            </a:r>
          </a:p>
        </p:txBody>
      </p:sp>
      <p:sp>
        <p:nvSpPr>
          <p:cNvPr id="9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A2B613F5-7FE4-447E-9FF5-94E8EB2F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check-mark">
            <a:extLst xmlns:a="http://schemas.openxmlformats.org/drawingml/2006/main">
              <a:ext uri="{FF2B5EF4-FFF2-40B4-BE49-F238E27FC236}">
                <a16:creationId xmlns:a16="http://schemas.microsoft.com/office/drawing/2014/main" id="{C730DF32-588D-44C4-9E9E-8A567E82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417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11" name="check-text-0-1">
            <a:extLst xmlns:a="http://schemas.openxmlformats.org/drawingml/2006/main">
              <a:ext uri="{FF2B5EF4-FFF2-40B4-BE49-F238E27FC236}">
                <a16:creationId xmlns:a16="http://schemas.microsoft.com/office/drawing/2014/main" id="{74084437-E412-43C4-BEFB-0100C7F5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订单和明细处于允许组盘的状态</a:t>
            </a:r>
          </a:p>
        </p:txBody>
      </p:sp>
      <p:sp>
        <p:nvSpPr>
          <p:cNvPr id="12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25A774EC-4E8A-4830-875C-CEEECC7F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check-mark">
            <a:extLst xmlns:a="http://schemas.openxmlformats.org/drawingml/2006/main">
              <a:ext uri="{FF2B5EF4-FFF2-40B4-BE49-F238E27FC236}">
                <a16:creationId xmlns:a16="http://schemas.microsoft.com/office/drawing/2014/main" id="{CB14211D-6DE2-4543-B2CF-6381A3A9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9092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14" name="check-text-0-2">
            <a:extLst xmlns:a="http://schemas.openxmlformats.org/drawingml/2006/main">
              <a:ext uri="{FF2B5EF4-FFF2-40B4-BE49-F238E27FC236}">
                <a16:creationId xmlns:a16="http://schemas.microsoft.com/office/drawing/2014/main" id="{C02E6E6D-A2B2-4DDE-9108-D17612F5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容器未被冲突业务占用</a:t>
            </a:r>
          </a:p>
        </p:txBody>
      </p:sp>
      <p:sp>
        <p:nvSpPr>
          <p:cNvPr id="15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54FAC319-79AB-406F-829E-3A342BC2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check-mark">
            <a:extLst xmlns:a="http://schemas.openxmlformats.org/drawingml/2006/main">
              <a:ext uri="{FF2B5EF4-FFF2-40B4-BE49-F238E27FC236}">
                <a16:creationId xmlns:a16="http://schemas.microsoft.com/office/drawing/2014/main" id="{148783E5-F600-4297-AFC5-3DB62480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767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17" name="check-text-0-3">
            <a:extLst xmlns:a="http://schemas.openxmlformats.org/drawingml/2006/main">
              <a:ext uri="{FF2B5EF4-FFF2-40B4-BE49-F238E27FC236}">
                <a16:creationId xmlns:a16="http://schemas.microsoft.com/office/drawing/2014/main" id="{936BAFA0-36C1-4DA1-97C3-1F95F1E0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可配置校验在合适位置执行</a:t>
            </a:r>
          </a:p>
        </p:txBody>
      </p:sp>
      <p:sp>
        <p:nvSpPr>
          <p:cNvPr id="18" name="checklist-title-1">
            <a:extLst xmlns:a="http://schemas.openxmlformats.org/drawingml/2006/main">
              <a:ext uri="{FF2B5EF4-FFF2-40B4-BE49-F238E27FC236}">
                <a16:creationId xmlns:a16="http://schemas.microsoft.com/office/drawing/2014/main" id="{DD9216E0-7D6E-4F0A-B9A4-5608E1B7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24000"/>
            <a:ext cx="5143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执行后</a:t>
            </a:r>
          </a:p>
        </p:txBody>
      </p:sp>
      <p:sp>
        <p:nvSpPr>
          <p:cNvPr id="19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9C9087C1-B30C-48F7-A5F2-66DCEE69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05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check-mark">
            <a:extLst xmlns:a="http://schemas.openxmlformats.org/drawingml/2006/main">
              <a:ext uri="{FF2B5EF4-FFF2-40B4-BE49-F238E27FC236}">
                <a16:creationId xmlns:a16="http://schemas.microsoft.com/office/drawing/2014/main" id="{A5C12F6F-BF64-44F2-979B-DA705504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5742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21" name="check-text-1-0">
            <a:extLst xmlns:a="http://schemas.openxmlformats.org/drawingml/2006/main">
              <a:ext uri="{FF2B5EF4-FFF2-40B4-BE49-F238E27FC236}">
                <a16:creationId xmlns:a16="http://schemas.microsoft.com/office/drawing/2014/main" id="{6D7E3BF1-D47B-4A3B-B581-72039C62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6695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容器与明细关系写入同一事务</a:t>
            </a:r>
          </a:p>
        </p:txBody>
      </p:sp>
      <p:sp>
        <p:nvSpPr>
          <p:cNvPr id="22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2B0F8FE8-0AF4-4B78-9128-DBF651C8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3" name="check-mark">
            <a:extLst xmlns:a="http://schemas.openxmlformats.org/drawingml/2006/main">
              <a:ext uri="{FF2B5EF4-FFF2-40B4-BE49-F238E27FC236}">
                <a16:creationId xmlns:a16="http://schemas.microsoft.com/office/drawing/2014/main" id="{92BB8F4B-E0AF-4BC2-9FD0-951F9DBA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2417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24" name="check-text-1-1">
            <a:extLst xmlns:a="http://schemas.openxmlformats.org/drawingml/2006/main">
              <a:ext uri="{FF2B5EF4-FFF2-40B4-BE49-F238E27FC236}">
                <a16:creationId xmlns:a16="http://schemas.microsoft.com/office/drawing/2014/main" id="{943C9B21-9A90-429F-9270-87DC2352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337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数量和状态变化保持一致</a:t>
            </a:r>
          </a:p>
        </p:txBody>
      </p:sp>
      <p:sp>
        <p:nvSpPr>
          <p:cNvPr id="25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95F76E60-1A58-4B50-B908-EBA10FE2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6" name="check-mark">
            <a:extLst xmlns:a="http://schemas.openxmlformats.org/drawingml/2006/main">
              <a:ext uri="{FF2B5EF4-FFF2-40B4-BE49-F238E27FC236}">
                <a16:creationId xmlns:a16="http://schemas.microsoft.com/office/drawing/2014/main" id="{F1293B18-3294-4959-95AD-7A7551F5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9092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27" name="check-text-1-2">
            <a:extLst xmlns:a="http://schemas.openxmlformats.org/drawingml/2006/main">
              <a:ext uri="{FF2B5EF4-FFF2-40B4-BE49-F238E27FC236}">
                <a16:creationId xmlns:a16="http://schemas.microsoft.com/office/drawing/2014/main" id="{FAF68052-C583-4AE5-9F6D-774DE921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0045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重复组盘请求不会产生重复关系</a:t>
            </a:r>
          </a:p>
        </p:txBody>
      </p:sp>
      <p:sp>
        <p:nvSpPr>
          <p:cNvPr id="28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BE42B779-352E-4687-B87B-73B2D028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9" name="check-mark">
            <a:extLst xmlns:a="http://schemas.openxmlformats.org/drawingml/2006/main">
              <a:ext uri="{FF2B5EF4-FFF2-40B4-BE49-F238E27FC236}">
                <a16:creationId xmlns:a16="http://schemas.microsoft.com/office/drawing/2014/main" id="{E3845D99-4303-4986-88A3-4B367623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5767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30" name="check-text-1-3">
            <a:extLst xmlns:a="http://schemas.openxmlformats.org/drawingml/2006/main">
              <a:ext uri="{FF2B5EF4-FFF2-40B4-BE49-F238E27FC236}">
                <a16:creationId xmlns:a16="http://schemas.microsoft.com/office/drawing/2014/main" id="{1A9E181A-5BAD-468C-8448-033A7C66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672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失败可通过 traceId 还原</a:t>
            </a:r>
          </a:p>
        </p:txBody>
      </p:sp>
    </p:spTree>
    <p:extLst>
      <p:ext uri="{BB962C8B-B14F-4D97-AF65-F5344CB8AC3E}">
        <p14:creationId xmlns:p14="http://schemas.microsoft.com/office/powerpoint/2010/main" val="6005247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D91FE3-F59C-4F9D-89BB-F42DB688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RequestPutAwayAsync 把策略结果转换成任务请求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E786E419-1059-4302-BA79-42BB2124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FEA28D43-A5E7-4F60-8109-70DB4623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09 · WMS 源码走读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5488BD3-B836-4824-9C9B-8E739074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06 / 14</a:t>
            </a:r>
          </a:p>
        </p:txBody>
      </p:sp>
      <p:sp>
        <p:nvSpPr>
          <p:cNvPr id="5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F5D5E45D-6F8C-4360-882B-0CAB919B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0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6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A3D7CCAD-93A2-4199-8083-C2F5C0A6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3887C84E-BF22-404F-B58D-5E397A79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128E53BD-5D87-4165-8111-543236C6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构造上架上下文</a:t>
            </a:r>
          </a:p>
        </p:txBody>
      </p:sp>
      <p:sp>
        <p:nvSpPr>
          <p:cNvPr id="9" name="flow-body-0">
            <a:extLst xmlns:a="http://schemas.openxmlformats.org/drawingml/2006/main">
              <a:ext uri="{FF2B5EF4-FFF2-40B4-BE49-F238E27FC236}">
                <a16:creationId xmlns:a16="http://schemas.microsoft.com/office/drawing/2014/main" id="{33A33D81-05E7-43F3-846A-7CC6A177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容器、物料、仓库和可用货位条件。</a:t>
            </a:r>
          </a:p>
        </p:txBody>
      </p:sp>
      <p:sp>
        <p:nvSpPr>
          <p:cNvPr id="10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7F8D3D70-5A66-4571-8CD5-FA5E1477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83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1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2887B187-DE28-43D9-AA6A-9EF6D497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44367783-72A0-4438-A6EB-4B7A522F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B550AABC-A3A7-48EF-8E22-8DDAE760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调用 IPolicyEngine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131D5955-D665-4A8B-A5D7-CC42BDAC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按配置选择上架策略或策略链。</a:t>
            </a:r>
          </a:p>
        </p:txBody>
      </p:sp>
      <p:sp>
        <p:nvSpPr>
          <p:cNvPr id="15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B60119B0-B477-4A09-B848-3BA8C1CD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136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6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B38B8491-0AE7-4305-A07C-C101DFAB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25810FDD-7FB8-4389-8311-9209CB10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20B72F54-CFAF-40BF-A170-8CD458D2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处理策略结果</a:t>
            </a:r>
          </a:p>
        </p:txBody>
      </p:sp>
      <p:sp>
        <p:nvSpPr>
          <p:cNvPr id="19" name="flow-body-2">
            <a:extLst xmlns:a="http://schemas.openxmlformats.org/drawingml/2006/main">
              <a:ext uri="{FF2B5EF4-FFF2-40B4-BE49-F238E27FC236}">
                <a16:creationId xmlns:a16="http://schemas.microsoft.com/office/drawing/2014/main" id="{5E0B9D17-B0E4-4603-9E2F-58615786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无可用结果时明确失败并保留原因。</a:t>
            </a:r>
          </a:p>
        </p:txBody>
      </p:sp>
      <p:sp>
        <p:nvSpPr>
          <p:cNvPr id="20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30D73F88-021B-41E2-870B-80CB693C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89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1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F47C0229-ED22-44CB-8A6B-E6C61562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BE7F34C6-697F-4220-A63D-E7E143BE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3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9C421DF4-92DF-43B8-ADBA-0A8C21FE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调用任务 Contract</a:t>
            </a:r>
          </a:p>
        </p:txBody>
      </p:sp>
      <p:sp>
        <p:nvSpPr>
          <p:cNvPr id="24" name="flow-body-3">
            <a:extLst xmlns:a="http://schemas.openxmlformats.org/drawingml/2006/main">
              <a:ext uri="{FF2B5EF4-FFF2-40B4-BE49-F238E27FC236}">
                <a16:creationId xmlns:a16="http://schemas.microsoft.com/office/drawing/2014/main" id="{8702A80D-E513-4E4F-B737-23DC9188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把目标位置和搬运要求交给任务模块。</a:t>
            </a:r>
          </a:p>
        </p:txBody>
      </p:sp>
      <p:sp>
        <p:nvSpPr>
          <p:cNvPr id="25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F91F49A5-D79B-4D7C-AF15-C55E63E5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383C9008-E3AF-4770-B5C6-41C881E3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7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B1370A36-A77A-4AFF-90AE-BC30AB1B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更新入库状态</a:t>
            </a:r>
          </a:p>
        </p:txBody>
      </p:sp>
      <p:sp>
        <p:nvSpPr>
          <p:cNvPr id="28" name="flow-body-4">
            <a:extLst xmlns:a="http://schemas.openxmlformats.org/drawingml/2006/main">
              <a:ext uri="{FF2B5EF4-FFF2-40B4-BE49-F238E27FC236}">
                <a16:creationId xmlns:a16="http://schemas.microsoft.com/office/drawing/2014/main" id="{B3784161-BE04-4D20-B2A2-BC0694F0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同一流程事务内推进订单 / 明细状态。</a:t>
            </a:r>
          </a:p>
        </p:txBody>
      </p:sp>
    </p:spTree>
    <p:extLst>
      <p:ext uri="{BB962C8B-B14F-4D97-AF65-F5344CB8AC3E}">
        <p14:creationId xmlns:p14="http://schemas.microsoft.com/office/powerpoint/2010/main" val="10792006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1A28CC-378B-46CD-8DD6-CDEFEE59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CompleteTaskByWcsAsync 必须按重复回调设计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4505032D-E5C0-4391-9255-644235A8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1D267549-498D-437F-B880-78E99D88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09 · WMS 源码走读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B1FCDBB-0043-4115-941A-3B9335EB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07 / 14</a:t>
            </a:r>
          </a:p>
        </p:txBody>
      </p:sp>
      <p:sp>
        <p:nvSpPr>
          <p:cNvPr id="5" name="statement">
            <a:extLst xmlns:a="http://schemas.openxmlformats.org/drawingml/2006/main">
              <a:ext uri="{FF2B5EF4-FFF2-40B4-BE49-F238E27FC236}">
                <a16:creationId xmlns:a16="http://schemas.microsoft.com/office/drawing/2014/main" id="{506F7335-2B1E-41A8-A447-3A7C071C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06680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WCS 回调可能重复到达；“已经完成”必须成为安全状态，而不是第二次副作用。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4B6A6530-4373-4DA3-9F56-F8B02FA0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statement-index-0">
            <a:extLst xmlns:a="http://schemas.openxmlformats.org/drawingml/2006/main">
              <a:ext uri="{FF2B5EF4-FFF2-40B4-BE49-F238E27FC236}">
                <a16:creationId xmlns:a16="http://schemas.microsoft.com/office/drawing/2014/main" id="{5CDC0ABA-5DCB-46DC-9117-9EE65B28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8" name="statement-point-0">
            <a:extLst xmlns:a="http://schemas.openxmlformats.org/drawingml/2006/main">
              <a:ext uri="{FF2B5EF4-FFF2-40B4-BE49-F238E27FC236}">
                <a16:creationId xmlns:a16="http://schemas.microsoft.com/office/drawing/2014/main" id="{DCAA2771-760D-4F8A-8871-B94014AF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先读取并复核任务当前状态</a:t>
            </a:r>
          </a:p>
        </p:txBody>
      </p:sp>
      <p:sp>
        <p:nvSpPr>
          <p:cNvPr id="9" name="statement-index-1">
            <a:extLst xmlns:a="http://schemas.openxmlformats.org/drawingml/2006/main">
              <a:ext uri="{FF2B5EF4-FFF2-40B4-BE49-F238E27FC236}">
                <a16:creationId xmlns:a16="http://schemas.microsoft.com/office/drawing/2014/main" id="{DB67BD27-7EC2-43F7-9F06-F72771AC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0" name="statement-point-1">
            <a:extLst xmlns:a="http://schemas.openxmlformats.org/drawingml/2006/main">
              <a:ext uri="{FF2B5EF4-FFF2-40B4-BE49-F238E27FC236}">
                <a16:creationId xmlns:a16="http://schemas.microsoft.com/office/drawing/2014/main" id="{70A427C4-FDC3-438F-A57A-866DEEC7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已完成请求安全返回或明确忽略</a:t>
            </a:r>
          </a:p>
        </p:txBody>
      </p:sp>
      <p:sp>
        <p:nvSpPr>
          <p:cNvPr id="11" name="statement-index-2">
            <a:extLst xmlns:a="http://schemas.openxmlformats.org/drawingml/2006/main">
              <a:ext uri="{FF2B5EF4-FFF2-40B4-BE49-F238E27FC236}">
                <a16:creationId xmlns:a16="http://schemas.microsoft.com/office/drawing/2014/main" id="{B8BEDD97-8B1B-4796-B218-B8886B10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2" name="statement-point-2">
            <a:extLst xmlns:a="http://schemas.openxmlformats.org/drawingml/2006/main">
              <a:ext uri="{FF2B5EF4-FFF2-40B4-BE49-F238E27FC236}">
                <a16:creationId xmlns:a16="http://schemas.microsoft.com/office/drawing/2014/main" id="{2FC2AFB0-1943-45BA-A9B4-57CF194B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库存移动与任务完成保持同一一致性边界</a:t>
            </a:r>
          </a:p>
        </p:txBody>
      </p:sp>
      <p:sp>
        <p:nvSpPr>
          <p:cNvPr id="13" name="statement-index-3">
            <a:extLst xmlns:a="http://schemas.openxmlformats.org/drawingml/2006/main">
              <a:ext uri="{FF2B5EF4-FFF2-40B4-BE49-F238E27FC236}">
                <a16:creationId xmlns:a16="http://schemas.microsoft.com/office/drawing/2014/main" id="{7DD474BC-CD70-47E1-B09B-57528FDA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4" name="statement-point-3">
            <a:extLst xmlns:a="http://schemas.openxmlformats.org/drawingml/2006/main">
              <a:ext uri="{FF2B5EF4-FFF2-40B4-BE49-F238E27FC236}">
                <a16:creationId xmlns:a16="http://schemas.microsoft.com/office/drawing/2014/main" id="{2A631A7C-BCAA-4DE6-B148-B91EB437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订单状态只在合法流转条件下推进</a:t>
            </a:r>
          </a:p>
        </p:txBody>
      </p:sp>
    </p:spTree>
    <p:extLst>
      <p:ext uri="{BB962C8B-B14F-4D97-AF65-F5344CB8AC3E}">
        <p14:creationId xmlns:p14="http://schemas.microsoft.com/office/powerpoint/2010/main" val="20291318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E95A18-C572-484B-8EEB-1298CC64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出库链从分配库存开始，而不是从拣货开始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96B85262-3AC8-4915-8170-A7D5B93D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9C645D60-2CE6-4E5E-A943-71E5EE51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09 · WMS 源码走读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3D52AEF-7E64-406E-BC3D-97D7F593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08 / 14</a:t>
            </a:r>
          </a:p>
        </p:txBody>
      </p:sp>
      <p:sp>
        <p:nvSpPr>
          <p:cNvPr id="5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AB1CB54E-018C-4D55-9277-8E155C6A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0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6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EDA98ED3-30B8-4011-8A95-E01F9819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A7D67A0C-3D3A-4510-82BB-493079CF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93F2FBF3-6064-4E24-9783-F8DE3A8C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出库订单</a:t>
            </a:r>
          </a:p>
        </p:txBody>
      </p:sp>
      <p:sp>
        <p:nvSpPr>
          <p:cNvPr id="9" name="flow-body-0">
            <a:extLst xmlns:a="http://schemas.openxmlformats.org/drawingml/2006/main">
              <a:ext uri="{FF2B5EF4-FFF2-40B4-BE49-F238E27FC236}">
                <a16:creationId xmlns:a16="http://schemas.microsoft.com/office/drawing/2014/main" id="{BC829FAA-B4EF-497F-8A0C-D69B9B1C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明确物料、数量、批次和业务约束。</a:t>
            </a:r>
          </a:p>
        </p:txBody>
      </p:sp>
      <p:sp>
        <p:nvSpPr>
          <p:cNvPr id="10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C4E84EF9-81D0-470A-8BAB-8C819BC2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83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1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3641A703-DABC-4C57-9D40-DC0987FC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98CB9ABA-B4B8-412D-8B3E-70833F74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7FC2877C-78F8-40F5-B6CF-4AAF0864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AllocateAsync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9D37E040-842D-4361-8A85-434F1BAF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通过策略选择并锁定可用库存。</a:t>
            </a:r>
          </a:p>
        </p:txBody>
      </p:sp>
      <p:sp>
        <p:nvSpPr>
          <p:cNvPr id="15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7101DF46-BFD7-4A2B-928E-E64F0C87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136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6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87949D2F-413F-44C1-962E-D668B135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89C4C783-478D-451B-B1F7-13694ED9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BA45EEB4-4CEA-43D2-BF98-029E38B5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GenerateTasks
Async</a:t>
            </a:r>
          </a:p>
        </p:txBody>
      </p:sp>
      <p:sp>
        <p:nvSpPr>
          <p:cNvPr id="19" name="flow-body-2">
            <a:extLst xmlns:a="http://schemas.openxmlformats.org/drawingml/2006/main">
              <a:ext uri="{FF2B5EF4-FFF2-40B4-BE49-F238E27FC236}">
                <a16:creationId xmlns:a16="http://schemas.microsoft.com/office/drawing/2014/main" id="{4EC169D6-CB6A-406B-999F-F0A69FEC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把分配结果转为拣货 / 搬运任务。</a:t>
            </a:r>
          </a:p>
        </p:txBody>
      </p:sp>
      <p:sp>
        <p:nvSpPr>
          <p:cNvPr id="20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F913DEDC-6945-45BC-BA2A-52B34CCA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89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1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40C60F30-8709-4947-98B5-2358FC1F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4EE59FCF-28AC-466B-9218-7880910D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3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999A901C-B8E4-40B2-B9CB-29F0E98E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任务执行</a:t>
            </a:r>
          </a:p>
        </p:txBody>
      </p:sp>
      <p:sp>
        <p:nvSpPr>
          <p:cNvPr id="24" name="flow-body-3">
            <a:extLst xmlns:a="http://schemas.openxmlformats.org/drawingml/2006/main">
              <a:ext uri="{FF2B5EF4-FFF2-40B4-BE49-F238E27FC236}">
                <a16:creationId xmlns:a16="http://schemas.microsoft.com/office/drawing/2014/main" id="{A0E23E48-74FB-4EA7-A921-319ACF9C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WCS / PDA 按任务完成实际作业。</a:t>
            </a:r>
          </a:p>
        </p:txBody>
      </p:sp>
      <p:sp>
        <p:nvSpPr>
          <p:cNvPr id="25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00761B84-7783-43EA-A5F5-6F9CB93A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46F429B1-1040-4DBB-A3FE-8720CB9F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7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1E1A0D1C-C8DB-405C-911F-3DC03212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拣货完成</a:t>
            </a:r>
          </a:p>
        </p:txBody>
      </p:sp>
      <p:sp>
        <p:nvSpPr>
          <p:cNvPr id="28" name="flow-body-4">
            <a:extLst xmlns:a="http://schemas.openxmlformats.org/drawingml/2006/main">
              <a:ext uri="{FF2B5EF4-FFF2-40B4-BE49-F238E27FC236}">
                <a16:creationId xmlns:a16="http://schemas.microsoft.com/office/drawing/2014/main" id="{A6796B64-A779-44D2-BF2F-1CDE1862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移动库存并推进任务、订单状态。</a:t>
            </a:r>
          </a:p>
        </p:txBody>
      </p:sp>
    </p:spTree>
    <p:extLst>
      <p:ext uri="{BB962C8B-B14F-4D97-AF65-F5344CB8AC3E}">
        <p14:creationId xmlns:p14="http://schemas.microsoft.com/office/powerpoint/2010/main" val="16749449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314ED1-0969-4D7F-A78C-2F850310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AllocateAsync 的核心是库存选择与原子锁定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439E4714-8374-439C-94A2-087FC201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E179EEF0-C6F4-480F-B8C6-003DDB00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09 · WMS 源码走读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666CEB1-75AE-4A26-8738-46A87272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09 / 14</a:t>
            </a:r>
          </a:p>
        </p:txBody>
      </p:sp>
      <p:sp>
        <p:nvSpPr>
          <p:cNvPr id="5" name="checklist-title-0">
            <a:extLst xmlns:a="http://schemas.openxmlformats.org/drawingml/2006/main">
              <a:ext uri="{FF2B5EF4-FFF2-40B4-BE49-F238E27FC236}">
                <a16:creationId xmlns:a16="http://schemas.microsoft.com/office/drawing/2014/main" id="{8FE35CB2-7BA7-4A17-8354-0A24967F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5143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选择库存</a:t>
            </a:r>
          </a:p>
        </p:txBody>
      </p:sp>
      <p:sp>
        <p:nvSpPr>
          <p:cNvPr id="6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7105E589-C6DF-4088-8ACE-1CAE3CC7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check-mark">
            <a:extLst xmlns:a="http://schemas.openxmlformats.org/drawingml/2006/main">
              <a:ext uri="{FF2B5EF4-FFF2-40B4-BE49-F238E27FC236}">
                <a16:creationId xmlns:a16="http://schemas.microsoft.com/office/drawing/2014/main" id="{42694F7F-4D5F-414B-90F1-2AE427DB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5742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8" name="check-text-0-0">
            <a:extLst xmlns:a="http://schemas.openxmlformats.org/drawingml/2006/main">
              <a:ext uri="{FF2B5EF4-FFF2-40B4-BE49-F238E27FC236}">
                <a16:creationId xmlns:a16="http://schemas.microsoft.com/office/drawing/2014/main" id="{F5A5FEFD-03BE-4FE5-A4C3-3EEC199A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按物料、批次、货主和状态过滤</a:t>
            </a:r>
          </a:p>
        </p:txBody>
      </p:sp>
      <p:sp>
        <p:nvSpPr>
          <p:cNvPr id="9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40C1A6F6-3513-4C3C-84C4-9E77B422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check-mark">
            <a:extLst xmlns:a="http://schemas.openxmlformats.org/drawingml/2006/main">
              <a:ext uri="{FF2B5EF4-FFF2-40B4-BE49-F238E27FC236}">
                <a16:creationId xmlns:a16="http://schemas.microsoft.com/office/drawing/2014/main" id="{A7E89A50-5F9D-46C4-8513-A2EF605E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417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11" name="check-text-0-1">
            <a:extLst xmlns:a="http://schemas.openxmlformats.org/drawingml/2006/main">
              <a:ext uri="{FF2B5EF4-FFF2-40B4-BE49-F238E27FC236}">
                <a16:creationId xmlns:a16="http://schemas.microsoft.com/office/drawing/2014/main" id="{88A465DA-CD5A-4F7A-A50C-DD498771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通过策略决定优先顺序</a:t>
            </a:r>
          </a:p>
        </p:txBody>
      </p:sp>
      <p:sp>
        <p:nvSpPr>
          <p:cNvPr id="12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E3D0F95E-AFED-434A-BC21-8E28D8EB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check-mark">
            <a:extLst xmlns:a="http://schemas.openxmlformats.org/drawingml/2006/main">
              <a:ext uri="{FF2B5EF4-FFF2-40B4-BE49-F238E27FC236}">
                <a16:creationId xmlns:a16="http://schemas.microsoft.com/office/drawing/2014/main" id="{6F604516-10DB-4148-9BC5-7DBBA7CB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9092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14" name="check-text-0-2">
            <a:extLst xmlns:a="http://schemas.openxmlformats.org/drawingml/2006/main">
              <a:ext uri="{FF2B5EF4-FFF2-40B4-BE49-F238E27FC236}">
                <a16:creationId xmlns:a16="http://schemas.microsoft.com/office/drawing/2014/main" id="{494D5BFD-E3E4-4440-AC11-11D53F1A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只选择可用且满足业务约束的库存</a:t>
            </a:r>
          </a:p>
        </p:txBody>
      </p:sp>
      <p:sp>
        <p:nvSpPr>
          <p:cNvPr id="15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A5E4CF2C-C467-4C5B-9644-E4BB8331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check-mark">
            <a:extLst xmlns:a="http://schemas.openxmlformats.org/drawingml/2006/main">
              <a:ext uri="{FF2B5EF4-FFF2-40B4-BE49-F238E27FC236}">
                <a16:creationId xmlns:a16="http://schemas.microsoft.com/office/drawing/2014/main" id="{DC9DAF14-119A-444B-A214-4CDD567B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767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17" name="check-text-0-3">
            <a:extLst xmlns:a="http://schemas.openxmlformats.org/drawingml/2006/main">
              <a:ext uri="{FF2B5EF4-FFF2-40B4-BE49-F238E27FC236}">
                <a16:creationId xmlns:a16="http://schemas.microsoft.com/office/drawing/2014/main" id="{72CBB180-D97C-4903-8F43-2BF266C2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不足时返回明确失败原因</a:t>
            </a:r>
          </a:p>
        </p:txBody>
      </p:sp>
      <p:sp>
        <p:nvSpPr>
          <p:cNvPr id="18" name="checklist-title-1">
            <a:extLst xmlns:a="http://schemas.openxmlformats.org/drawingml/2006/main">
              <a:ext uri="{FF2B5EF4-FFF2-40B4-BE49-F238E27FC236}">
                <a16:creationId xmlns:a16="http://schemas.microsoft.com/office/drawing/2014/main" id="{16A62B75-B70D-4DC2-B1B2-FC227EF5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24000"/>
            <a:ext cx="5143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锁定库存</a:t>
            </a:r>
          </a:p>
        </p:txBody>
      </p:sp>
      <p:sp>
        <p:nvSpPr>
          <p:cNvPr id="19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72DE2041-61FA-4BAE-92C4-14E64237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05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check-mark">
            <a:extLst xmlns:a="http://schemas.openxmlformats.org/drawingml/2006/main">
              <a:ext uri="{FF2B5EF4-FFF2-40B4-BE49-F238E27FC236}">
                <a16:creationId xmlns:a16="http://schemas.microsoft.com/office/drawing/2014/main" id="{5AD1BBBC-238F-4E0F-9A9B-FAF685FD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5742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21" name="check-text-1-0">
            <a:extLst xmlns:a="http://schemas.openxmlformats.org/drawingml/2006/main">
              <a:ext uri="{FF2B5EF4-FFF2-40B4-BE49-F238E27FC236}">
                <a16:creationId xmlns:a16="http://schemas.microsoft.com/office/drawing/2014/main" id="{8B70940D-3401-483A-825D-7E1001AD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6695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数量判断与锁定保持原子性</a:t>
            </a:r>
          </a:p>
        </p:txBody>
      </p:sp>
      <p:sp>
        <p:nvSpPr>
          <p:cNvPr id="22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A3E73CAE-9C93-48EB-8BAE-A7479665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3" name="check-mark">
            <a:extLst xmlns:a="http://schemas.openxmlformats.org/drawingml/2006/main">
              <a:ext uri="{FF2B5EF4-FFF2-40B4-BE49-F238E27FC236}">
                <a16:creationId xmlns:a16="http://schemas.microsoft.com/office/drawing/2014/main" id="{0075630A-D6C5-486A-A3DB-D529431C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2417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24" name="check-text-1-1">
            <a:extLst xmlns:a="http://schemas.openxmlformats.org/drawingml/2006/main">
              <a:ext uri="{FF2B5EF4-FFF2-40B4-BE49-F238E27FC236}">
                <a16:creationId xmlns:a16="http://schemas.microsoft.com/office/drawing/2014/main" id="{CEFF5769-4D4B-4758-8A99-65CA6F9F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337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并发请求不能重复占用同一库存</a:t>
            </a:r>
          </a:p>
        </p:txBody>
      </p:sp>
      <p:sp>
        <p:nvSpPr>
          <p:cNvPr id="25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5A4A476E-0399-4E89-BFE2-261F3D96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6" name="check-mark">
            <a:extLst xmlns:a="http://schemas.openxmlformats.org/drawingml/2006/main">
              <a:ext uri="{FF2B5EF4-FFF2-40B4-BE49-F238E27FC236}">
                <a16:creationId xmlns:a16="http://schemas.microsoft.com/office/drawing/2014/main" id="{372EB605-2411-41EB-AEF9-85AA1DE9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9092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27" name="check-text-1-2">
            <a:extLst xmlns:a="http://schemas.openxmlformats.org/drawingml/2006/main">
              <a:ext uri="{FF2B5EF4-FFF2-40B4-BE49-F238E27FC236}">
                <a16:creationId xmlns:a16="http://schemas.microsoft.com/office/drawing/2014/main" id="{0D0A0783-8443-47D7-9E2F-85572C2C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0045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库存流水与占用状态同步</a:t>
            </a:r>
          </a:p>
        </p:txBody>
      </p:sp>
      <p:sp>
        <p:nvSpPr>
          <p:cNvPr id="28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A20FB445-4A15-4FF5-AFFF-0A38AE75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9" name="check-mark">
            <a:extLst xmlns:a="http://schemas.openxmlformats.org/drawingml/2006/main">
              <a:ext uri="{FF2B5EF4-FFF2-40B4-BE49-F238E27FC236}">
                <a16:creationId xmlns:a16="http://schemas.microsoft.com/office/drawing/2014/main" id="{F67287E8-5516-4546-B090-63D44FA7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5767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30" name="check-text-1-3">
            <a:extLst xmlns:a="http://schemas.openxmlformats.org/drawingml/2006/main">
              <a:ext uri="{FF2B5EF4-FFF2-40B4-BE49-F238E27FC236}">
                <a16:creationId xmlns:a16="http://schemas.microsoft.com/office/drawing/2014/main" id="{B6B334E4-4C22-4A9A-A265-CBBB023C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672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事务失败后恢复一致状态</a:t>
            </a:r>
          </a:p>
        </p:txBody>
      </p:sp>
    </p:spTree>
    <p:extLst>
      <p:ext uri="{BB962C8B-B14F-4D97-AF65-F5344CB8AC3E}">
        <p14:creationId xmlns:p14="http://schemas.microsoft.com/office/powerpoint/2010/main" val="7713611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42444E-79EB-448F-BE48-A2FD8797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GenerateTasksAsync 把分配结果转换成可执行任务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3DE5D45D-93B7-4CCC-96F0-6C74E8AA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63D75EFD-4F08-4CAC-A116-512FB0C1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09 · WMS 源码走读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84D4306-1272-4F72-8335-9774E0D4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10 / 14</a:t>
            </a:r>
          </a:p>
        </p:txBody>
      </p:sp>
      <p:sp>
        <p:nvSpPr>
          <p:cNvPr id="5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4C94B50D-40ED-44AB-B994-B8DEED88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0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6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C8AD9892-D2F1-4D6E-96A2-E4B336D4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140FEAF-B4EB-4B6F-AD75-073C7FDA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50592691-3A17-492B-AA71-1FB190C5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读取分配结果</a:t>
            </a:r>
          </a:p>
        </p:txBody>
      </p:sp>
      <p:sp>
        <p:nvSpPr>
          <p:cNvPr id="9" name="flow-body-0">
            <a:extLst xmlns:a="http://schemas.openxmlformats.org/drawingml/2006/main">
              <a:ext uri="{FF2B5EF4-FFF2-40B4-BE49-F238E27FC236}">
                <a16:creationId xmlns:a16="http://schemas.microsoft.com/office/drawing/2014/main" id="{663D1BD9-DBBF-45EF-BFE7-2A8EC00E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包含库存、源位置、目标和数量。</a:t>
            </a:r>
          </a:p>
        </p:txBody>
      </p:sp>
      <p:sp>
        <p:nvSpPr>
          <p:cNvPr id="10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13C9CC30-C425-4F11-BCAC-42726092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83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1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145C3776-AECB-414D-A403-59E29A4E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2088A448-9E98-4520-A0B4-AFD7944A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BE2910B9-8316-4BB3-9A68-F34360B2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按作业规则分组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1EC13F69-7218-467E-BFE5-5815505E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确定任务头、明细和执行顺序。</a:t>
            </a:r>
          </a:p>
        </p:txBody>
      </p:sp>
      <p:sp>
        <p:nvSpPr>
          <p:cNvPr id="15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38EF0F7F-305C-4806-B139-A48051E0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136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6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7B4072A7-8A17-4A9F-9D35-6A30FC96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CD826BF0-BA35-4476-B1E5-CCF7C995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550FA48B-FB1A-4D30-B531-7ED39470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生成任务编码</a:t>
            </a:r>
          </a:p>
        </p:txBody>
      </p:sp>
      <p:sp>
        <p:nvSpPr>
          <p:cNvPr id="19" name="flow-body-2">
            <a:extLst xmlns:a="http://schemas.openxmlformats.org/drawingml/2006/main">
              <a:ext uri="{FF2B5EF4-FFF2-40B4-BE49-F238E27FC236}">
                <a16:creationId xmlns:a16="http://schemas.microsoft.com/office/drawing/2014/main" id="{DEE4EE4E-1CB8-4211-89EA-B61C617B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通过编码规则取得稳定任务号。</a:t>
            </a:r>
          </a:p>
        </p:txBody>
      </p:sp>
      <p:sp>
        <p:nvSpPr>
          <p:cNvPr id="20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817C599B-D053-48A2-8282-CDE87987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89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1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A925BCDD-9313-4B31-A98B-476DB99E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EDE22844-05C1-490C-9A5F-78A1A597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3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59D79307-4A77-4E44-9E0D-A32A1B3F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写入任务</a:t>
            </a:r>
          </a:p>
        </p:txBody>
      </p:sp>
      <p:sp>
        <p:nvSpPr>
          <p:cNvPr id="24" name="flow-body-3">
            <a:extLst xmlns:a="http://schemas.openxmlformats.org/drawingml/2006/main">
              <a:ext uri="{FF2B5EF4-FFF2-40B4-BE49-F238E27FC236}">
                <a16:creationId xmlns:a16="http://schemas.microsoft.com/office/drawing/2014/main" id="{E5066D26-CC5E-4F05-8978-B1431E91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由任务模块维护任务生命周期。</a:t>
            </a:r>
          </a:p>
        </p:txBody>
      </p:sp>
      <p:sp>
        <p:nvSpPr>
          <p:cNvPr id="25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42927882-1396-4FC9-B83E-C1AA9B92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1E6439F6-BA9A-4E7E-B5ED-659BC9C0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7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2C4FA183-3831-419B-988B-9729A866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回写业务状态</a:t>
            </a:r>
          </a:p>
        </p:txBody>
      </p:sp>
      <p:sp>
        <p:nvSpPr>
          <p:cNvPr id="28" name="flow-body-4">
            <a:extLst xmlns:a="http://schemas.openxmlformats.org/drawingml/2006/main">
              <a:ext uri="{FF2B5EF4-FFF2-40B4-BE49-F238E27FC236}">
                <a16:creationId xmlns:a16="http://schemas.microsoft.com/office/drawing/2014/main" id="{38A2EC88-8EDA-43F3-9577-445A10FD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出库流程进入已分配 / 待执行状态。</a:t>
            </a:r>
          </a:p>
        </p:txBody>
      </p:sp>
    </p:spTree>
    <p:extLst>
      <p:ext uri="{BB962C8B-B14F-4D97-AF65-F5344CB8AC3E}">
        <p14:creationId xmlns:p14="http://schemas.microsoft.com/office/powerpoint/2010/main" val="12257638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9B5149-B7C6-47FD-AD1C-342C7AD7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拣货完成必须同步任务、库存和订单状态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ED2BCF88-D192-491D-A5CE-6663B1FF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36BC87E3-B391-4BE8-987D-533690F9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09 · WMS 源码走读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A92B404-82E1-4E26-B2FD-7B9778FE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11 / 14</a:t>
            </a:r>
          </a:p>
        </p:txBody>
      </p:sp>
      <p:sp>
        <p:nvSpPr>
          <p:cNvPr id="5" name="compare-band-0">
            <a:extLst xmlns:a="http://schemas.openxmlformats.org/drawingml/2006/main">
              <a:ext uri="{FF2B5EF4-FFF2-40B4-BE49-F238E27FC236}">
                <a16:creationId xmlns:a16="http://schemas.microsoft.com/office/drawing/2014/main" id="{D0745D01-A839-420A-95FD-14282D6D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6" name="compare-title-0">
            <a:extLst xmlns:a="http://schemas.openxmlformats.org/drawingml/2006/main">
              <a:ext uri="{FF2B5EF4-FFF2-40B4-BE49-F238E27FC236}">
                <a16:creationId xmlns:a16="http://schemas.microsoft.com/office/drawing/2014/main" id="{0F914EFF-FD28-4626-AD20-104ED37D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整体成功</a:t>
            </a:r>
          </a:p>
        </p:txBody>
      </p:sp>
      <p:sp>
        <p:nvSpPr>
          <p:cNvPr id="7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4FE3355F-4C9F-485B-B0CE-C15B4BF4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43200"/>
            <a:ext cx="52578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任务状态进入完成
• 库存从源位置移动或扣减
• 库存流水完整记录
• 出库明细和订单状态按规则推进</a:t>
            </a:r>
          </a:p>
        </p:txBody>
      </p:sp>
      <p:sp>
        <p:nvSpPr>
          <p:cNvPr id="8" name="compare-band-1">
            <a:extLst xmlns:a="http://schemas.openxmlformats.org/drawingml/2006/main">
              <a:ext uri="{FF2B5EF4-FFF2-40B4-BE49-F238E27FC236}">
                <a16:creationId xmlns:a16="http://schemas.microsoft.com/office/drawing/2014/main" id="{B3F50D1D-9ED6-4D05-B99E-71B600E1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6210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9" name="compare-title-1">
            <a:extLst xmlns:a="http://schemas.openxmlformats.org/drawingml/2006/main">
              <a:ext uri="{FF2B5EF4-FFF2-40B4-BE49-F238E27FC236}">
                <a16:creationId xmlns:a16="http://schemas.microsoft.com/office/drawing/2014/main" id="{7667CEE8-1C7E-44B8-80ED-DBAE0DBF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9070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任何一步失败</a:t>
            </a:r>
          </a:p>
        </p:txBody>
      </p:sp>
      <p:sp>
        <p:nvSpPr>
          <p:cNvPr id="10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B33715D7-F145-44E0-999B-17BD9681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43200"/>
            <a:ext cx="52578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整条事务回滚或保持可重试状态
• 不能只完成任务却未移动库存
• 不能重复扣减或重复生成库存流水
• 保留 traceId 和失败上下文</a:t>
            </a:r>
          </a:p>
        </p:txBody>
      </p:sp>
    </p:spTree>
    <p:extLst>
      <p:ext uri="{BB962C8B-B14F-4D97-AF65-F5344CB8AC3E}">
        <p14:creationId xmlns:p14="http://schemas.microsoft.com/office/powerpoint/2010/main" val="4070684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FF656C-291E-4DA4-9022-931393A1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Contract、事务和策略各守一段边界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F41C3393-C719-4CA3-861E-11409A36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3D708E48-5EAC-4F61-8074-FD41D282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09 · WMS 源码走读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31E2910-0013-47FF-876E-A1A91C92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12 / 14</a:t>
            </a:r>
          </a:p>
        </p:txBody>
      </p:sp>
      <p:sp>
        <p:nvSpPr>
          <p:cNvPr id="5" name="column-title-0">
            <a:extLst xmlns:a="http://schemas.openxmlformats.org/drawingml/2006/main">
              <a:ext uri="{FF2B5EF4-FFF2-40B4-BE49-F238E27FC236}">
                <a16:creationId xmlns:a16="http://schemas.microsoft.com/office/drawing/2014/main" id="{777A72AC-ACD9-4029-A7A7-C1426E3D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35687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Contract</a:t>
            </a:r>
          </a:p>
        </p:txBody>
      </p:sp>
      <p:sp>
        <p:nvSpPr>
          <p:cNvPr id="6" name="column-body-0">
            <a:extLst xmlns:a="http://schemas.openxmlformats.org/drawingml/2006/main">
              <a:ext uri="{FF2B5EF4-FFF2-40B4-BE49-F238E27FC236}">
                <a16:creationId xmlns:a16="http://schemas.microsoft.com/office/drawing/2014/main" id="{EA1C013B-FC45-430E-BA5F-EF4FAE6E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3568700" cy="30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保证模块只通过稳定业务能力协作，不泄露内部 Service 和表结构。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0C2054EA-2570-48DD-B04A-A201A5A4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8775" y="1619250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column-title-1">
            <a:extLst xmlns:a="http://schemas.openxmlformats.org/drawingml/2006/main">
              <a:ext uri="{FF2B5EF4-FFF2-40B4-BE49-F238E27FC236}">
                <a16:creationId xmlns:a16="http://schemas.microsoft.com/office/drawing/2014/main" id="{341DBC53-D7C1-453A-B979-22BAB7FB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1619250"/>
            <a:ext cx="35687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事务</a:t>
            </a:r>
          </a:p>
        </p:txBody>
      </p:sp>
      <p:sp>
        <p:nvSpPr>
          <p:cNvPr id="9" name="column-body-1">
            <a:extLst xmlns:a="http://schemas.openxmlformats.org/drawingml/2006/main">
              <a:ext uri="{FF2B5EF4-FFF2-40B4-BE49-F238E27FC236}">
                <a16:creationId xmlns:a16="http://schemas.microsoft.com/office/drawing/2014/main" id="{6A2D9CA4-C03E-4232-862A-0259992F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514600"/>
            <a:ext cx="3568700" cy="30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保证订单、任务和库存的多次写入只有一个整体提交语义。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25B52097-FB00-48FA-8ED5-F816B33B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25" y="1619250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column-title-2">
            <a:extLst xmlns:a="http://schemas.openxmlformats.org/drawingml/2006/main">
              <a:ext uri="{FF2B5EF4-FFF2-40B4-BE49-F238E27FC236}">
                <a16:creationId xmlns:a16="http://schemas.microsoft.com/office/drawing/2014/main" id="{54D18A79-AAFC-450C-879B-89267BA3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1619250"/>
            <a:ext cx="35687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策略</a:t>
            </a:r>
          </a:p>
        </p:txBody>
      </p:sp>
      <p:sp>
        <p:nvSpPr>
          <p:cNvPr id="12" name="column-body-2">
            <a:extLst xmlns:a="http://schemas.openxmlformats.org/drawingml/2006/main">
              <a:ext uri="{FF2B5EF4-FFF2-40B4-BE49-F238E27FC236}">
                <a16:creationId xmlns:a16="http://schemas.microsoft.com/office/drawing/2014/main" id="{C67A60F9-957E-4902-81E1-7E9AD589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2514600"/>
            <a:ext cx="3568700" cy="30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把货位选择、库存分配等可替换决策从流程代码中抽离。</a:t>
            </a:r>
          </a:p>
        </p:txBody>
      </p:sp>
    </p:spTree>
    <p:extLst>
      <p:ext uri="{BB962C8B-B14F-4D97-AF65-F5344CB8AC3E}">
        <p14:creationId xmlns:p14="http://schemas.microsoft.com/office/powerpoint/2010/main" val="16555495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C1C77A-1AE8-40D7-B12A-64EBF3B6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从现象反推源码位置，比全局搜索更快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B1EF3BCB-74FB-4019-BF76-D297EDCE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F2F2ADC6-CF5B-42FE-B4DE-C8BE7392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09 · WMS 源码走读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B59E667-5838-4C10-90AD-756CB547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13 / 14</a:t>
            </a:r>
          </a:p>
        </p:txBody>
      </p:sp>
      <p:sp>
        <p:nvSpPr>
          <p:cNvPr id="5" name="matrix-header-band-0">
            <a:extLst xmlns:a="http://schemas.openxmlformats.org/drawingml/2006/main">
              <a:ext uri="{FF2B5EF4-FFF2-40B4-BE49-F238E27FC236}">
                <a16:creationId xmlns:a16="http://schemas.microsoft.com/office/drawing/2014/main" id="{100BB6C7-2D89-42F0-82B6-ACDE5DDC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3143250" cy="69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matrix-header-0">
            <a:extLst xmlns:a="http://schemas.openxmlformats.org/drawingml/2006/main">
              <a:ext uri="{FF2B5EF4-FFF2-40B4-BE49-F238E27FC236}">
                <a16:creationId xmlns:a16="http://schemas.microsoft.com/office/drawing/2014/main" id="{54B5590F-C65F-4D84-AB50-AEC3642D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28775"/>
            <a:ext cx="2914650" cy="46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现象</a:t>
            </a:r>
          </a:p>
        </p:txBody>
      </p:sp>
      <p:sp>
        <p:nvSpPr>
          <p:cNvPr id="7" name="matrix-header-band-1">
            <a:extLst xmlns:a="http://schemas.openxmlformats.org/drawingml/2006/main">
              <a:ext uri="{FF2B5EF4-FFF2-40B4-BE49-F238E27FC236}">
                <a16:creationId xmlns:a16="http://schemas.microsoft.com/office/drawing/2014/main" id="{4B75B06C-B44E-4272-B7B6-03105879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476375"/>
            <a:ext cx="3619500" cy="69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matrix-header-1">
            <a:extLst xmlns:a="http://schemas.openxmlformats.org/drawingml/2006/main">
              <a:ext uri="{FF2B5EF4-FFF2-40B4-BE49-F238E27FC236}">
                <a16:creationId xmlns:a16="http://schemas.microsoft.com/office/drawing/2014/main" id="{2883FBD9-C4F5-4A0D-8260-5D3670BC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28775"/>
            <a:ext cx="3390900" cy="46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优先入口</a:t>
            </a:r>
          </a:p>
        </p:txBody>
      </p:sp>
      <p:sp>
        <p:nvSpPr>
          <p:cNvPr id="9" name="matrix-header-band-2">
            <a:extLst xmlns:a="http://schemas.openxmlformats.org/drawingml/2006/main">
              <a:ext uri="{FF2B5EF4-FFF2-40B4-BE49-F238E27FC236}">
                <a16:creationId xmlns:a16="http://schemas.microsoft.com/office/drawing/2014/main" id="{E6A8900B-F426-43AA-BB37-014C0566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76375"/>
            <a:ext cx="4514850" cy="69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matrix-header-2">
            <a:extLst xmlns:a="http://schemas.openxmlformats.org/drawingml/2006/main">
              <a:ext uri="{FF2B5EF4-FFF2-40B4-BE49-F238E27FC236}">
                <a16:creationId xmlns:a16="http://schemas.microsoft.com/office/drawing/2014/main" id="{84FBAB1B-AEB4-4496-B69E-6A11E413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28775"/>
            <a:ext cx="4286250" cy="46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继续追踪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C99091F1-28B0-402A-99E2-144E1D9A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63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matrix-cell-0-0">
            <a:extLst xmlns:a="http://schemas.openxmlformats.org/drawingml/2006/main">
              <a:ext uri="{FF2B5EF4-FFF2-40B4-BE49-F238E27FC236}">
                <a16:creationId xmlns:a16="http://schemas.microsoft.com/office/drawing/2014/main" id="{14A6D09D-4377-476F-8336-3442EBFF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9175"/>
            <a:ext cx="29146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新接口不在 Swagger</a:t>
            </a:r>
          </a:p>
        </p:txBody>
      </p:sp>
      <p:sp>
        <p:nvSpPr>
          <p:cNvPr id="13" name="matrix-cell-0-1">
            <a:extLst xmlns:a="http://schemas.openxmlformats.org/drawingml/2006/main">
              <a:ext uri="{FF2B5EF4-FFF2-40B4-BE49-F238E27FC236}">
                <a16:creationId xmlns:a16="http://schemas.microsoft.com/office/drawing/2014/main" id="{96881A8D-CF45-499A-BE26-75032FD7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9175"/>
            <a:ext cx="33909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Program / 程序集扫描</a:t>
            </a:r>
          </a:p>
        </p:txBody>
      </p:sp>
      <p:sp>
        <p:nvSpPr>
          <p:cNvPr id="14" name="matrix-cell-0-2">
            <a:extLst xmlns:a="http://schemas.openxmlformats.org/drawingml/2006/main">
              <a:ext uri="{FF2B5EF4-FFF2-40B4-BE49-F238E27FC236}">
                <a16:creationId xmlns:a16="http://schemas.microsoft.com/office/drawing/2014/main" id="{677B775E-ACE6-4564-BE0B-F3671531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89175"/>
            <a:ext cx="42862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ApplicationPart、项目引用、构造 DI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CED62563-C59F-4471-A347-5E9BE173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matrix-cell-1-0">
            <a:extLst xmlns:a="http://schemas.openxmlformats.org/drawingml/2006/main">
              <a:ext uri="{FF2B5EF4-FFF2-40B4-BE49-F238E27FC236}">
                <a16:creationId xmlns:a16="http://schemas.microsoft.com/office/drawing/2014/main" id="{533FD4E0-9DD6-411C-82E6-3EA167FD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87675"/>
            <a:ext cx="29146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组盘校验未执行</a:t>
            </a:r>
          </a:p>
        </p:txBody>
      </p:sp>
      <p:sp>
        <p:nvSpPr>
          <p:cNvPr id="17" name="matrix-cell-1-1">
            <a:extLst xmlns:a="http://schemas.openxmlformats.org/drawingml/2006/main">
              <a:ext uri="{FF2B5EF4-FFF2-40B4-BE49-F238E27FC236}">
                <a16:creationId xmlns:a16="http://schemas.microsoft.com/office/drawing/2014/main" id="{51F05DA9-157D-43D8-8A75-DD685209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87675"/>
            <a:ext cx="33909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ContainerBindAsync / AOP</a:t>
            </a:r>
          </a:p>
        </p:txBody>
      </p:sp>
      <p:sp>
        <p:nvSpPr>
          <p:cNvPr id="18" name="matrix-cell-1-2">
            <a:extLst xmlns:a="http://schemas.openxmlformats.org/drawingml/2006/main">
              <a:ext uri="{FF2B5EF4-FFF2-40B4-BE49-F238E27FC236}">
                <a16:creationId xmlns:a16="http://schemas.microsoft.com/office/drawing/2014/main" id="{6BE70877-2664-4FF4-9143-2C730526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87675"/>
            <a:ext cx="42862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ConfigValidation、ValidatorCodes、代理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DED26DDD-0B16-4E11-92E8-89081B86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0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matrix-cell-2-0">
            <a:extLst xmlns:a="http://schemas.openxmlformats.org/drawingml/2006/main">
              <a:ext uri="{FF2B5EF4-FFF2-40B4-BE49-F238E27FC236}">
                <a16:creationId xmlns:a16="http://schemas.microsoft.com/office/drawing/2014/main" id="{DC32AB71-31D5-42B3-BA72-791D9534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86175"/>
            <a:ext cx="29146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上架没有生成任务</a:t>
            </a:r>
          </a:p>
        </p:txBody>
      </p:sp>
      <p:sp>
        <p:nvSpPr>
          <p:cNvPr id="21" name="matrix-cell-2-1">
            <a:extLst xmlns:a="http://schemas.openxmlformats.org/drawingml/2006/main">
              <a:ext uri="{FF2B5EF4-FFF2-40B4-BE49-F238E27FC236}">
                <a16:creationId xmlns:a16="http://schemas.microsoft.com/office/drawing/2014/main" id="{DB123FDC-3169-43E4-8A38-EAD53C82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33909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RequestPutAwayAsync</a:t>
            </a:r>
          </a:p>
        </p:txBody>
      </p:sp>
      <p:sp>
        <p:nvSpPr>
          <p:cNvPr id="22" name="matrix-cell-2-2">
            <a:extLst xmlns:a="http://schemas.openxmlformats.org/drawingml/2006/main">
              <a:ext uri="{FF2B5EF4-FFF2-40B4-BE49-F238E27FC236}">
                <a16:creationId xmlns:a16="http://schemas.microsoft.com/office/drawing/2014/main" id="{B08793CD-D45E-47C6-B33D-B6BFE674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86175"/>
            <a:ext cx="42862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策略结果、任务 Contract、事务日志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34A7E01F-340C-4BAA-B283-8E10B71A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4" name="matrix-cell-3-0">
            <a:extLst xmlns:a="http://schemas.openxmlformats.org/drawingml/2006/main">
              <a:ext uri="{FF2B5EF4-FFF2-40B4-BE49-F238E27FC236}">
                <a16:creationId xmlns:a16="http://schemas.microsoft.com/office/drawing/2014/main" id="{BAE19849-C9CF-4AFD-B116-FCB51995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4675"/>
            <a:ext cx="29146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库存重复占用</a:t>
            </a:r>
          </a:p>
        </p:txBody>
      </p:sp>
      <p:sp>
        <p:nvSpPr>
          <p:cNvPr id="25" name="matrix-cell-3-1">
            <a:extLst xmlns:a="http://schemas.openxmlformats.org/drawingml/2006/main">
              <a:ext uri="{FF2B5EF4-FFF2-40B4-BE49-F238E27FC236}">
                <a16:creationId xmlns:a16="http://schemas.microsoft.com/office/drawing/2014/main" id="{247533A2-6169-4BDF-B19A-000ADAF0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84675"/>
            <a:ext cx="33909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AllocateAsync</a:t>
            </a:r>
          </a:p>
        </p:txBody>
      </p:sp>
      <p:sp>
        <p:nvSpPr>
          <p:cNvPr id="26" name="matrix-cell-3-2">
            <a:extLst xmlns:a="http://schemas.openxmlformats.org/drawingml/2006/main">
              <a:ext uri="{FF2B5EF4-FFF2-40B4-BE49-F238E27FC236}">
                <a16:creationId xmlns:a16="http://schemas.microsoft.com/office/drawing/2014/main" id="{2B8C3BF3-18D5-4A0E-9A13-3C6A5567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84675"/>
            <a:ext cx="42862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条件更新、锁、事务和幂等</a:t>
            </a:r>
          </a:p>
        </p:txBody>
      </p:sp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C323D4D2-2EEA-4AAD-8025-9D9B7BA8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8" name="matrix-cell-4-0">
            <a:extLst xmlns:a="http://schemas.openxmlformats.org/drawingml/2006/main">
              <a:ext uri="{FF2B5EF4-FFF2-40B4-BE49-F238E27FC236}">
                <a16:creationId xmlns:a16="http://schemas.microsoft.com/office/drawing/2014/main" id="{FBD539FB-A691-46DC-872F-F42845FD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83175"/>
            <a:ext cx="29146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WCS 重复完成</a:t>
            </a:r>
          </a:p>
        </p:txBody>
      </p:sp>
      <p:sp>
        <p:nvSpPr>
          <p:cNvPr id="29" name="matrix-cell-4-1">
            <a:extLst xmlns:a="http://schemas.openxmlformats.org/drawingml/2006/main">
              <a:ext uri="{FF2B5EF4-FFF2-40B4-BE49-F238E27FC236}">
                <a16:creationId xmlns:a16="http://schemas.microsoft.com/office/drawing/2014/main" id="{5FC3025F-DB2A-4C0F-A80E-480A4ECB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83175"/>
            <a:ext cx="33909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CompleteTaskByWcsAsync</a:t>
            </a:r>
          </a:p>
        </p:txBody>
      </p:sp>
      <p:sp>
        <p:nvSpPr>
          <p:cNvPr id="30" name="matrix-cell-4-2">
            <a:extLst xmlns:a="http://schemas.openxmlformats.org/drawingml/2006/main">
              <a:ext uri="{FF2B5EF4-FFF2-40B4-BE49-F238E27FC236}">
                <a16:creationId xmlns:a16="http://schemas.microsoft.com/office/drawing/2014/main" id="{A783CCE5-EDE8-4F38-BD9F-4A7F50C9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83175"/>
            <a:ext cx="42862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任务状态复核、库存移动和回调幂等</a:t>
            </a:r>
          </a:p>
        </p:txBody>
      </p:sp>
    </p:spTree>
    <p:extLst>
      <p:ext uri="{BB962C8B-B14F-4D97-AF65-F5344CB8AC3E}">
        <p14:creationId xmlns:p14="http://schemas.microsoft.com/office/powerpoint/2010/main" val="6915752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BEE783-D8FC-41DE-86B3-F889C7C4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课程收口：用一条业务链验证所有边界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8E317819-54FC-4363-8271-4DA229D1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4641DC60-83E0-4F5C-885B-A68997D0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09 · WMS 源码走读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3AC24F3-E0F5-4332-B7EF-30119B15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14 / 14</a:t>
            </a:r>
          </a:p>
        </p:txBody>
      </p:sp>
      <p:sp>
        <p:nvSpPr>
          <p:cNvPr id="5" name="quiz-questions">
            <a:extLst xmlns:a="http://schemas.openxmlformats.org/drawingml/2006/main">
              <a:ext uri="{FF2B5EF4-FFF2-40B4-BE49-F238E27FC236}">
                <a16:creationId xmlns:a16="http://schemas.microsoft.com/office/drawing/2014/main" id="{A4AF0CE8-29AC-4757-A2ED-4DC73AC0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6858000" cy="419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01  入库请求上架时，策略、任务 Contract 和事务分别负责什么？
02  出库库存为什么不能由 Outbound 模块直接改表？
03  WCS 回调的幂等检查应落在哪里？
04  看到“库存重复占用”时，应该优先从哪条源码主线排查？</a:t>
            </a:r>
          </a:p>
        </p:txBody>
      </p:sp>
      <p:sp>
        <p:nvSpPr>
          <p:cNvPr id="6" name="next-panel">
            <a:extLst xmlns:a="http://schemas.openxmlformats.org/drawingml/2006/main">
              <a:ext uri="{FF2B5EF4-FFF2-40B4-BE49-F238E27FC236}">
                <a16:creationId xmlns:a16="http://schemas.microsoft.com/office/drawing/2014/main" id="{99102FA4-A878-4FE1-9796-32184523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24000"/>
            <a:ext cx="38862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7" name="next-title">
            <a:extLst xmlns:a="http://schemas.openxmlformats.org/drawingml/2006/main">
              <a:ext uri="{FF2B5EF4-FFF2-40B4-BE49-F238E27FC236}">
                <a16:creationId xmlns:a16="http://schemas.microsoft.com/office/drawing/2014/main" id="{9D652B1A-EBFB-4E4C-834B-BD9B5F0D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47850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下一步</a:t>
            </a:r>
          </a:p>
        </p:txBody>
      </p:sp>
      <p:sp>
        <p:nvSpPr>
          <p:cNvPr id="8" name="next-body">
            <a:extLst xmlns:a="http://schemas.openxmlformats.org/drawingml/2006/main">
              <a:ext uri="{FF2B5EF4-FFF2-40B4-BE49-F238E27FC236}">
                <a16:creationId xmlns:a16="http://schemas.microsoft.com/office/drawing/2014/main" id="{EAB73A43-D83F-463E-BDAC-C7491E55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71750"/>
            <a:ext cx="32385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选择一个真实需求，按“归属模块 → 业务入口 → Contract → 事务 → 状态 → 验证证据”完成一次结对走读。</a:t>
            </a:r>
          </a:p>
        </p:txBody>
      </p:sp>
      <p:sp>
        <p:nvSpPr>
          <p:cNvPr id="9" name="answer-hint">
            <a:extLst xmlns:a="http://schemas.openxmlformats.org/drawingml/2006/main">
              <a:ext uri="{FF2B5EF4-FFF2-40B4-BE49-F238E27FC236}">
                <a16:creationId xmlns:a16="http://schemas.microsoft.com/office/drawing/2014/main" id="{D93D677C-0831-4921-B091-2F4F83BD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1485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答案与延伸阅读已放入讲师备注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A97603ED-05FB-41A6-8FD4-52BC7AFE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67400"/>
            <a:ext cx="6858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能沿业务状态变化读懂源码，才算真正掌握项目框架。</a:t>
            </a:r>
          </a:p>
        </p:txBody>
      </p:sp>
    </p:spTree>
    <p:extLst>
      <p:ext uri="{BB962C8B-B14F-4D97-AF65-F5344CB8AC3E}">
        <p14:creationId xmlns:p14="http://schemas.microsoft.com/office/powerpoint/2010/main" val="20086705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2026-07-10T03:40:09.5470000Z</dcterms:created>
  <dcterms:modified xsi:type="dcterms:W3CDTF">2026-07-10T03:40:09.5470000Z</dcterms:modified>
</coreProperties>
</file>