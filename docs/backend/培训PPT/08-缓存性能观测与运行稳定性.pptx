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1f1d9ff2ead24134" /><Relationship Type="http://schemas.openxmlformats.org/officeDocument/2006/relationships/extended-properties" Target="/docProps/app.xml" Id="R530ddeeb57164e5c" /><Relationship Type="http://schemas.openxmlformats.org/officeDocument/2006/relationships/officeDocument" Target="/ppt/presentation.xml" Id="Re4a2f0c7af2b45a9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4714768d18b245a6"/>
  </p:sldMasterIdLst>
  <p:notesMasterIdLst>
    <p:notesMasterId xmlns:r="http://schemas.openxmlformats.org/officeDocument/2006/relationships" r:id="R51909857dd314292"/>
  </p:notesMasterIdLst>
  <p:sldIdLst>
    <p:sldId xmlns:r="http://schemas.openxmlformats.org/officeDocument/2006/relationships" id="256" r:id="R4f90a962e2cc429a"/>
    <p:sldId xmlns:r="http://schemas.openxmlformats.org/officeDocument/2006/relationships" id="257" r:id="Rc1501c89ca74413e"/>
    <p:sldId xmlns:r="http://schemas.openxmlformats.org/officeDocument/2006/relationships" id="258" r:id="R9e8fc1d62505488f"/>
    <p:sldId xmlns:r="http://schemas.openxmlformats.org/officeDocument/2006/relationships" id="259" r:id="R394bdb10176d44f0"/>
    <p:sldId xmlns:r="http://schemas.openxmlformats.org/officeDocument/2006/relationships" id="260" r:id="Rcd3665b2aaaf4ae2"/>
    <p:sldId xmlns:r="http://schemas.openxmlformats.org/officeDocument/2006/relationships" id="261" r:id="R982fd2a90a154434"/>
    <p:sldId xmlns:r="http://schemas.openxmlformats.org/officeDocument/2006/relationships" id="262" r:id="Rdefd3022286247d2"/>
    <p:sldId xmlns:r="http://schemas.openxmlformats.org/officeDocument/2006/relationships" id="263" r:id="R929b4c2b19e24db8"/>
    <p:sldId xmlns:r="http://schemas.openxmlformats.org/officeDocument/2006/relationships" id="264" r:id="Rddcbdf0515df4015"/>
    <p:sldId xmlns:r="http://schemas.openxmlformats.org/officeDocument/2006/relationships" id="265" r:id="Ra0cc0e4c841d4453"/>
    <p:sldId xmlns:r="http://schemas.openxmlformats.org/officeDocument/2006/relationships" id="266" r:id="R2fdbcffc411d46a1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b9e1f15428fd4920" /><Relationship Type="http://schemas.openxmlformats.org/officeDocument/2006/relationships/slideMaster" Target="/ppt/slideMasters/slideMaster1.xml" Id="R4714768d18b245a6" /><Relationship Type="http://schemas.openxmlformats.org/officeDocument/2006/relationships/notesMaster" Target="/ppt/notesMasters/notesMaster1.xml" Id="R51909857dd314292" /><Relationship Type="http://schemas.openxmlformats.org/officeDocument/2006/relationships/presProps" Target="/ppt/presProps.xml" Id="R3776852c8b7d4234" /><Relationship Type="http://schemas.openxmlformats.org/officeDocument/2006/relationships/tableStyles" Target="/ppt/tableStyles.xml" Id="R9ff7e03433104e6b" /><Relationship Type="http://schemas.openxmlformats.org/officeDocument/2006/relationships/slide" Target="/ppt/slides/slide1.xml" Id="R4f90a962e2cc429a" /><Relationship Type="http://schemas.openxmlformats.org/officeDocument/2006/relationships/slide" Target="/ppt/slides/slide2.xml" Id="Rc1501c89ca74413e" /><Relationship Type="http://schemas.openxmlformats.org/officeDocument/2006/relationships/slide" Target="/ppt/slides/slide3.xml" Id="R9e8fc1d62505488f" /><Relationship Type="http://schemas.openxmlformats.org/officeDocument/2006/relationships/slide" Target="/ppt/slides/slide4.xml" Id="R394bdb10176d44f0" /><Relationship Type="http://schemas.openxmlformats.org/officeDocument/2006/relationships/slide" Target="/ppt/slides/slide5.xml" Id="Rcd3665b2aaaf4ae2" /><Relationship Type="http://schemas.openxmlformats.org/officeDocument/2006/relationships/slide" Target="/ppt/slides/slide6.xml" Id="R982fd2a90a154434" /><Relationship Type="http://schemas.openxmlformats.org/officeDocument/2006/relationships/slide" Target="/ppt/slides/slide7.xml" Id="Rdefd3022286247d2" /><Relationship Type="http://schemas.openxmlformats.org/officeDocument/2006/relationships/slide" Target="/ppt/slides/slide8.xml" Id="R929b4c2b19e24db8" /><Relationship Type="http://schemas.openxmlformats.org/officeDocument/2006/relationships/slide" Target="/ppt/slides/slide9.xml" Id="Rddcbdf0515df4015" /><Relationship Type="http://schemas.openxmlformats.org/officeDocument/2006/relationships/slide" Target="/ppt/slides/slide10.xml" Id="Ra0cc0e4c841d4453" /><Relationship Type="http://schemas.openxmlformats.org/officeDocument/2006/relationships/slide" Target="/ppt/slides/slide11.xml" Id="R2fdbcffc411d46a1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d6fd618083824d04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12bad5317e6742b7" /><Relationship Type="http://schemas.openxmlformats.org/officeDocument/2006/relationships/notesMaster" Target="/ppt/notesMasters/notesMaster1.xml" Id="Rd69c4a0599814bbb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4947322c3e144b47" /><Relationship Type="http://schemas.openxmlformats.org/officeDocument/2006/relationships/notesMaster" Target="/ppt/notesMasters/notesMaster1.xml" Id="Rbd8a09534f3847cb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6fe75cdbedd14cae" /><Relationship Type="http://schemas.openxmlformats.org/officeDocument/2006/relationships/notesMaster" Target="/ppt/notesMasters/notesMaster1.xml" Id="R809b5dce9a2f4008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ffa2c2bccf0647d1" /><Relationship Type="http://schemas.openxmlformats.org/officeDocument/2006/relationships/notesMaster" Target="/ppt/notesMasters/notesMaster1.xml" Id="R6d42fd2d7fc247d3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77330dff40bd4856" /><Relationship Type="http://schemas.openxmlformats.org/officeDocument/2006/relationships/notesMaster" Target="/ppt/notesMasters/notesMaster1.xml" Id="R46442434db554858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30e8b4a11a31410c" /><Relationship Type="http://schemas.openxmlformats.org/officeDocument/2006/relationships/notesMaster" Target="/ppt/notesMasters/notesMaster1.xml" Id="Rac734c13419f4486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8b07fed6927f4e2c" /><Relationship Type="http://schemas.openxmlformats.org/officeDocument/2006/relationships/notesMaster" Target="/ppt/notesMasters/notesMaster1.xml" Id="R2a822dea07104dc3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d7d9b9bad49a4fb6" /><Relationship Type="http://schemas.openxmlformats.org/officeDocument/2006/relationships/notesMaster" Target="/ppt/notesMasters/notesMaster1.xml" Id="R49bf7b965fba4d48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a7346bb6c2444f04" /><Relationship Type="http://schemas.openxmlformats.org/officeDocument/2006/relationships/notesMaster" Target="/ppt/notesMasters/notesMaster1.xml" Id="R95251fb163994b42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ac0f5a9688184931" /><Relationship Type="http://schemas.openxmlformats.org/officeDocument/2006/relationships/notesMaster" Target="/ppt/notesMasters/notesMaster1.xml" Id="R23c9a63af3d6462c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94bafeeceb3a4988" /><Relationship Type="http://schemas.openxmlformats.org/officeDocument/2006/relationships/notesMaster" Target="/ppt/notesMasters/notesMaster1.xml" Id="Rd9abf52a048c4368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建议时长：2 分钟</a:t>
            </a:r>
          </a:p>
          <a:p xmlns:a="http://schemas.openxmlformats.org/drawingml/2006/main">
            <a:r>
              <a:t>讲师提示：开场说明：运行时排障的第一步不是改代码，而是保留 TraceId、日志和性能证据。</a:t>
            </a:r>
          </a:p>
          <a:p xmlns:a="http://schemas.openxmlformats.org/drawingml/2006/main">
            <a:r>
              <a:t>资料来源：</a:t>
            </a:r>
          </a:p>
          <a:p xmlns:a="http://schemas.openxmlformats.org/drawingml/2006/main">
            <a:r>
              <a:t>- D:\Git\0.KH.WMS\docs\backend\后端底层概念\13-鉴权缓存用户上下文与运行期开关.md</a:t>
            </a:r>
          </a:p>
          <a:p xmlns:a="http://schemas.openxmlformats.org/drawingml/2006/main">
            <a:r>
              <a:t>- D:\Git\0.KH.WMS\docs\backend\后端底层概念\18-MiniProfiler性能观测底座.md</a:t>
            </a:r>
          </a:p>
          <a:p xmlns:a="http://schemas.openxmlformats.org/drawingml/2006/main">
            <a:r>
              <a:t>- D:\Git\0.KH.WMS\docs\backend\后端底层概念\21-后台服务作业与无请求上下文.md</a:t>
            </a:r>
          </a:p>
          <a:p xmlns:a="http://schemas.openxmlformats.org/drawingml/2006/main">
            <a:r>
              <a:t>培训方式：先讲结论，再结合页面中的链路、清单或代码说明；页面内容讲完后停顿确认理解。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建议时长：5 分钟</a:t>
            </a:r>
          </a:p>
          <a:p xmlns:a="http://schemas.openxmlformats.org/drawingml/2006/main">
            <a:r>
              <a:t>讲师提示：明确本讲覆盖的是项目当前底座边界，不把 Web Host 当完整调度平台。</a:t>
            </a:r>
          </a:p>
          <a:p xmlns:a="http://schemas.openxmlformats.org/drawingml/2006/main">
            <a:r>
              <a:t>资料来源：</a:t>
            </a:r>
          </a:p>
          <a:p xmlns:a="http://schemas.openxmlformats.org/drawingml/2006/main">
            <a:r>
              <a:t>- D:\Git\0.KH.WMS\docs\backend\后端底层概念\13-鉴权缓存用户上下文与运行期开关.md</a:t>
            </a:r>
          </a:p>
          <a:p xmlns:a="http://schemas.openxmlformats.org/drawingml/2006/main">
            <a:r>
              <a:t>- D:\Git\0.KH.WMS\docs\backend\后端底层概念\18-MiniProfiler性能观测底座.md</a:t>
            </a:r>
          </a:p>
          <a:p xmlns:a="http://schemas.openxmlformats.org/drawingml/2006/main">
            <a:r>
              <a:t>- D:\Git\0.KH.WMS\docs\backend\后端底层概念\20-限流RateLimit底座.md</a:t>
            </a:r>
          </a:p>
          <a:p xmlns:a="http://schemas.openxmlformats.org/drawingml/2006/main">
            <a:r>
              <a:t>- D:\Git\0.KH.WMS\docs\backend\后端底层概念\21-后台服务作业与无请求上下文.md</a:t>
            </a:r>
          </a:p>
          <a:p xmlns:a="http://schemas.openxmlformats.org/drawingml/2006/main">
            <a:r>
              <a:t>培训方式：先讲结论，再结合页面中的链路、清单或代码说明；页面内容讲完后停顿确认理解。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建议时长：4 分钟</a:t>
            </a:r>
          </a:p>
          <a:p xmlns:a="http://schemas.openxmlformats.org/drawingml/2006/main">
            <a:r>
              <a:t>讲师提示：给出标准反馈模板：时间、环境、接口、输入、状态码、traceId、是否可复现。</a:t>
            </a:r>
          </a:p>
          <a:p xmlns:a="http://schemas.openxmlformats.org/drawingml/2006/main">
            <a:r>
              <a:t>资料来源：</a:t>
            </a:r>
          </a:p>
          <a:p xmlns:a="http://schemas.openxmlformats.org/drawingml/2006/main">
            <a:r>
              <a:t>- D:\Git\0.KH.WMS\docs\backend\后端底层概念\05-请求管道统一响应异常TraceId日志.md</a:t>
            </a:r>
          </a:p>
          <a:p xmlns:a="http://schemas.openxmlformats.org/drawingml/2006/main">
            <a:r>
              <a:t>- D:\Git\0.KH.WMS\docs\backend\后端底层概念\18-MiniProfiler性能观测底座.md</a:t>
            </a:r>
          </a:p>
          <a:p xmlns:a="http://schemas.openxmlformats.org/drawingml/2006/main">
            <a:r>
              <a:t>培训方式：先讲结论，再结合页面中的链路、清单或代码说明；页面内容讲完后停顿确认理解。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建议时长：5 分钟</a:t>
            </a:r>
          </a:p>
          <a:p xmlns:a="http://schemas.openxmlformats.org/drawingml/2006/main">
            <a:r>
              <a:t>讲师提示：提醒给写方法直接加结果缓存通常是错误做法。</a:t>
            </a:r>
          </a:p>
          <a:p xmlns:a="http://schemas.openxmlformats.org/drawingml/2006/main">
            <a:r>
              <a:t>资料来源：</a:t>
            </a:r>
          </a:p>
          <a:p xmlns:a="http://schemas.openxmlformats.org/drawingml/2006/main">
            <a:r>
              <a:t>- D:\Git\0.KH.WMS\docs\backend\后端底层概念\13-鉴权缓存用户上下文与运行期开关.md</a:t>
            </a:r>
          </a:p>
          <a:p xmlns:a="http://schemas.openxmlformats.org/drawingml/2006/main">
            <a:r>
              <a:t>- D:\Git\0.KH.WMS\docs\backend\后端底层概念\04-AOP拦截器与特性使用.md</a:t>
            </a:r>
          </a:p>
          <a:p xmlns:a="http://schemas.openxmlformats.org/drawingml/2006/main">
            <a:r>
              <a:t>培训方式：先讲结论，再结合页面中的链路、清单或代码说明；页面内容讲完后停顿确认理解。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建议时长：6 分钟</a:t>
            </a:r>
          </a:p>
          <a:p xmlns:a="http://schemas.openxmlformats.org/drawingml/2006/main">
            <a:r>
              <a:t>讲师提示：把“缓存没生效”和“缓存生效但数据脏”分开排查。</a:t>
            </a:r>
          </a:p>
          <a:p xmlns:a="http://schemas.openxmlformats.org/drawingml/2006/main">
            <a:r>
              <a:t>资料来源：</a:t>
            </a:r>
          </a:p>
          <a:p xmlns:a="http://schemas.openxmlformats.org/drawingml/2006/main">
            <a:r>
              <a:t>- D:\Git\0.KH.WMS\docs\backend\后端底层概念\13-鉴权缓存用户上下文与运行期开关.md</a:t>
            </a:r>
          </a:p>
          <a:p xmlns:a="http://schemas.openxmlformats.org/drawingml/2006/main">
            <a:r>
              <a:t>- D:\Git\0.KH.WMS\docs\backend\后端底层概念\10-Config配置底座.md</a:t>
            </a:r>
          </a:p>
          <a:p xmlns:a="http://schemas.openxmlformats.org/drawingml/2006/main">
            <a:r>
              <a:t>培训方式：先讲结论，再结合页面中的链路、清单或代码说明；页面内容讲完后停顿确认理解。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建议时长：5 分钟</a:t>
            </a:r>
          </a:p>
          <a:p xmlns:a="http://schemas.openxmlformats.org/drawingml/2006/main">
            <a:r>
              <a:t>讲师提示：三者应组合使用：TraceId 定位请求，日志解释原因，Profiler 解释时间。</a:t>
            </a:r>
          </a:p>
          <a:p xmlns:a="http://schemas.openxmlformats.org/drawingml/2006/main">
            <a:r>
              <a:t>资料来源：</a:t>
            </a:r>
          </a:p>
          <a:p xmlns:a="http://schemas.openxmlformats.org/drawingml/2006/main">
            <a:r>
              <a:t>- D:\Git\0.KH.WMS\docs\backend\后端底层概念\05-请求管道统一响应异常TraceId日志.md</a:t>
            </a:r>
          </a:p>
          <a:p xmlns:a="http://schemas.openxmlformats.org/drawingml/2006/main">
            <a:r>
              <a:t>- D:\Git\0.KH.WMS\docs\backend\后端底层概念\18-MiniProfiler性能观测底座.md</a:t>
            </a:r>
          </a:p>
          <a:p xmlns:a="http://schemas.openxmlformats.org/drawingml/2006/main">
            <a:r>
              <a:t>培训方式：先讲结论，再结合页面中的链路、清单或代码说明；页面内容讲完后停顿确认理解。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建议时长：6 分钟</a:t>
            </a:r>
          </a:p>
          <a:p xmlns:a="http://schemas.openxmlformats.org/drawingml/2006/main">
            <a:r>
              <a:t>讲师提示：MiniProfiler 看不到方法链时，检查接口注入、RegisteredService 和 WithoutInterceptor。</a:t>
            </a:r>
          </a:p>
          <a:p xmlns:a="http://schemas.openxmlformats.org/drawingml/2006/main">
            <a:r>
              <a:t>资料来源：</a:t>
            </a:r>
          </a:p>
          <a:p xmlns:a="http://schemas.openxmlformats.org/drawingml/2006/main">
            <a:r>
              <a:t>- D:\Git\0.KH.WMS\docs\backend\后端底层概念\18-MiniProfiler性能观测底座.md</a:t>
            </a:r>
          </a:p>
          <a:p xmlns:a="http://schemas.openxmlformats.org/drawingml/2006/main">
            <a:r>
              <a:t>- D:\Git\0.KH.WMS\docs\backend\后端开发指引V3教程\C-常见坑.md</a:t>
            </a:r>
          </a:p>
          <a:p xmlns:a="http://schemas.openxmlformats.org/drawingml/2006/main">
            <a:r>
              <a:t>培训方式：先讲结论，再结合页面中的链路、清单或代码说明；页面内容讲完后停顿确认理解。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建议时长：7 分钟</a:t>
            </a:r>
          </a:p>
          <a:p xmlns:a="http://schemas.openxmlformats.org/drawingml/2006/main">
            <a:r>
              <a:t>讲师提示：这是当前实现状态，必须明确讲出。启用前不能只取消注释，还要确认 IOptions 配置真正传给中间件。</a:t>
            </a:r>
          </a:p>
          <a:p xmlns:a="http://schemas.openxmlformats.org/drawingml/2006/main">
            <a:r>
              <a:t>资料来源：</a:t>
            </a:r>
          </a:p>
          <a:p xmlns:a="http://schemas.openxmlformats.org/drawingml/2006/main">
            <a:r>
              <a:t>- D:\Git\0.KH.WMS\docs\backend\后端底层概念\20-限流RateLimit底座.md</a:t>
            </a:r>
          </a:p>
          <a:p xmlns:a="http://schemas.openxmlformats.org/drawingml/2006/main">
            <a:r>
              <a:t>- D:\Git\0.KH.WMS\docs\backend\后端开发指引V3教程\C-常见坑.md</a:t>
            </a:r>
          </a:p>
          <a:p xmlns:a="http://schemas.openxmlformats.org/drawingml/2006/main">
            <a:r>
              <a:t>培训方式：先讲结论，再结合页面中的链路、清单或代码说明；页面内容讲完后停顿确认理解。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建议时长：6 分钟</a:t>
            </a:r>
          </a:p>
          <a:p xmlns:a="http://schemas.openxmlformats.org/drawingml/2006/main">
            <a:r>
              <a:t>讲师提示：代码是通用教学骨架；项目实例可结合 DailySnapshotBackgroundService 阅读。</a:t>
            </a:r>
          </a:p>
          <a:p xmlns:a="http://schemas.openxmlformats.org/drawingml/2006/main">
            <a:r>
              <a:t>资料来源：</a:t>
            </a:r>
          </a:p>
          <a:p xmlns:a="http://schemas.openxmlformats.org/drawingml/2006/main">
            <a:r>
              <a:t>- D:\Git\0.KH.WMS\docs\backend\后端底层概念\21-后台服务作业与无请求上下文.md</a:t>
            </a:r>
          </a:p>
          <a:p xmlns:a="http://schemas.openxmlformats.org/drawingml/2006/main">
            <a:r>
              <a:t>培训方式：先讲结论，再结合页面中的链路、清单或代码说明；页面内容讲完后停顿确认理解。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建议时长：5 分钟</a:t>
            </a:r>
          </a:p>
          <a:p xmlns:a="http://schemas.openxmlformats.org/drawingml/2006/main">
            <a:r>
              <a:t>讲师提示：不能假设 HostedService 有 HttpContext；系统自动生成的记录要有明确操作描述。</a:t>
            </a:r>
          </a:p>
          <a:p xmlns:a="http://schemas.openxmlformats.org/drawingml/2006/main">
            <a:r>
              <a:t>资料来源：</a:t>
            </a:r>
          </a:p>
          <a:p xmlns:a="http://schemas.openxmlformats.org/drawingml/2006/main">
            <a:r>
              <a:t>- D:\Git\0.KH.WMS\docs\backend\后端底层概念\21-后台服务作业与无请求上下文.md</a:t>
            </a:r>
          </a:p>
          <a:p xmlns:a="http://schemas.openxmlformats.org/drawingml/2006/main">
            <a:r>
              <a:t>- D:\Git\0.KH.WMS\docs\backend\后端底层概念\13-鉴权缓存用户上下文与运行期开关.md</a:t>
            </a:r>
          </a:p>
          <a:p xmlns:a="http://schemas.openxmlformats.org/drawingml/2006/main">
            <a:r>
              <a:t>培训方式：先讲结论，再结合页面中的链路、清单或代码说明；页面内容讲完后停顿确认理解。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建议时长：8 分钟（含答疑）</a:t>
            </a:r>
          </a:p>
          <a:p xmlns:a="http://schemas.openxmlformats.org/drawingml/2006/main">
            <a:r>
              <a:t>讲师提示：要求成员用一个慢接口或后台快照问题演练证据收集顺序。</a:t>
            </a:r>
          </a:p>
          <a:p xmlns:a="http://schemas.openxmlformats.org/drawingml/2006/main">
            <a:r>
              <a:t>资料来源：</a:t>
            </a:r>
          </a:p>
          <a:p xmlns:a="http://schemas.openxmlformats.org/drawingml/2006/main">
            <a:r>
              <a:t>- D:\Git\0.KH.WMS\docs\backend\后端底层概念\13-鉴权缓存用户上下文与运行期开关.md</a:t>
            </a:r>
          </a:p>
          <a:p xmlns:a="http://schemas.openxmlformats.org/drawingml/2006/main">
            <a:r>
              <a:t>- D:\Git\0.KH.WMS\docs\backend\后端底层概念\18-MiniProfiler性能观测底座.md</a:t>
            </a:r>
          </a:p>
          <a:p xmlns:a="http://schemas.openxmlformats.org/drawingml/2006/main">
            <a:r>
              <a:t>- D:\Git\0.KH.WMS\docs\backend\后端底层概念\20-限流RateLimit底座.md</a:t>
            </a:r>
          </a:p>
          <a:p xmlns:a="http://schemas.openxmlformats.org/drawingml/2006/main">
            <a:r>
              <a:t>- D:\Git\0.KH.WMS\docs\backend\后端底层概念\21-后台服务作业与无请求上下文.md</a:t>
            </a:r>
          </a:p>
          <a:p xmlns:a="http://schemas.openxmlformats.org/drawingml/2006/main">
            <a:r>
              <a:t>小测参考答案：1. 前者查 key、AOP 和缓存服务；后者查作用域、写后失效和并发回填。2. TraceId 定位请求，日志解释事件，Profiler 分解耗时。3. UseRateLimiting 当前被注释，而且启用前还要正确读取 Options。4. HostedService 是 Singleton，业务 Service 多为 Scoped；取消令牌保证停机可控。</a:t>
            </a:r>
          </a:p>
          <a:p xmlns:a="http://schemas.openxmlformats.org/drawingml/2006/main">
            <a:r>
              <a:t>培训方式：先讲结论，再结合页面中的链路、清单或代码说明；页面内容讲完后停顿确认理解。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024cf9aed984b6f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ad36ea1d51534e08" /><Relationship Type="http://schemas.openxmlformats.org/officeDocument/2006/relationships/slideLayout" Target="/ppt/slideLayouts/slideLayout1.xml" Id="Red0503e07bfd4928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ed0503e07bfd4928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bb75d168b98472e" /><Relationship Type="http://schemas.openxmlformats.org/officeDocument/2006/relationships/notesSlide" Target="/ppt/notesSlides/notesSlide1.xml" Id="R1957c58c4d9d4d95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6e3faacf64a4123" /><Relationship Type="http://schemas.openxmlformats.org/officeDocument/2006/relationships/notesSlide" Target="/ppt/notesSlides/notesSlide2.xml" Id="R9ff77723a85e41a4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6436f447e524f7b" /><Relationship Type="http://schemas.openxmlformats.org/officeDocument/2006/relationships/notesSlide" Target="/ppt/notesSlides/notesSlide3.xml" Id="Rca2044ae43704991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5f1455cb7bc4186" /><Relationship Type="http://schemas.openxmlformats.org/officeDocument/2006/relationships/notesSlide" Target="/ppt/notesSlides/notesSlide4.xml" Id="Rac329776688f4a36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d03698449944f46" /><Relationship Type="http://schemas.openxmlformats.org/officeDocument/2006/relationships/notesSlide" Target="/ppt/notesSlides/notesSlide5.xml" Id="Rdd054f62c7cb45d8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d219148a27c447e" /><Relationship Type="http://schemas.openxmlformats.org/officeDocument/2006/relationships/notesSlide" Target="/ppt/notesSlides/notesSlide6.xml" Id="R55be78ef76284c14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27c000b81eb4354" /><Relationship Type="http://schemas.openxmlformats.org/officeDocument/2006/relationships/notesSlide" Target="/ppt/notesSlides/notesSlide7.xml" Id="R3065df1554734be0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f1d066e3a8d44cd" /><Relationship Type="http://schemas.openxmlformats.org/officeDocument/2006/relationships/notesSlide" Target="/ppt/notesSlides/notesSlide8.xml" Id="Rd73857cc5cba4086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141e67cc00447a2" /><Relationship Type="http://schemas.openxmlformats.org/officeDocument/2006/relationships/notesSlide" Target="/ppt/notesSlides/notesSlide9.xml" Id="Ra3a6b14275e842c4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c5aa1a7ea864bb2" /><Relationship Type="http://schemas.openxmlformats.org/officeDocument/2006/relationships/notesSlide" Target="/ppt/notesSlides/notesSlide10.xml" Id="R6eb66c7cda054d09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acac897fd8f42e1" /><Relationship Type="http://schemas.openxmlformats.org/officeDocument/2006/relationships/notesSlide" Target="/ppt/notesSlides/notesSlide11.xml" Id="Re18eda816c954575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eries-label">
            <a:extLst xmlns:a="http://schemas.openxmlformats.org/drawingml/2006/main">
              <a:ext uri="{FF2B5EF4-FFF2-40B4-BE49-F238E27FC236}">
                <a16:creationId xmlns:a16="http://schemas.microsoft.com/office/drawing/2014/main" id="{F9092F89-7F80-4FA8-9AB6-432199AEE6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00050"/>
            <a:ext cx="647700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459B8"/>
                </a:solidFill>
                <a:latin typeface="Microsoft YaHei"/>
                <a:ea typeface="Microsoft YaHei"/>
                <a:cs typeface="Microsoft YaHei"/>
              </a:defRPr>
            </a:pPr>
            <a:r>
              <a:t>KH.WMS 后端培训系列  ·  08</a:t>
            </a:r>
          </a:p>
        </p:txBody>
      </p:sp>
      <p:sp>
        <p:nvSpPr>
          <p:cNvPr id="2" name="deck-title">
            <a:extLst xmlns:a="http://schemas.openxmlformats.org/drawingml/2006/main">
              <a:ext uri="{FF2B5EF4-FFF2-40B4-BE49-F238E27FC236}">
                <a16:creationId xmlns:a16="http://schemas.microsoft.com/office/drawing/2014/main" id="{9ECB7DCC-787A-4B20-BB54-EA7AA50AA5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095500"/>
            <a:ext cx="11277600" cy="2000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 algn="l">
              <a:defRPr sz="450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t>缓存、性能观测与运行稳定性</a:t>
            </a:r>
          </a:p>
        </p:txBody>
      </p:sp>
      <p:sp>
        <p:nvSpPr>
          <p:cNvPr id="3" name="rule">
            <a:extLst xmlns:a="http://schemas.openxmlformats.org/drawingml/2006/main">
              <a:ext uri="{FF2B5EF4-FFF2-40B4-BE49-F238E27FC236}">
                <a16:creationId xmlns:a16="http://schemas.microsoft.com/office/drawing/2014/main" id="{EF64727E-9B6F-4780-9566-35BFCDD125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476750"/>
            <a:ext cx="40005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solidFill>
              <a:srgbClr val="3D8DFF"/>
            </a:solidFill>
            <a:prstDash val="solid"/>
          </a:ln>
        </p:spPr>
      </p:sp>
      <p:sp>
        <p:nvSpPr>
          <p:cNvPr id="4" name="deck-subtitle">
            <a:extLst xmlns:a="http://schemas.openxmlformats.org/drawingml/2006/main">
              <a:ext uri="{FF2B5EF4-FFF2-40B4-BE49-F238E27FC236}">
                <a16:creationId xmlns:a16="http://schemas.microsoft.com/office/drawing/2014/main" id="{49AC534C-9AAF-4DE0-A49D-02C71AE957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810125"/>
            <a:ext cx="7239000" cy="628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>
                <a:solidFill>
                  <a:srgbClr val="596273"/>
                </a:solidFill>
                <a:latin typeface="Microsoft YaHei"/>
                <a:ea typeface="Microsoft YaHei"/>
                <a:cs typeface="Microsoft YaHei"/>
              </a:defRPr>
            </a:pPr>
            <a:r>
              <a:t>用证据定位慢、脏、重复和后台执行问题</a:t>
            </a:r>
          </a:p>
        </p:txBody>
      </p:sp>
      <p:sp>
        <p:nvSpPr>
          <p:cNvPr id="5" name="audience">
            <a:extLst xmlns:a="http://schemas.openxmlformats.org/drawingml/2006/main">
              <a:ext uri="{FF2B5EF4-FFF2-40B4-BE49-F238E27FC236}">
                <a16:creationId xmlns:a16="http://schemas.microsoft.com/office/drawing/2014/main" id="{C7BD8772-5E45-4A8B-ABA9-04B3603A60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924550"/>
            <a:ext cx="49530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>
                <a:solidFill>
                  <a:srgbClr val="596273"/>
                </a:solidFill>
                <a:latin typeface="Microsoft YaHei"/>
                <a:ea typeface="Microsoft YaHei"/>
                <a:cs typeface="Microsoft YaHei"/>
              </a:defRPr>
            </a:pPr>
            <a:r>
              <a:t>面向：后端新人及已有项目经验成员</a:t>
            </a:r>
          </a:p>
        </p:txBody>
      </p:sp>
    </p:spTree>
    <p:extLst>
      <p:ext uri="{BB962C8B-B14F-4D97-AF65-F5344CB8AC3E}">
        <p14:creationId xmlns:p14="http://schemas.microsoft.com/office/powerpoint/2010/main" val="2084775919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-title">
            <a:extLst xmlns:a="http://schemas.openxmlformats.org/drawingml/2006/main">
              <a:ext uri="{FF2B5EF4-FFF2-40B4-BE49-F238E27FC236}">
                <a16:creationId xmlns:a16="http://schemas.microsoft.com/office/drawing/2014/main" id="{ADB95C17-3CC0-4EAC-8231-DCBBA4C678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42900"/>
            <a:ext cx="10668000" cy="609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t>本次培训讲哪些知识</a:t>
            </a:r>
          </a:p>
        </p:txBody>
      </p:sp>
      <p:sp>
        <p:nvSpPr>
          <p:cNvPr id="2" name="rule">
            <a:extLst xmlns:a="http://schemas.openxmlformats.org/drawingml/2006/main">
              <a:ext uri="{FF2B5EF4-FFF2-40B4-BE49-F238E27FC236}">
                <a16:creationId xmlns:a16="http://schemas.microsoft.com/office/drawing/2014/main" id="{1611566A-2C5A-4E1F-81DA-891F6BD218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06680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solidFill>
              <a:srgbClr val="B8BCC4"/>
            </a:solidFill>
            <a:prstDash val="solid"/>
          </a:ln>
        </p:spPr>
      </p:sp>
      <p:sp>
        <p:nvSpPr>
          <p:cNvPr id="3" name="footer-deck">
            <a:extLst xmlns:a="http://schemas.openxmlformats.org/drawingml/2006/main">
              <a:ext uri="{FF2B5EF4-FFF2-40B4-BE49-F238E27FC236}">
                <a16:creationId xmlns:a16="http://schemas.microsoft.com/office/drawing/2014/main" id="{D0DCDE39-8382-4AE6-A779-E7467B78ED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381750"/>
            <a:ext cx="72390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>
                <a:solidFill>
                  <a:srgbClr val="596273"/>
                </a:solidFill>
                <a:latin typeface="Microsoft YaHei"/>
                <a:ea typeface="Microsoft YaHei"/>
                <a:cs typeface="Microsoft YaHei"/>
              </a:defRPr>
            </a:pPr>
            <a:r>
              <a:t>08 · 运行稳定性</a:t>
            </a:r>
          </a:p>
        </p:txBody>
      </p:sp>
      <p:sp>
        <p:nvSpPr>
          <p:cNvPr id="4" name="footer-page">
            <a:extLst xmlns:a="http://schemas.openxmlformats.org/drawingml/2006/main">
              <a:ext uri="{FF2B5EF4-FFF2-40B4-BE49-F238E27FC236}">
                <a16:creationId xmlns:a16="http://schemas.microsoft.com/office/drawing/2014/main" id="{D100C0D4-F69F-443D-B173-CAE4F072D1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6381750"/>
            <a:ext cx="13525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975">
                <a:solidFill>
                  <a:srgbClr val="596273"/>
                </a:solidFill>
                <a:latin typeface="Microsoft YaHei"/>
                <a:ea typeface="Microsoft YaHei"/>
                <a:cs typeface="Microsoft YaHei"/>
              </a:defRPr>
            </a:pPr>
            <a:r>
              <a:t>02 / 11</a:t>
            </a:r>
          </a:p>
        </p:txBody>
      </p:sp>
      <p:sp>
        <p:nvSpPr>
          <p:cNvPr id="5" name="scope-band-0">
            <a:extLst xmlns:a="http://schemas.openxmlformats.org/drawingml/2006/main">
              <a:ext uri="{FF2B5EF4-FFF2-40B4-BE49-F238E27FC236}">
                <a16:creationId xmlns:a16="http://schemas.microsoft.com/office/drawing/2014/main" id="{1AFDA7B5-5F56-4A14-90F2-FEEA1316CC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466850"/>
            <a:ext cx="35814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5FB"/>
          </a:solidFill>
          <a:ln xmlns:a="http://schemas.openxmlformats.org/drawingml/2006/main" w="0">
            <a:solidFill>
              <a:srgbClr val="EAF5FB"/>
            </a:solidFill>
            <a:prstDash val="solid"/>
          </a:ln>
        </p:spPr>
      </p:sp>
      <p:sp>
        <p:nvSpPr>
          <p:cNvPr id="6" name="scope-label-0">
            <a:extLst xmlns:a="http://schemas.openxmlformats.org/drawingml/2006/main">
              <a:ext uri="{FF2B5EF4-FFF2-40B4-BE49-F238E27FC236}">
                <a16:creationId xmlns:a16="http://schemas.microsoft.com/office/drawing/2014/main" id="{5ECB0543-CB98-4F30-8011-4B4F0F9582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619250"/>
            <a:ext cx="320040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t>知识范围</a:t>
            </a:r>
          </a:p>
        </p:txBody>
      </p:sp>
      <p:sp>
        <p:nvSpPr>
          <p:cNvPr id="7" name="scope-body-0">
            <a:extLst xmlns:a="http://schemas.openxmlformats.org/drawingml/2006/main">
              <a:ext uri="{FF2B5EF4-FFF2-40B4-BE49-F238E27FC236}">
                <a16:creationId xmlns:a16="http://schemas.microsoft.com/office/drawing/2014/main" id="{466E18B2-2CB5-4FC7-A44F-30F3604400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381250"/>
            <a:ext cx="3505200" cy="3143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t>• 手动缓存服务、方法缓存与失效边界
• TraceId、日志和 MiniProfiler 联合定位
• RateLimit 当前注册与未启用状态
• HostedService 的 Scope、取消、异常、用户上下文和幂等</a:t>
            </a:r>
          </a:p>
        </p:txBody>
      </p:sp>
      <p:sp>
        <p:nvSpPr>
          <p:cNvPr id="8" name="scope-band-1">
            <a:extLst xmlns:a="http://schemas.openxmlformats.org/drawingml/2006/main">
              <a:ext uri="{FF2B5EF4-FFF2-40B4-BE49-F238E27FC236}">
                <a16:creationId xmlns:a16="http://schemas.microsoft.com/office/drawing/2014/main" id="{A03F4AE4-A1CC-4D7A-9286-BCFAF322BC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1466850"/>
            <a:ext cx="35814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3F5"/>
          </a:solidFill>
          <a:ln xmlns:a="http://schemas.openxmlformats.org/drawingml/2006/main" w="0">
            <a:solidFill>
              <a:srgbClr val="F1F3F5"/>
            </a:solidFill>
            <a:prstDash val="solid"/>
          </a:ln>
        </p:spPr>
      </p:sp>
      <p:sp>
        <p:nvSpPr>
          <p:cNvPr id="9" name="scope-label-1">
            <a:extLst xmlns:a="http://schemas.openxmlformats.org/drawingml/2006/main">
              <a:ext uri="{FF2B5EF4-FFF2-40B4-BE49-F238E27FC236}">
                <a16:creationId xmlns:a16="http://schemas.microsoft.com/office/drawing/2014/main" id="{9FFD9A9D-DF77-4460-9973-4F109BB84F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1619250"/>
            <a:ext cx="320040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t>前置知识</a:t>
            </a:r>
          </a:p>
        </p:txBody>
      </p:sp>
      <p:sp>
        <p:nvSpPr>
          <p:cNvPr id="10" name="scope-body-1">
            <a:extLst xmlns:a="http://schemas.openxmlformats.org/drawingml/2006/main">
              <a:ext uri="{FF2B5EF4-FFF2-40B4-BE49-F238E27FC236}">
                <a16:creationId xmlns:a16="http://schemas.microsoft.com/office/drawing/2014/main" id="{450CCE89-F523-495C-B621-AE779358E4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2381250"/>
            <a:ext cx="3505200" cy="3143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t>• 理解请求链、AOP 和 TraceId
• 了解缓存命中与失效的基本概念
• 了解 ASP.NET Core HostedService</a:t>
            </a:r>
          </a:p>
        </p:txBody>
      </p:sp>
      <p:sp>
        <p:nvSpPr>
          <p:cNvPr id="11" name="scope-band-2">
            <a:extLst xmlns:a="http://schemas.openxmlformats.org/drawingml/2006/main">
              <a:ext uri="{FF2B5EF4-FFF2-40B4-BE49-F238E27FC236}">
                <a16:creationId xmlns:a16="http://schemas.microsoft.com/office/drawing/2014/main" id="{E9D500B6-A161-48FE-B303-318DBD52DB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1466850"/>
            <a:ext cx="35814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7F1"/>
          </a:solidFill>
          <a:ln xmlns:a="http://schemas.openxmlformats.org/drawingml/2006/main" w="0">
            <a:solidFill>
              <a:srgbClr val="EEF7F1"/>
            </a:solidFill>
            <a:prstDash val="solid"/>
          </a:ln>
        </p:spPr>
      </p:sp>
      <p:sp>
        <p:nvSpPr>
          <p:cNvPr id="12" name="scope-label-2">
            <a:extLst xmlns:a="http://schemas.openxmlformats.org/drawingml/2006/main">
              <a:ext uri="{FF2B5EF4-FFF2-40B4-BE49-F238E27FC236}">
                <a16:creationId xmlns:a16="http://schemas.microsoft.com/office/drawing/2014/main" id="{C9AF89F0-E38F-417C-8A27-18C9EAF8A7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1619250"/>
            <a:ext cx="320040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t>学完应会</a:t>
            </a:r>
          </a:p>
        </p:txBody>
      </p:sp>
      <p:sp>
        <p:nvSpPr>
          <p:cNvPr id="13" name="scope-body-2">
            <a:extLst xmlns:a="http://schemas.openxmlformats.org/drawingml/2006/main">
              <a:ext uri="{FF2B5EF4-FFF2-40B4-BE49-F238E27FC236}">
                <a16:creationId xmlns:a16="http://schemas.microsoft.com/office/drawing/2014/main" id="{F1A64C5C-9E66-40B0-9700-EFA83B32D3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2381250"/>
            <a:ext cx="3505200" cy="3143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t>• 能判断缓存脏数据的常见原因
• 能区分 SQL 慢、SQL 数量多和 Service 慢
• 不会误认为 RateLimit 配置当前自动生效
• 能写出安全的轻量后台任务</a:t>
            </a:r>
          </a:p>
        </p:txBody>
      </p:sp>
    </p:spTree>
    <p:extLst>
      <p:ext uri="{BB962C8B-B14F-4D97-AF65-F5344CB8AC3E}">
        <p14:creationId xmlns:p14="http://schemas.microsoft.com/office/powerpoint/2010/main" val="1982051680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-title">
            <a:extLst xmlns:a="http://schemas.openxmlformats.org/drawingml/2006/main">
              <a:ext uri="{FF2B5EF4-FFF2-40B4-BE49-F238E27FC236}">
                <a16:creationId xmlns:a16="http://schemas.microsoft.com/office/drawing/2014/main" id="{80E42158-2F48-42CE-AED4-6DDBB8C52E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42900"/>
            <a:ext cx="10668000" cy="609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t>运行时问题要先留证据，再猜原因</a:t>
            </a:r>
          </a:p>
        </p:txBody>
      </p:sp>
      <p:sp>
        <p:nvSpPr>
          <p:cNvPr id="2" name="rule">
            <a:extLst xmlns:a="http://schemas.openxmlformats.org/drawingml/2006/main">
              <a:ext uri="{FF2B5EF4-FFF2-40B4-BE49-F238E27FC236}">
                <a16:creationId xmlns:a16="http://schemas.microsoft.com/office/drawing/2014/main" id="{C2CA7942-8B3E-4942-BDAE-B0C50F25C4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06680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solidFill>
              <a:srgbClr val="B8BCC4"/>
            </a:solidFill>
            <a:prstDash val="solid"/>
          </a:ln>
        </p:spPr>
      </p:sp>
      <p:sp>
        <p:nvSpPr>
          <p:cNvPr id="3" name="footer-deck">
            <a:extLst xmlns:a="http://schemas.openxmlformats.org/drawingml/2006/main">
              <a:ext uri="{FF2B5EF4-FFF2-40B4-BE49-F238E27FC236}">
                <a16:creationId xmlns:a16="http://schemas.microsoft.com/office/drawing/2014/main" id="{44CB92D8-3992-4C06-BC2D-395880E7B8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381750"/>
            <a:ext cx="72390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>
                <a:solidFill>
                  <a:srgbClr val="596273"/>
                </a:solidFill>
                <a:latin typeface="Microsoft YaHei"/>
                <a:ea typeface="Microsoft YaHei"/>
                <a:cs typeface="Microsoft YaHei"/>
              </a:defRPr>
            </a:pPr>
            <a:r>
              <a:t>08 · 运行稳定性</a:t>
            </a:r>
          </a:p>
        </p:txBody>
      </p:sp>
      <p:sp>
        <p:nvSpPr>
          <p:cNvPr id="4" name="footer-page">
            <a:extLst xmlns:a="http://schemas.openxmlformats.org/drawingml/2006/main">
              <a:ext uri="{FF2B5EF4-FFF2-40B4-BE49-F238E27FC236}">
                <a16:creationId xmlns:a16="http://schemas.microsoft.com/office/drawing/2014/main" id="{98286320-AA31-489B-B811-B352C026D0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6381750"/>
            <a:ext cx="13525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975">
                <a:solidFill>
                  <a:srgbClr val="596273"/>
                </a:solidFill>
                <a:latin typeface="Microsoft YaHei"/>
                <a:ea typeface="Microsoft YaHei"/>
                <a:cs typeface="Microsoft YaHei"/>
              </a:defRPr>
            </a:pPr>
            <a:r>
              <a:t>03 / 11</a:t>
            </a:r>
          </a:p>
        </p:txBody>
      </p:sp>
      <p:sp>
        <p:nvSpPr>
          <p:cNvPr id="5" name="statement">
            <a:extLst xmlns:a="http://schemas.openxmlformats.org/drawingml/2006/main">
              <a:ext uri="{FF2B5EF4-FFF2-40B4-BE49-F238E27FC236}">
                <a16:creationId xmlns:a16="http://schemas.microsoft.com/office/drawing/2014/main" id="{5633E32D-5BA8-4E3E-99E2-33499C92E4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562100"/>
            <a:ext cx="10668000" cy="1905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t>证据不关联，日志越多越难定位。</a:t>
            </a:r>
          </a:p>
        </p:txBody>
      </p:sp>
      <p:sp>
        <p:nvSpPr>
          <p:cNvPr id="6" name="rule">
            <a:extLst xmlns:a="http://schemas.openxmlformats.org/drawingml/2006/main">
              <a:ext uri="{FF2B5EF4-FFF2-40B4-BE49-F238E27FC236}">
                <a16:creationId xmlns:a16="http://schemas.microsoft.com/office/drawing/2014/main" id="{9F120E8F-4499-4DB4-AA11-4FF31643E3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810000"/>
            <a:ext cx="112776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solidFill>
              <a:srgbClr val="3D8DFF"/>
            </a:solidFill>
            <a:prstDash val="solid"/>
          </a:ln>
        </p:spPr>
      </p:sp>
      <p:sp>
        <p:nvSpPr>
          <p:cNvPr id="7" name="statement-index-0">
            <a:extLst xmlns:a="http://schemas.openxmlformats.org/drawingml/2006/main">
              <a:ext uri="{FF2B5EF4-FFF2-40B4-BE49-F238E27FC236}">
                <a16:creationId xmlns:a16="http://schemas.microsoft.com/office/drawing/2014/main" id="{3F7F7F4E-EFDC-4869-8A5A-89E82120D5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267200"/>
            <a:ext cx="49530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459B8"/>
                </a:solidFill>
                <a:latin typeface="Microsoft YaHei"/>
                <a:ea typeface="Microsoft YaHei"/>
                <a:cs typeface="Microsoft YaHei"/>
              </a:defRPr>
            </a:pPr>
            <a:r>
              <a:t>01</a:t>
            </a:r>
          </a:p>
        </p:txBody>
      </p:sp>
      <p:sp>
        <p:nvSpPr>
          <p:cNvPr id="8" name="statement-point-0">
            <a:extLst xmlns:a="http://schemas.openxmlformats.org/drawingml/2006/main">
              <a:ext uri="{FF2B5EF4-FFF2-40B4-BE49-F238E27FC236}">
                <a16:creationId xmlns:a16="http://schemas.microsoft.com/office/drawing/2014/main" id="{CC30D3EE-8C2E-41B0-9828-FED99325CB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762500"/>
            <a:ext cx="2562225" cy="990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>
                <a:solidFill>
                  <a:srgbClr val="596273"/>
                </a:solidFill>
                <a:latin typeface="Microsoft YaHei"/>
                <a:ea typeface="Microsoft YaHei"/>
                <a:cs typeface="Microsoft YaHei"/>
              </a:defRPr>
            </a:pPr>
            <a:r>
              <a:t>记录请求时间、用户和接口</a:t>
            </a:r>
          </a:p>
        </p:txBody>
      </p:sp>
      <p:sp>
        <p:nvSpPr>
          <p:cNvPr id="9" name="statement-index-1">
            <a:extLst xmlns:a="http://schemas.openxmlformats.org/drawingml/2006/main">
              <a:ext uri="{FF2B5EF4-FFF2-40B4-BE49-F238E27FC236}">
                <a16:creationId xmlns:a16="http://schemas.microsoft.com/office/drawing/2014/main" id="{9DE6FCC1-56DE-487D-BE5F-66AD94C2EE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62325" y="4267200"/>
            <a:ext cx="49530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459B8"/>
                </a:solidFill>
                <a:latin typeface="Microsoft YaHei"/>
                <a:ea typeface="Microsoft YaHei"/>
                <a:cs typeface="Microsoft YaHei"/>
              </a:defRPr>
            </a:pPr>
            <a:r>
              <a:t>02</a:t>
            </a:r>
          </a:p>
        </p:txBody>
      </p:sp>
      <p:sp>
        <p:nvSpPr>
          <p:cNvPr id="10" name="statement-point-1">
            <a:extLst xmlns:a="http://schemas.openxmlformats.org/drawingml/2006/main">
              <a:ext uri="{FF2B5EF4-FFF2-40B4-BE49-F238E27FC236}">
                <a16:creationId xmlns:a16="http://schemas.microsoft.com/office/drawing/2014/main" id="{BFD263C2-9EFB-4135-A447-8501D5A969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62325" y="4762500"/>
            <a:ext cx="2562225" cy="990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>
                <a:solidFill>
                  <a:srgbClr val="596273"/>
                </a:solidFill>
                <a:latin typeface="Microsoft YaHei"/>
                <a:ea typeface="Microsoft YaHei"/>
                <a:cs typeface="Microsoft YaHei"/>
              </a:defRPr>
            </a:pPr>
            <a:r>
              <a:t>保存响应 traceId 与状态码</a:t>
            </a:r>
          </a:p>
        </p:txBody>
      </p:sp>
      <p:sp>
        <p:nvSpPr>
          <p:cNvPr id="11" name="statement-index-2">
            <a:extLst xmlns:a="http://schemas.openxmlformats.org/drawingml/2006/main">
              <a:ext uri="{FF2B5EF4-FFF2-40B4-BE49-F238E27FC236}">
                <a16:creationId xmlns:a16="http://schemas.microsoft.com/office/drawing/2014/main" id="{EB787292-B6B8-482F-AA10-830C77B34F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4267200"/>
            <a:ext cx="49530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459B8"/>
                </a:solidFill>
                <a:latin typeface="Microsoft YaHei"/>
                <a:ea typeface="Microsoft YaHei"/>
                <a:cs typeface="Microsoft YaHei"/>
              </a:defRPr>
            </a:pPr>
            <a:r>
              <a:t>03</a:t>
            </a:r>
          </a:p>
        </p:txBody>
      </p:sp>
      <p:sp>
        <p:nvSpPr>
          <p:cNvPr id="12" name="statement-point-2">
            <a:extLst xmlns:a="http://schemas.openxmlformats.org/drawingml/2006/main">
              <a:ext uri="{FF2B5EF4-FFF2-40B4-BE49-F238E27FC236}">
                <a16:creationId xmlns:a16="http://schemas.microsoft.com/office/drawing/2014/main" id="{E3653793-805B-4D05-AB8A-26611D2212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4762500"/>
            <a:ext cx="2562225" cy="990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>
                <a:solidFill>
                  <a:srgbClr val="596273"/>
                </a:solidFill>
                <a:latin typeface="Microsoft YaHei"/>
                <a:ea typeface="Microsoft YaHei"/>
                <a:cs typeface="Microsoft YaHei"/>
              </a:defRPr>
            </a:pPr>
            <a:r>
              <a:t>保留 MiniProfiler 和 SQL 证据</a:t>
            </a:r>
          </a:p>
        </p:txBody>
      </p:sp>
      <p:sp>
        <p:nvSpPr>
          <p:cNvPr id="13" name="statement-index-3">
            <a:extLst xmlns:a="http://schemas.openxmlformats.org/drawingml/2006/main">
              <a:ext uri="{FF2B5EF4-FFF2-40B4-BE49-F238E27FC236}">
                <a16:creationId xmlns:a16="http://schemas.microsoft.com/office/drawing/2014/main" id="{320C9848-04E9-4F93-B90E-72B52498EC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72575" y="4267200"/>
            <a:ext cx="49530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459B8"/>
                </a:solidFill>
                <a:latin typeface="Microsoft YaHei"/>
                <a:ea typeface="Microsoft YaHei"/>
                <a:cs typeface="Microsoft YaHei"/>
              </a:defRPr>
            </a:pPr>
            <a:r>
              <a:t>04</a:t>
            </a:r>
          </a:p>
        </p:txBody>
      </p:sp>
      <p:sp>
        <p:nvSpPr>
          <p:cNvPr id="14" name="statement-point-3">
            <a:extLst xmlns:a="http://schemas.openxmlformats.org/drawingml/2006/main">
              <a:ext uri="{FF2B5EF4-FFF2-40B4-BE49-F238E27FC236}">
                <a16:creationId xmlns:a16="http://schemas.microsoft.com/office/drawing/2014/main" id="{9EB2B622-CFC7-4C88-A980-015921C9B6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72575" y="4762500"/>
            <a:ext cx="2562225" cy="990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>
                <a:solidFill>
                  <a:srgbClr val="596273"/>
                </a:solidFill>
                <a:latin typeface="Microsoft YaHei"/>
                <a:ea typeface="Microsoft YaHei"/>
                <a:cs typeface="Microsoft YaHei"/>
              </a:defRPr>
            </a:pPr>
            <a:r>
              <a:t>区分首次、重复和并发请求</a:t>
            </a:r>
          </a:p>
        </p:txBody>
      </p:sp>
    </p:spTree>
    <p:extLst>
      <p:ext uri="{BB962C8B-B14F-4D97-AF65-F5344CB8AC3E}">
        <p14:creationId xmlns:p14="http://schemas.microsoft.com/office/powerpoint/2010/main" val="1941233138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-title">
            <a:extLst xmlns:a="http://schemas.openxmlformats.org/drawingml/2006/main">
              <a:ext uri="{FF2B5EF4-FFF2-40B4-BE49-F238E27FC236}">
                <a16:creationId xmlns:a16="http://schemas.microsoft.com/office/drawing/2014/main" id="{26E90DC3-A21C-4510-B9F7-82BF1F16B0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42900"/>
            <a:ext cx="10668000" cy="609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t>缓存有手动服务和方法级特性两条路径</a:t>
            </a:r>
          </a:p>
        </p:txBody>
      </p:sp>
      <p:sp>
        <p:nvSpPr>
          <p:cNvPr id="2" name="rule">
            <a:extLst xmlns:a="http://schemas.openxmlformats.org/drawingml/2006/main">
              <a:ext uri="{FF2B5EF4-FFF2-40B4-BE49-F238E27FC236}">
                <a16:creationId xmlns:a16="http://schemas.microsoft.com/office/drawing/2014/main" id="{37592CC9-E04E-465D-96FE-C60DDCE9EB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06680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solidFill>
              <a:srgbClr val="B8BCC4"/>
            </a:solidFill>
            <a:prstDash val="solid"/>
          </a:ln>
        </p:spPr>
      </p:sp>
      <p:sp>
        <p:nvSpPr>
          <p:cNvPr id="3" name="footer-deck">
            <a:extLst xmlns:a="http://schemas.openxmlformats.org/drawingml/2006/main">
              <a:ext uri="{FF2B5EF4-FFF2-40B4-BE49-F238E27FC236}">
                <a16:creationId xmlns:a16="http://schemas.microsoft.com/office/drawing/2014/main" id="{F0BAF462-51AC-4405-BEAB-FBB7608543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381750"/>
            <a:ext cx="72390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>
                <a:solidFill>
                  <a:srgbClr val="596273"/>
                </a:solidFill>
                <a:latin typeface="Microsoft YaHei"/>
                <a:ea typeface="Microsoft YaHei"/>
                <a:cs typeface="Microsoft YaHei"/>
              </a:defRPr>
            </a:pPr>
            <a:r>
              <a:t>08 · 运行稳定性</a:t>
            </a:r>
          </a:p>
        </p:txBody>
      </p:sp>
      <p:sp>
        <p:nvSpPr>
          <p:cNvPr id="4" name="footer-page">
            <a:extLst xmlns:a="http://schemas.openxmlformats.org/drawingml/2006/main">
              <a:ext uri="{FF2B5EF4-FFF2-40B4-BE49-F238E27FC236}">
                <a16:creationId xmlns:a16="http://schemas.microsoft.com/office/drawing/2014/main" id="{DAB5DE7B-DA2D-4BD1-B872-2614BC20B2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6381750"/>
            <a:ext cx="13525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975">
                <a:solidFill>
                  <a:srgbClr val="596273"/>
                </a:solidFill>
                <a:latin typeface="Microsoft YaHei"/>
                <a:ea typeface="Microsoft YaHei"/>
                <a:cs typeface="Microsoft YaHei"/>
              </a:defRPr>
            </a:pPr>
            <a:r>
              <a:t>04 / 11</a:t>
            </a:r>
          </a:p>
        </p:txBody>
      </p:sp>
      <p:sp>
        <p:nvSpPr>
          <p:cNvPr id="5" name="compare-band-0">
            <a:extLst xmlns:a="http://schemas.openxmlformats.org/drawingml/2006/main">
              <a:ext uri="{FF2B5EF4-FFF2-40B4-BE49-F238E27FC236}">
                <a16:creationId xmlns:a16="http://schemas.microsoft.com/office/drawing/2014/main" id="{42C5BDC7-D551-435C-95C4-A0E0B9D7D0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562100"/>
            <a:ext cx="533400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5FB"/>
          </a:solidFill>
          <a:ln xmlns:a="http://schemas.openxmlformats.org/drawingml/2006/main" w="0">
            <a:solidFill>
              <a:srgbClr val="EAF5FB"/>
            </a:solidFill>
            <a:prstDash val="solid"/>
          </a:ln>
        </p:spPr>
      </p:sp>
      <p:sp>
        <p:nvSpPr>
          <p:cNvPr id="6" name="compare-title-0">
            <a:extLst xmlns:a="http://schemas.openxmlformats.org/drawingml/2006/main">
              <a:ext uri="{FF2B5EF4-FFF2-40B4-BE49-F238E27FC236}">
                <a16:creationId xmlns:a16="http://schemas.microsoft.com/office/drawing/2014/main" id="{473F1375-BAA9-461C-ABA1-177F12BEDD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790700"/>
            <a:ext cx="4914900" cy="457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t>ICacheService</a:t>
            </a:r>
          </a:p>
        </p:txBody>
      </p:sp>
      <p:sp>
        <p:nvSpPr>
          <p:cNvPr id="7" name="compare-body-0">
            <a:extLst xmlns:a="http://schemas.openxmlformats.org/drawingml/2006/main">
              <a:ext uri="{FF2B5EF4-FFF2-40B4-BE49-F238E27FC236}">
                <a16:creationId xmlns:a16="http://schemas.microsoft.com/office/drawing/2014/main" id="{DB7B5781-4166-44F6-99A4-08CF2EC22E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743200"/>
            <a:ext cx="5257800" cy="3143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>
                <a:solidFill>
                  <a:srgbClr val="596273"/>
                </a:solidFill>
                <a:latin typeface="Microsoft YaHei"/>
                <a:ea typeface="Microsoft YaHei"/>
                <a:cs typeface="Microsoft YaHei"/>
              </a:defRPr>
            </a:pPr>
            <a:r>
              <a:t>• 业务代码明确 get / set / remove
• 适合主动失效和组合 key
• 调用方能控制缓存生命周期
• 需要自己保持读写一致</a:t>
            </a:r>
          </a:p>
        </p:txBody>
      </p:sp>
      <p:sp>
        <p:nvSpPr>
          <p:cNvPr id="8" name="compare-band-1">
            <a:extLst xmlns:a="http://schemas.openxmlformats.org/drawingml/2006/main">
              <a:ext uri="{FF2B5EF4-FFF2-40B4-BE49-F238E27FC236}">
                <a16:creationId xmlns:a16="http://schemas.microsoft.com/office/drawing/2014/main" id="{DC84E208-D188-4179-A13C-62A0E8E96F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1562100"/>
            <a:ext cx="533400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3F5"/>
          </a:solidFill>
          <a:ln xmlns:a="http://schemas.openxmlformats.org/drawingml/2006/main" w="0">
            <a:solidFill>
              <a:srgbClr val="F1F3F5"/>
            </a:solidFill>
            <a:prstDash val="solid"/>
          </a:ln>
        </p:spPr>
      </p:sp>
      <p:sp>
        <p:nvSpPr>
          <p:cNvPr id="9" name="compare-title-1">
            <a:extLst xmlns:a="http://schemas.openxmlformats.org/drawingml/2006/main">
              <a:ext uri="{FF2B5EF4-FFF2-40B4-BE49-F238E27FC236}">
                <a16:creationId xmlns:a16="http://schemas.microsoft.com/office/drawing/2014/main" id="{EBCD9920-0C41-46F8-8D2A-72FB8F6C0A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1790700"/>
            <a:ext cx="4914900" cy="457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t>[Cache] + AOP</a:t>
            </a:r>
          </a:p>
        </p:txBody>
      </p:sp>
      <p:sp>
        <p:nvSpPr>
          <p:cNvPr id="10" name="compare-body-1">
            <a:extLst xmlns:a="http://schemas.openxmlformats.org/drawingml/2006/main">
              <a:ext uri="{FF2B5EF4-FFF2-40B4-BE49-F238E27FC236}">
                <a16:creationId xmlns:a16="http://schemas.microsoft.com/office/drawing/2014/main" id="{95879762-FE23-4837-8A2B-D7AD0E9E98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2743200"/>
            <a:ext cx="5257800" cy="3143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>
                <a:solidFill>
                  <a:srgbClr val="596273"/>
                </a:solidFill>
                <a:latin typeface="Microsoft YaHei"/>
                <a:ea typeface="Microsoft YaHei"/>
                <a:cs typeface="Microsoft YaHei"/>
              </a:defRPr>
            </a:pPr>
            <a:r>
              <a:t>• 方法调用前后由拦截器处理
• 适合稳定的读取结果缓存
• 必须通过接口代理调用
• 写操作后仍要设计清理策略</a:t>
            </a:r>
          </a:p>
        </p:txBody>
      </p:sp>
    </p:spTree>
    <p:extLst>
      <p:ext uri="{BB962C8B-B14F-4D97-AF65-F5344CB8AC3E}">
        <p14:creationId xmlns:p14="http://schemas.microsoft.com/office/powerpoint/2010/main" val="215596306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-title">
            <a:extLst xmlns:a="http://schemas.openxmlformats.org/drawingml/2006/main">
              <a:ext uri="{FF2B5EF4-FFF2-40B4-BE49-F238E27FC236}">
                <a16:creationId xmlns:a16="http://schemas.microsoft.com/office/drawing/2014/main" id="{79A6598D-5399-48B5-8690-B3E35C445D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42900"/>
            <a:ext cx="10668000" cy="609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t>缓存 key 与失效策略决定是否出现脏数据</a:t>
            </a:r>
          </a:p>
        </p:txBody>
      </p:sp>
      <p:sp>
        <p:nvSpPr>
          <p:cNvPr id="2" name="rule">
            <a:extLst xmlns:a="http://schemas.openxmlformats.org/drawingml/2006/main">
              <a:ext uri="{FF2B5EF4-FFF2-40B4-BE49-F238E27FC236}">
                <a16:creationId xmlns:a16="http://schemas.microsoft.com/office/drawing/2014/main" id="{73DE33C1-C2D3-4950-A26B-43542C4734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06680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solidFill>
              <a:srgbClr val="B8BCC4"/>
            </a:solidFill>
            <a:prstDash val="solid"/>
          </a:ln>
        </p:spPr>
      </p:sp>
      <p:sp>
        <p:nvSpPr>
          <p:cNvPr id="3" name="footer-deck">
            <a:extLst xmlns:a="http://schemas.openxmlformats.org/drawingml/2006/main">
              <a:ext uri="{FF2B5EF4-FFF2-40B4-BE49-F238E27FC236}">
                <a16:creationId xmlns:a16="http://schemas.microsoft.com/office/drawing/2014/main" id="{4D1D1993-236C-4FE4-8BA3-9CF5383D5C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381750"/>
            <a:ext cx="72390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>
                <a:solidFill>
                  <a:srgbClr val="596273"/>
                </a:solidFill>
                <a:latin typeface="Microsoft YaHei"/>
                <a:ea typeface="Microsoft YaHei"/>
                <a:cs typeface="Microsoft YaHei"/>
              </a:defRPr>
            </a:pPr>
            <a:r>
              <a:t>08 · 运行稳定性</a:t>
            </a:r>
          </a:p>
        </p:txBody>
      </p:sp>
      <p:sp>
        <p:nvSpPr>
          <p:cNvPr id="4" name="footer-page">
            <a:extLst xmlns:a="http://schemas.openxmlformats.org/drawingml/2006/main">
              <a:ext uri="{FF2B5EF4-FFF2-40B4-BE49-F238E27FC236}">
                <a16:creationId xmlns:a16="http://schemas.microsoft.com/office/drawing/2014/main" id="{D93D1E1B-361B-48B9-BBCC-A45A1EBC3C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6381750"/>
            <a:ext cx="13525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975">
                <a:solidFill>
                  <a:srgbClr val="596273"/>
                </a:solidFill>
                <a:latin typeface="Microsoft YaHei"/>
                <a:ea typeface="Microsoft YaHei"/>
                <a:cs typeface="Microsoft YaHei"/>
              </a:defRPr>
            </a:pPr>
            <a:r>
              <a:t>05 / 11</a:t>
            </a:r>
          </a:p>
        </p:txBody>
      </p:sp>
      <p:sp>
        <p:nvSpPr>
          <p:cNvPr id="5" name="checklist-title-0">
            <a:extLst xmlns:a="http://schemas.openxmlformats.org/drawingml/2006/main">
              <a:ext uri="{FF2B5EF4-FFF2-40B4-BE49-F238E27FC236}">
                <a16:creationId xmlns:a16="http://schemas.microsoft.com/office/drawing/2014/main" id="{0AA922BB-0B27-4A9F-8116-3E044CDEB7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524000"/>
            <a:ext cx="5143500" cy="495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459B8"/>
                </a:solidFill>
                <a:latin typeface="Microsoft YaHei"/>
                <a:ea typeface="Microsoft YaHei"/>
                <a:cs typeface="Microsoft YaHei"/>
              </a:defRPr>
            </a:pPr>
            <a:r>
              <a:t>key 设计</a:t>
            </a:r>
          </a:p>
        </p:txBody>
      </p:sp>
      <p:sp>
        <p:nvSpPr>
          <p:cNvPr id="6" name="check-square">
            <a:extLst xmlns:a="http://schemas.openxmlformats.org/drawingml/2006/main">
              <a:ext uri="{FF2B5EF4-FFF2-40B4-BE49-F238E27FC236}">
                <a16:creationId xmlns:a16="http://schemas.microsoft.com/office/drawing/2014/main" id="{DD42C2C2-6EA7-44E1-8662-81978C9604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305050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solidFill>
              <a:srgbClr val="3D8DFF"/>
            </a:solidFill>
            <a:prstDash val="solid"/>
          </a:ln>
        </p:spPr>
      </p:sp>
      <p:sp>
        <p:nvSpPr>
          <p:cNvPr id="7" name="check-mark">
            <a:extLst xmlns:a="http://schemas.openxmlformats.org/drawingml/2006/main">
              <a:ext uri="{FF2B5EF4-FFF2-40B4-BE49-F238E27FC236}">
                <a16:creationId xmlns:a16="http://schemas.microsoft.com/office/drawing/2014/main" id="{017885D1-AB12-4E73-AF4A-51692C55A4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257425"/>
            <a:ext cx="2095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t>✓</a:t>
            </a:r>
          </a:p>
        </p:txBody>
      </p:sp>
      <p:sp>
        <p:nvSpPr>
          <p:cNvPr id="8" name="check-text-0-0">
            <a:extLst xmlns:a="http://schemas.openxmlformats.org/drawingml/2006/main">
              <a:ext uri="{FF2B5EF4-FFF2-40B4-BE49-F238E27FC236}">
                <a16:creationId xmlns:a16="http://schemas.microsoft.com/office/drawing/2014/main" id="{004B010A-ED75-476B-B23F-FA949FF39F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266950"/>
            <a:ext cx="4762500" cy="495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>
                <a:solidFill>
                  <a:srgbClr val="596273"/>
                </a:solidFill>
                <a:latin typeface="Microsoft YaHei"/>
                <a:ea typeface="Microsoft YaHei"/>
                <a:cs typeface="Microsoft YaHei"/>
              </a:defRPr>
            </a:pPr>
            <a:r>
              <a:t>包含租户、仓库、货主等真实作用域</a:t>
            </a:r>
          </a:p>
        </p:txBody>
      </p:sp>
      <p:sp>
        <p:nvSpPr>
          <p:cNvPr id="9" name="check-square">
            <a:extLst xmlns:a="http://schemas.openxmlformats.org/drawingml/2006/main">
              <a:ext uri="{FF2B5EF4-FFF2-40B4-BE49-F238E27FC236}">
                <a16:creationId xmlns:a16="http://schemas.microsoft.com/office/drawing/2014/main" id="{2D607F36-0DCE-48B4-B4AB-21FA305693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971800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solidFill>
              <a:srgbClr val="3D8DFF"/>
            </a:solidFill>
            <a:prstDash val="solid"/>
          </a:ln>
        </p:spPr>
      </p:sp>
      <p:sp>
        <p:nvSpPr>
          <p:cNvPr id="10" name="check-mark">
            <a:extLst xmlns:a="http://schemas.openxmlformats.org/drawingml/2006/main">
              <a:ext uri="{FF2B5EF4-FFF2-40B4-BE49-F238E27FC236}">
                <a16:creationId xmlns:a16="http://schemas.microsoft.com/office/drawing/2014/main" id="{2FACF456-64EF-4507-891E-C497D6BA5C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924175"/>
            <a:ext cx="2095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t>✓</a:t>
            </a:r>
          </a:p>
        </p:txBody>
      </p:sp>
      <p:sp>
        <p:nvSpPr>
          <p:cNvPr id="11" name="check-text-0-1">
            <a:extLst xmlns:a="http://schemas.openxmlformats.org/drawingml/2006/main">
              <a:ext uri="{FF2B5EF4-FFF2-40B4-BE49-F238E27FC236}">
                <a16:creationId xmlns:a16="http://schemas.microsoft.com/office/drawing/2014/main" id="{85BE4B85-D4EF-4D8C-B7CB-F9D74DB46A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933700"/>
            <a:ext cx="4762500" cy="495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>
                <a:solidFill>
                  <a:srgbClr val="596273"/>
                </a:solidFill>
                <a:latin typeface="Microsoft YaHei"/>
                <a:ea typeface="Microsoft YaHei"/>
                <a:cs typeface="Microsoft YaHei"/>
              </a:defRPr>
            </a:pPr>
            <a:r>
              <a:t>包含影响结果的查询参数</a:t>
            </a:r>
          </a:p>
        </p:txBody>
      </p:sp>
      <p:sp>
        <p:nvSpPr>
          <p:cNvPr id="12" name="check-square">
            <a:extLst xmlns:a="http://schemas.openxmlformats.org/drawingml/2006/main">
              <a:ext uri="{FF2B5EF4-FFF2-40B4-BE49-F238E27FC236}">
                <a16:creationId xmlns:a16="http://schemas.microsoft.com/office/drawing/2014/main" id="{4B29EBF8-B761-45F1-9E80-E92778F7E3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638550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solidFill>
              <a:srgbClr val="3D8DFF"/>
            </a:solidFill>
            <a:prstDash val="solid"/>
          </a:ln>
        </p:spPr>
      </p:sp>
      <p:sp>
        <p:nvSpPr>
          <p:cNvPr id="13" name="check-mark">
            <a:extLst xmlns:a="http://schemas.openxmlformats.org/drawingml/2006/main">
              <a:ext uri="{FF2B5EF4-FFF2-40B4-BE49-F238E27FC236}">
                <a16:creationId xmlns:a16="http://schemas.microsoft.com/office/drawing/2014/main" id="{9C1278F3-BED4-428C-A6EC-ECB7945D9D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590925"/>
            <a:ext cx="2095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t>✓</a:t>
            </a:r>
          </a:p>
        </p:txBody>
      </p:sp>
      <p:sp>
        <p:nvSpPr>
          <p:cNvPr id="14" name="check-text-0-2">
            <a:extLst xmlns:a="http://schemas.openxmlformats.org/drawingml/2006/main">
              <a:ext uri="{FF2B5EF4-FFF2-40B4-BE49-F238E27FC236}">
                <a16:creationId xmlns:a16="http://schemas.microsoft.com/office/drawing/2014/main" id="{C09D1C8B-A8E9-401C-BF7E-4C87627728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600450"/>
            <a:ext cx="4762500" cy="495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>
                <a:solidFill>
                  <a:srgbClr val="596273"/>
                </a:solidFill>
                <a:latin typeface="Microsoft YaHei"/>
                <a:ea typeface="Microsoft YaHei"/>
                <a:cs typeface="Microsoft YaHei"/>
              </a:defRPr>
            </a:pPr>
            <a:r>
              <a:t>区分用户私有数据与公共数据</a:t>
            </a:r>
          </a:p>
        </p:txBody>
      </p:sp>
      <p:sp>
        <p:nvSpPr>
          <p:cNvPr id="15" name="check-square">
            <a:extLst xmlns:a="http://schemas.openxmlformats.org/drawingml/2006/main">
              <a:ext uri="{FF2B5EF4-FFF2-40B4-BE49-F238E27FC236}">
                <a16:creationId xmlns:a16="http://schemas.microsoft.com/office/drawing/2014/main" id="{343B1ED1-9775-411C-929B-5EC541C02E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305300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solidFill>
              <a:srgbClr val="3D8DFF"/>
            </a:solidFill>
            <a:prstDash val="solid"/>
          </a:ln>
        </p:spPr>
      </p:sp>
      <p:sp>
        <p:nvSpPr>
          <p:cNvPr id="16" name="check-mark">
            <a:extLst xmlns:a="http://schemas.openxmlformats.org/drawingml/2006/main">
              <a:ext uri="{FF2B5EF4-FFF2-40B4-BE49-F238E27FC236}">
                <a16:creationId xmlns:a16="http://schemas.microsoft.com/office/drawing/2014/main" id="{39A72817-8350-4984-B06E-DFFD468D67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257675"/>
            <a:ext cx="2095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t>✓</a:t>
            </a:r>
          </a:p>
        </p:txBody>
      </p:sp>
      <p:sp>
        <p:nvSpPr>
          <p:cNvPr id="17" name="check-text-0-3">
            <a:extLst xmlns:a="http://schemas.openxmlformats.org/drawingml/2006/main">
              <a:ext uri="{FF2B5EF4-FFF2-40B4-BE49-F238E27FC236}">
                <a16:creationId xmlns:a16="http://schemas.microsoft.com/office/drawing/2014/main" id="{71632321-A9B7-4692-A801-B685C73140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267200"/>
            <a:ext cx="4762500" cy="495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>
                <a:solidFill>
                  <a:srgbClr val="596273"/>
                </a:solidFill>
                <a:latin typeface="Microsoft YaHei"/>
                <a:ea typeface="Microsoft YaHei"/>
                <a:cs typeface="Microsoft YaHei"/>
              </a:defRPr>
            </a:pPr>
            <a:r>
              <a:t>名称稳定并便于主动删除</a:t>
            </a:r>
          </a:p>
        </p:txBody>
      </p:sp>
      <p:sp>
        <p:nvSpPr>
          <p:cNvPr id="18" name="checklist-title-1">
            <a:extLst xmlns:a="http://schemas.openxmlformats.org/drawingml/2006/main">
              <a:ext uri="{FF2B5EF4-FFF2-40B4-BE49-F238E27FC236}">
                <a16:creationId xmlns:a16="http://schemas.microsoft.com/office/drawing/2014/main" id="{11BCD9AC-05E7-49AD-A786-4DD3099423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1524000"/>
            <a:ext cx="5143500" cy="495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t>一致性验证</a:t>
            </a:r>
          </a:p>
        </p:txBody>
      </p:sp>
      <p:sp>
        <p:nvSpPr>
          <p:cNvPr id="19" name="check-square">
            <a:extLst xmlns:a="http://schemas.openxmlformats.org/drawingml/2006/main">
              <a:ext uri="{FF2B5EF4-FFF2-40B4-BE49-F238E27FC236}">
                <a16:creationId xmlns:a16="http://schemas.microsoft.com/office/drawing/2014/main" id="{A0187DBB-5AE2-42F6-BFD2-37782BB5E6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2305050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solidFill>
              <a:srgbClr val="3D8DFF"/>
            </a:solidFill>
            <a:prstDash val="solid"/>
          </a:ln>
        </p:spPr>
      </p:sp>
      <p:sp>
        <p:nvSpPr>
          <p:cNvPr id="20" name="check-mark">
            <a:extLst xmlns:a="http://schemas.openxmlformats.org/drawingml/2006/main">
              <a:ext uri="{FF2B5EF4-FFF2-40B4-BE49-F238E27FC236}">
                <a16:creationId xmlns:a16="http://schemas.microsoft.com/office/drawing/2014/main" id="{60EF957F-B72C-44AB-9615-AAC1718B6D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2257425"/>
            <a:ext cx="2095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t>✓</a:t>
            </a:r>
          </a:p>
        </p:txBody>
      </p:sp>
      <p:sp>
        <p:nvSpPr>
          <p:cNvPr id="21" name="check-text-1-0">
            <a:extLst xmlns:a="http://schemas.openxmlformats.org/drawingml/2006/main">
              <a:ext uri="{FF2B5EF4-FFF2-40B4-BE49-F238E27FC236}">
                <a16:creationId xmlns:a16="http://schemas.microsoft.com/office/drawing/2014/main" id="{3AA0D07A-09F7-439D-A366-E1CC611C62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2266950"/>
            <a:ext cx="4762500" cy="495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>
                <a:solidFill>
                  <a:srgbClr val="596273"/>
                </a:solidFill>
                <a:latin typeface="Microsoft YaHei"/>
                <a:ea typeface="Microsoft YaHei"/>
                <a:cs typeface="Microsoft YaHei"/>
              </a:defRPr>
            </a:pPr>
            <a:r>
              <a:t>写入成功后清理相关读取缓存</a:t>
            </a:r>
          </a:p>
        </p:txBody>
      </p:sp>
      <p:sp>
        <p:nvSpPr>
          <p:cNvPr id="22" name="check-square">
            <a:extLst xmlns:a="http://schemas.openxmlformats.org/drawingml/2006/main">
              <a:ext uri="{FF2B5EF4-FFF2-40B4-BE49-F238E27FC236}">
                <a16:creationId xmlns:a16="http://schemas.microsoft.com/office/drawing/2014/main" id="{03774213-5ACB-4C9F-A3BE-9604730941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2971800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solidFill>
              <a:srgbClr val="3D8DFF"/>
            </a:solidFill>
            <a:prstDash val="solid"/>
          </a:ln>
        </p:spPr>
      </p:sp>
      <p:sp>
        <p:nvSpPr>
          <p:cNvPr id="23" name="check-mark">
            <a:extLst xmlns:a="http://schemas.openxmlformats.org/drawingml/2006/main">
              <a:ext uri="{FF2B5EF4-FFF2-40B4-BE49-F238E27FC236}">
                <a16:creationId xmlns:a16="http://schemas.microsoft.com/office/drawing/2014/main" id="{DFE8335C-64DD-46B8-A17E-F976010072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2924175"/>
            <a:ext cx="2095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t>✓</a:t>
            </a:r>
          </a:p>
        </p:txBody>
      </p:sp>
      <p:sp>
        <p:nvSpPr>
          <p:cNvPr id="24" name="check-text-1-1">
            <a:extLst xmlns:a="http://schemas.openxmlformats.org/drawingml/2006/main">
              <a:ext uri="{FF2B5EF4-FFF2-40B4-BE49-F238E27FC236}">
                <a16:creationId xmlns:a16="http://schemas.microsoft.com/office/drawing/2014/main" id="{D0A9E5CF-EC3D-4FB6-A6E3-497C7EAC18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2933700"/>
            <a:ext cx="4762500" cy="495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>
                <a:solidFill>
                  <a:srgbClr val="596273"/>
                </a:solidFill>
                <a:latin typeface="Microsoft YaHei"/>
                <a:ea typeface="Microsoft YaHei"/>
                <a:cs typeface="Microsoft YaHei"/>
              </a:defRPr>
            </a:pPr>
            <a:r>
              <a:t>配置修改后处理配置缓存</a:t>
            </a:r>
          </a:p>
        </p:txBody>
      </p:sp>
      <p:sp>
        <p:nvSpPr>
          <p:cNvPr id="25" name="check-square">
            <a:extLst xmlns:a="http://schemas.openxmlformats.org/drawingml/2006/main">
              <a:ext uri="{FF2B5EF4-FFF2-40B4-BE49-F238E27FC236}">
                <a16:creationId xmlns:a16="http://schemas.microsoft.com/office/drawing/2014/main" id="{7CEDFDFC-3EE1-49C1-942D-07DD7C96AC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638550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solidFill>
              <a:srgbClr val="3D8DFF"/>
            </a:solidFill>
            <a:prstDash val="solid"/>
          </a:ln>
        </p:spPr>
      </p:sp>
      <p:sp>
        <p:nvSpPr>
          <p:cNvPr id="26" name="check-mark">
            <a:extLst xmlns:a="http://schemas.openxmlformats.org/drawingml/2006/main">
              <a:ext uri="{FF2B5EF4-FFF2-40B4-BE49-F238E27FC236}">
                <a16:creationId xmlns:a16="http://schemas.microsoft.com/office/drawing/2014/main" id="{B66556D5-1EE5-473A-A63E-42160B6091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590925"/>
            <a:ext cx="2095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t>✓</a:t>
            </a:r>
          </a:p>
        </p:txBody>
      </p:sp>
      <p:sp>
        <p:nvSpPr>
          <p:cNvPr id="27" name="check-text-1-2">
            <a:extLst xmlns:a="http://schemas.openxmlformats.org/drawingml/2006/main">
              <a:ext uri="{FF2B5EF4-FFF2-40B4-BE49-F238E27FC236}">
                <a16:creationId xmlns:a16="http://schemas.microsoft.com/office/drawing/2014/main" id="{5DDC3FC6-BFF6-4149-B8C1-FBC816F5E7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3600450"/>
            <a:ext cx="4762500" cy="495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>
                <a:solidFill>
                  <a:srgbClr val="596273"/>
                </a:solidFill>
                <a:latin typeface="Microsoft YaHei"/>
                <a:ea typeface="Microsoft YaHei"/>
                <a:cs typeface="Microsoft YaHei"/>
              </a:defRPr>
            </a:pPr>
            <a:r>
              <a:t>确认 AOP 代理确实执行 Cache 特性</a:t>
            </a:r>
          </a:p>
        </p:txBody>
      </p:sp>
      <p:sp>
        <p:nvSpPr>
          <p:cNvPr id="28" name="check-square">
            <a:extLst xmlns:a="http://schemas.openxmlformats.org/drawingml/2006/main">
              <a:ext uri="{FF2B5EF4-FFF2-40B4-BE49-F238E27FC236}">
                <a16:creationId xmlns:a16="http://schemas.microsoft.com/office/drawing/2014/main" id="{5F4DC17E-360C-4DE1-A2E6-3541AB4687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305300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solidFill>
              <a:srgbClr val="3D8DFF"/>
            </a:solidFill>
            <a:prstDash val="solid"/>
          </a:ln>
        </p:spPr>
      </p:sp>
      <p:sp>
        <p:nvSpPr>
          <p:cNvPr id="29" name="check-mark">
            <a:extLst xmlns:a="http://schemas.openxmlformats.org/drawingml/2006/main">
              <a:ext uri="{FF2B5EF4-FFF2-40B4-BE49-F238E27FC236}">
                <a16:creationId xmlns:a16="http://schemas.microsoft.com/office/drawing/2014/main" id="{4C5F66DD-B818-4ECB-B0F0-62426DCBD1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257675"/>
            <a:ext cx="2095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t>✓</a:t>
            </a:r>
          </a:p>
        </p:txBody>
      </p:sp>
      <p:sp>
        <p:nvSpPr>
          <p:cNvPr id="30" name="check-text-1-3">
            <a:extLst xmlns:a="http://schemas.openxmlformats.org/drawingml/2006/main">
              <a:ext uri="{FF2B5EF4-FFF2-40B4-BE49-F238E27FC236}">
                <a16:creationId xmlns:a16="http://schemas.microsoft.com/office/drawing/2014/main" id="{9AE3E8C9-B19E-4558-959D-91AB5C2029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4267200"/>
            <a:ext cx="4762500" cy="495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>
                <a:solidFill>
                  <a:srgbClr val="596273"/>
                </a:solidFill>
                <a:latin typeface="Microsoft YaHei"/>
                <a:ea typeface="Microsoft YaHei"/>
                <a:cs typeface="Microsoft YaHei"/>
              </a:defRPr>
            </a:pPr>
            <a:r>
              <a:t>并发更新和缓存回填不会覆盖新值</a:t>
            </a:r>
          </a:p>
        </p:txBody>
      </p:sp>
    </p:spTree>
    <p:extLst>
      <p:ext uri="{BB962C8B-B14F-4D97-AF65-F5344CB8AC3E}">
        <p14:creationId xmlns:p14="http://schemas.microsoft.com/office/powerpoint/2010/main" val="500048069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-title">
            <a:extLst xmlns:a="http://schemas.openxmlformats.org/drawingml/2006/main">
              <a:ext uri="{FF2B5EF4-FFF2-40B4-BE49-F238E27FC236}">
                <a16:creationId xmlns:a16="http://schemas.microsoft.com/office/drawing/2014/main" id="{8DE142FA-7E46-4B69-8CDB-A31F68E64C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42900"/>
            <a:ext cx="10668000" cy="609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t>TraceId、日志和 MiniProfiler 各回答不同问题</a:t>
            </a:r>
          </a:p>
        </p:txBody>
      </p:sp>
      <p:sp>
        <p:nvSpPr>
          <p:cNvPr id="2" name="rule">
            <a:extLst xmlns:a="http://schemas.openxmlformats.org/drawingml/2006/main">
              <a:ext uri="{FF2B5EF4-FFF2-40B4-BE49-F238E27FC236}">
                <a16:creationId xmlns:a16="http://schemas.microsoft.com/office/drawing/2014/main" id="{225D786A-25E0-42E7-A866-78EEC72552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06680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solidFill>
              <a:srgbClr val="B8BCC4"/>
            </a:solidFill>
            <a:prstDash val="solid"/>
          </a:ln>
        </p:spPr>
      </p:sp>
      <p:sp>
        <p:nvSpPr>
          <p:cNvPr id="3" name="footer-deck">
            <a:extLst xmlns:a="http://schemas.openxmlformats.org/drawingml/2006/main">
              <a:ext uri="{FF2B5EF4-FFF2-40B4-BE49-F238E27FC236}">
                <a16:creationId xmlns:a16="http://schemas.microsoft.com/office/drawing/2014/main" id="{50F02CD9-CF7B-47E0-AEDD-C75C352A8B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381750"/>
            <a:ext cx="72390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>
                <a:solidFill>
                  <a:srgbClr val="596273"/>
                </a:solidFill>
                <a:latin typeface="Microsoft YaHei"/>
                <a:ea typeface="Microsoft YaHei"/>
                <a:cs typeface="Microsoft YaHei"/>
              </a:defRPr>
            </a:pPr>
            <a:r>
              <a:t>08 · 运行稳定性</a:t>
            </a:r>
          </a:p>
        </p:txBody>
      </p:sp>
      <p:sp>
        <p:nvSpPr>
          <p:cNvPr id="4" name="footer-page">
            <a:extLst xmlns:a="http://schemas.openxmlformats.org/drawingml/2006/main">
              <a:ext uri="{FF2B5EF4-FFF2-40B4-BE49-F238E27FC236}">
                <a16:creationId xmlns:a16="http://schemas.microsoft.com/office/drawing/2014/main" id="{CC43A5C5-FDBF-467C-A6B6-A415AFB68E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6381750"/>
            <a:ext cx="13525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975">
                <a:solidFill>
                  <a:srgbClr val="596273"/>
                </a:solidFill>
                <a:latin typeface="Microsoft YaHei"/>
                <a:ea typeface="Microsoft YaHei"/>
                <a:cs typeface="Microsoft YaHei"/>
              </a:defRPr>
            </a:pPr>
            <a:r>
              <a:t>06 / 11</a:t>
            </a:r>
          </a:p>
        </p:txBody>
      </p:sp>
      <p:sp>
        <p:nvSpPr>
          <p:cNvPr id="5" name="matrix-header-band-0">
            <a:extLst xmlns:a="http://schemas.openxmlformats.org/drawingml/2006/main">
              <a:ext uri="{FF2B5EF4-FFF2-40B4-BE49-F238E27FC236}">
                <a16:creationId xmlns:a16="http://schemas.microsoft.com/office/drawing/2014/main" id="{2DA082BF-42CC-4662-B4D0-34057656F2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476375"/>
            <a:ext cx="24765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5FB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6" name="matrix-header-0">
            <a:extLst xmlns:a="http://schemas.openxmlformats.org/drawingml/2006/main">
              <a:ext uri="{FF2B5EF4-FFF2-40B4-BE49-F238E27FC236}">
                <a16:creationId xmlns:a16="http://schemas.microsoft.com/office/drawing/2014/main" id="{E7805D65-82B7-4327-9AFD-E7D9F3628B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628775"/>
            <a:ext cx="2247900" cy="495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459B8"/>
                </a:solidFill>
                <a:latin typeface="Microsoft YaHei"/>
                <a:ea typeface="Microsoft YaHei"/>
                <a:cs typeface="Microsoft YaHei"/>
              </a:defRPr>
            </a:pPr>
            <a:r>
              <a:t>工具</a:t>
            </a:r>
          </a:p>
        </p:txBody>
      </p:sp>
      <p:sp>
        <p:nvSpPr>
          <p:cNvPr id="7" name="matrix-header-band-1">
            <a:extLst xmlns:a="http://schemas.openxmlformats.org/drawingml/2006/main">
              <a:ext uri="{FF2B5EF4-FFF2-40B4-BE49-F238E27FC236}">
                <a16:creationId xmlns:a16="http://schemas.microsoft.com/office/drawing/2014/main" id="{BD626CCD-9873-4B26-96BF-AF1593996D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1476375"/>
            <a:ext cx="485775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5FB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8" name="matrix-header-1">
            <a:extLst xmlns:a="http://schemas.openxmlformats.org/drawingml/2006/main">
              <a:ext uri="{FF2B5EF4-FFF2-40B4-BE49-F238E27FC236}">
                <a16:creationId xmlns:a16="http://schemas.microsoft.com/office/drawing/2014/main" id="{BBA5FC04-3F00-4C00-A58F-75C0821247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1628775"/>
            <a:ext cx="4629150" cy="495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459B8"/>
                </a:solidFill>
                <a:latin typeface="Microsoft YaHei"/>
                <a:ea typeface="Microsoft YaHei"/>
                <a:cs typeface="Microsoft YaHei"/>
              </a:defRPr>
            </a:pPr>
            <a:r>
              <a:t>回答什么问题</a:t>
            </a:r>
          </a:p>
        </p:txBody>
      </p:sp>
      <p:sp>
        <p:nvSpPr>
          <p:cNvPr id="9" name="matrix-header-band-2">
            <a:extLst xmlns:a="http://schemas.openxmlformats.org/drawingml/2006/main">
              <a:ext uri="{FF2B5EF4-FFF2-40B4-BE49-F238E27FC236}">
                <a16:creationId xmlns:a16="http://schemas.microsoft.com/office/drawing/2014/main" id="{40FB2491-B1B3-414D-868B-957589FEEE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1450" y="1476375"/>
            <a:ext cx="394335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5FB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10" name="matrix-header-2">
            <a:extLst xmlns:a="http://schemas.openxmlformats.org/drawingml/2006/main">
              <a:ext uri="{FF2B5EF4-FFF2-40B4-BE49-F238E27FC236}">
                <a16:creationId xmlns:a16="http://schemas.microsoft.com/office/drawing/2014/main" id="{BADCE08B-4053-4994-B83D-4B7162A574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1628775"/>
            <a:ext cx="3714750" cy="495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459B8"/>
                </a:solidFill>
                <a:latin typeface="Microsoft YaHei"/>
                <a:ea typeface="Microsoft YaHei"/>
                <a:cs typeface="Microsoft YaHei"/>
              </a:defRPr>
            </a:pPr>
            <a:r>
              <a:t>不能替代什么</a:t>
            </a:r>
          </a:p>
        </p:txBody>
      </p:sp>
      <p:sp>
        <p:nvSpPr>
          <p:cNvPr id="11" name="rule">
            <a:extLst xmlns:a="http://schemas.openxmlformats.org/drawingml/2006/main">
              <a:ext uri="{FF2B5EF4-FFF2-40B4-BE49-F238E27FC236}">
                <a16:creationId xmlns:a16="http://schemas.microsoft.com/office/drawing/2014/main" id="{BA5FB278-B6AA-4237-99B5-7B389F243D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91465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solidFill>
              <a:srgbClr val="B8BCC4"/>
            </a:solidFill>
            <a:prstDash val="solid"/>
          </a:ln>
        </p:spPr>
      </p:sp>
      <p:sp>
        <p:nvSpPr>
          <p:cNvPr id="12" name="matrix-cell-0-0">
            <a:extLst xmlns:a="http://schemas.openxmlformats.org/drawingml/2006/main">
              <a:ext uri="{FF2B5EF4-FFF2-40B4-BE49-F238E27FC236}">
                <a16:creationId xmlns:a16="http://schemas.microsoft.com/office/drawing/2014/main" id="{101BD785-EFA1-479F-BE4A-1C4977E717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314575"/>
            <a:ext cx="2247900" cy="571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t>TraceId</a:t>
            </a:r>
          </a:p>
        </p:txBody>
      </p:sp>
      <p:sp>
        <p:nvSpPr>
          <p:cNvPr id="13" name="matrix-cell-0-1">
            <a:extLst xmlns:a="http://schemas.openxmlformats.org/drawingml/2006/main">
              <a:ext uri="{FF2B5EF4-FFF2-40B4-BE49-F238E27FC236}">
                <a16:creationId xmlns:a16="http://schemas.microsoft.com/office/drawing/2014/main" id="{B59412EF-C31F-4C4F-A9EA-894D4A4505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2314575"/>
            <a:ext cx="4629150" cy="571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>
                <a:solidFill>
                  <a:srgbClr val="596273"/>
                </a:solidFill>
                <a:latin typeface="Microsoft YaHei"/>
                <a:ea typeface="Microsoft YaHei"/>
                <a:cs typeface="Microsoft YaHei"/>
              </a:defRPr>
            </a:pPr>
            <a:r>
              <a:t>这次响应对应哪一条后端请求链</a:t>
            </a:r>
          </a:p>
        </p:txBody>
      </p:sp>
      <p:sp>
        <p:nvSpPr>
          <p:cNvPr id="14" name="matrix-cell-0-2">
            <a:extLst xmlns:a="http://schemas.openxmlformats.org/drawingml/2006/main">
              <a:ext uri="{FF2B5EF4-FFF2-40B4-BE49-F238E27FC236}">
                <a16:creationId xmlns:a16="http://schemas.microsoft.com/office/drawing/2014/main" id="{917C9FAC-F889-42D6-9745-D4B3AC5CF7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2314575"/>
            <a:ext cx="3714750" cy="571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>
                <a:solidFill>
                  <a:srgbClr val="596273"/>
                </a:solidFill>
                <a:latin typeface="Microsoft YaHei"/>
                <a:ea typeface="Microsoft YaHei"/>
                <a:cs typeface="Microsoft YaHei"/>
              </a:defRPr>
            </a:pPr>
            <a:r>
              <a:t>不能告诉你具体哪一步慢</a:t>
            </a:r>
          </a:p>
        </p:txBody>
      </p:sp>
      <p:sp>
        <p:nvSpPr>
          <p:cNvPr id="15" name="rule">
            <a:extLst xmlns:a="http://schemas.openxmlformats.org/drawingml/2006/main">
              <a:ext uri="{FF2B5EF4-FFF2-40B4-BE49-F238E27FC236}">
                <a16:creationId xmlns:a16="http://schemas.microsoft.com/office/drawing/2014/main" id="{5BB14A25-E0EE-4D00-A0F1-7FB80A3BDA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63855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solidFill>
              <a:srgbClr val="B8BCC4"/>
            </a:solidFill>
            <a:prstDash val="solid"/>
          </a:ln>
        </p:spPr>
      </p:sp>
      <p:sp>
        <p:nvSpPr>
          <p:cNvPr id="16" name="matrix-cell-1-0">
            <a:extLst xmlns:a="http://schemas.openxmlformats.org/drawingml/2006/main">
              <a:ext uri="{FF2B5EF4-FFF2-40B4-BE49-F238E27FC236}">
                <a16:creationId xmlns:a16="http://schemas.microsoft.com/office/drawing/2014/main" id="{98A91CA4-50B0-474E-B857-422AB3A57E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038475"/>
            <a:ext cx="2247900" cy="571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t>结构化日志</a:t>
            </a:r>
          </a:p>
        </p:txBody>
      </p:sp>
      <p:sp>
        <p:nvSpPr>
          <p:cNvPr id="17" name="matrix-cell-1-1">
            <a:extLst xmlns:a="http://schemas.openxmlformats.org/drawingml/2006/main">
              <a:ext uri="{FF2B5EF4-FFF2-40B4-BE49-F238E27FC236}">
                <a16:creationId xmlns:a16="http://schemas.microsoft.com/office/drawing/2014/main" id="{97548BDD-544E-4AAD-BD06-4B7C2079AA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3038475"/>
            <a:ext cx="4629150" cy="571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>
                <a:solidFill>
                  <a:srgbClr val="596273"/>
                </a:solidFill>
                <a:latin typeface="Microsoft YaHei"/>
                <a:ea typeface="Microsoft YaHei"/>
                <a:cs typeface="Microsoft YaHei"/>
              </a:defRPr>
            </a:pPr>
            <a:r>
              <a:t>请求、异常、业务分支和上下文发生了什么</a:t>
            </a:r>
          </a:p>
        </p:txBody>
      </p:sp>
      <p:sp>
        <p:nvSpPr>
          <p:cNvPr id="18" name="matrix-cell-1-2">
            <a:extLst xmlns:a="http://schemas.openxmlformats.org/drawingml/2006/main">
              <a:ext uri="{FF2B5EF4-FFF2-40B4-BE49-F238E27FC236}">
                <a16:creationId xmlns:a16="http://schemas.microsoft.com/office/drawing/2014/main" id="{C515338A-5540-4A30-964D-2FD6FE8AA9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3038475"/>
            <a:ext cx="3714750" cy="571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>
                <a:solidFill>
                  <a:srgbClr val="596273"/>
                </a:solidFill>
                <a:latin typeface="Microsoft YaHei"/>
                <a:ea typeface="Microsoft YaHei"/>
                <a:cs typeface="Microsoft YaHei"/>
              </a:defRPr>
            </a:pPr>
            <a:r>
              <a:t>不能自动展示完整 SQL 时序</a:t>
            </a:r>
          </a:p>
        </p:txBody>
      </p:sp>
      <p:sp>
        <p:nvSpPr>
          <p:cNvPr id="19" name="rule">
            <a:extLst xmlns:a="http://schemas.openxmlformats.org/drawingml/2006/main">
              <a:ext uri="{FF2B5EF4-FFF2-40B4-BE49-F238E27FC236}">
                <a16:creationId xmlns:a16="http://schemas.microsoft.com/office/drawing/2014/main" id="{732EC037-40EC-4385-8439-1FDEE66272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36245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solidFill>
              <a:srgbClr val="B8BCC4"/>
            </a:solidFill>
            <a:prstDash val="solid"/>
          </a:ln>
        </p:spPr>
      </p:sp>
      <p:sp>
        <p:nvSpPr>
          <p:cNvPr id="20" name="matrix-cell-2-0">
            <a:extLst xmlns:a="http://schemas.openxmlformats.org/drawingml/2006/main">
              <a:ext uri="{FF2B5EF4-FFF2-40B4-BE49-F238E27FC236}">
                <a16:creationId xmlns:a16="http://schemas.microsoft.com/office/drawing/2014/main" id="{EEB0DB1F-519B-4574-87A0-DBF0D05680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762375"/>
            <a:ext cx="2247900" cy="571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t>MiniProfiler</a:t>
            </a:r>
          </a:p>
        </p:txBody>
      </p:sp>
      <p:sp>
        <p:nvSpPr>
          <p:cNvPr id="21" name="matrix-cell-2-1">
            <a:extLst xmlns:a="http://schemas.openxmlformats.org/drawingml/2006/main">
              <a:ext uri="{FF2B5EF4-FFF2-40B4-BE49-F238E27FC236}">
                <a16:creationId xmlns:a16="http://schemas.microsoft.com/office/drawing/2014/main" id="{142EEF0E-D365-4707-83AC-3E3523E4DE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3762375"/>
            <a:ext cx="4629150" cy="571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>
                <a:solidFill>
                  <a:srgbClr val="596273"/>
                </a:solidFill>
                <a:latin typeface="Microsoft YaHei"/>
                <a:ea typeface="Microsoft YaHei"/>
                <a:cs typeface="Microsoft YaHei"/>
              </a:defRPr>
            </a:pPr>
            <a:r>
              <a:t>接口、SQL 和代理方法分别耗时多少</a:t>
            </a:r>
          </a:p>
        </p:txBody>
      </p:sp>
      <p:sp>
        <p:nvSpPr>
          <p:cNvPr id="22" name="matrix-cell-2-2">
            <a:extLst xmlns:a="http://schemas.openxmlformats.org/drawingml/2006/main">
              <a:ext uri="{FF2B5EF4-FFF2-40B4-BE49-F238E27FC236}">
                <a16:creationId xmlns:a16="http://schemas.microsoft.com/office/drawing/2014/main" id="{E5DE889E-C716-4A5F-96CD-11BF29898E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3762375"/>
            <a:ext cx="3714750" cy="571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>
                <a:solidFill>
                  <a:srgbClr val="596273"/>
                </a:solidFill>
                <a:latin typeface="Microsoft YaHei"/>
                <a:ea typeface="Microsoft YaHei"/>
                <a:cs typeface="Microsoft YaHei"/>
              </a:defRPr>
            </a:pPr>
            <a:r>
              <a:t>不是长期审计日志或后台作业监控</a:t>
            </a:r>
          </a:p>
        </p:txBody>
      </p:sp>
    </p:spTree>
    <p:extLst>
      <p:ext uri="{BB962C8B-B14F-4D97-AF65-F5344CB8AC3E}">
        <p14:creationId xmlns:p14="http://schemas.microsoft.com/office/powerpoint/2010/main" val="1072189277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-title">
            <a:extLst xmlns:a="http://schemas.openxmlformats.org/drawingml/2006/main">
              <a:ext uri="{FF2B5EF4-FFF2-40B4-BE49-F238E27FC236}">
                <a16:creationId xmlns:a16="http://schemas.microsoft.com/office/drawing/2014/main" id="{7AB93C57-81FC-4AA9-B2C5-E7EDEB7099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42900"/>
            <a:ext cx="10668000" cy="609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t>慢接口先分辨 SQL 慢、数量多还是 Service 慢</a:t>
            </a:r>
          </a:p>
        </p:txBody>
      </p:sp>
      <p:sp>
        <p:nvSpPr>
          <p:cNvPr id="2" name="rule">
            <a:extLst xmlns:a="http://schemas.openxmlformats.org/drawingml/2006/main">
              <a:ext uri="{FF2B5EF4-FFF2-40B4-BE49-F238E27FC236}">
                <a16:creationId xmlns:a16="http://schemas.microsoft.com/office/drawing/2014/main" id="{7D5E49B7-FEE3-46C9-B5F4-DD6FE36A72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06680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solidFill>
              <a:srgbClr val="B8BCC4"/>
            </a:solidFill>
            <a:prstDash val="solid"/>
          </a:ln>
        </p:spPr>
      </p:sp>
      <p:sp>
        <p:nvSpPr>
          <p:cNvPr id="3" name="footer-deck">
            <a:extLst xmlns:a="http://schemas.openxmlformats.org/drawingml/2006/main">
              <a:ext uri="{FF2B5EF4-FFF2-40B4-BE49-F238E27FC236}">
                <a16:creationId xmlns:a16="http://schemas.microsoft.com/office/drawing/2014/main" id="{76FDBF3A-6DBD-4990-BEF1-58F190C827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381750"/>
            <a:ext cx="72390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>
                <a:solidFill>
                  <a:srgbClr val="596273"/>
                </a:solidFill>
                <a:latin typeface="Microsoft YaHei"/>
                <a:ea typeface="Microsoft YaHei"/>
                <a:cs typeface="Microsoft YaHei"/>
              </a:defRPr>
            </a:pPr>
            <a:r>
              <a:t>08 · 运行稳定性</a:t>
            </a:r>
          </a:p>
        </p:txBody>
      </p:sp>
      <p:sp>
        <p:nvSpPr>
          <p:cNvPr id="4" name="footer-page">
            <a:extLst xmlns:a="http://schemas.openxmlformats.org/drawingml/2006/main">
              <a:ext uri="{FF2B5EF4-FFF2-40B4-BE49-F238E27FC236}">
                <a16:creationId xmlns:a16="http://schemas.microsoft.com/office/drawing/2014/main" id="{7C1CA6ED-6564-47ED-99EC-C26BBA7C8D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6381750"/>
            <a:ext cx="13525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975">
                <a:solidFill>
                  <a:srgbClr val="596273"/>
                </a:solidFill>
                <a:latin typeface="Microsoft YaHei"/>
                <a:ea typeface="Microsoft YaHei"/>
                <a:cs typeface="Microsoft YaHei"/>
              </a:defRPr>
            </a:pPr>
            <a:r>
              <a:t>07 / 11</a:t>
            </a:r>
          </a:p>
        </p:txBody>
      </p:sp>
      <p:sp>
        <p:nvSpPr>
          <p:cNvPr id="5" name="flow-arrow-0">
            <a:extLst xmlns:a="http://schemas.openxmlformats.org/drawingml/2006/main">
              <a:ext uri="{FF2B5EF4-FFF2-40B4-BE49-F238E27FC236}">
                <a16:creationId xmlns:a16="http://schemas.microsoft.com/office/drawing/2014/main" id="{A72A28B8-82FE-4EB2-8822-B5BB4BAF31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40305" y="3067050"/>
            <a:ext cx="304800" cy="495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defRPr>
            </a:pPr>
            <a:r>
              <a:t>→</a:t>
            </a:r>
          </a:p>
        </p:txBody>
      </p:sp>
      <p:sp>
        <p:nvSpPr>
          <p:cNvPr id="6" name="flow-index-0">
            <a:extLst xmlns:a="http://schemas.openxmlformats.org/drawingml/2006/main">
              <a:ext uri="{FF2B5EF4-FFF2-40B4-BE49-F238E27FC236}">
                <a16:creationId xmlns:a16="http://schemas.microsoft.com/office/drawing/2014/main" id="{B4711367-26F3-4617-AA1A-4FC92E2E5B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095500"/>
            <a:ext cx="193548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459B8"/>
                </a:solidFill>
                <a:latin typeface="Microsoft YaHei"/>
                <a:ea typeface="Microsoft YaHei"/>
                <a:cs typeface="Microsoft YaHei"/>
              </a:defRPr>
            </a:pPr>
            <a:r>
              <a:t>01</a:t>
            </a:r>
          </a:p>
        </p:txBody>
      </p:sp>
      <p:sp>
        <p:nvSpPr>
          <p:cNvPr id="7" name="rule">
            <a:extLst xmlns:a="http://schemas.openxmlformats.org/drawingml/2006/main">
              <a:ext uri="{FF2B5EF4-FFF2-40B4-BE49-F238E27FC236}">
                <a16:creationId xmlns:a16="http://schemas.microsoft.com/office/drawing/2014/main" id="{B090ECB4-2403-41EE-8CEA-52DA9F35FB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552700"/>
            <a:ext cx="193548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solidFill>
              <a:srgbClr val="3D8DFF"/>
            </a:solidFill>
            <a:prstDash val="solid"/>
          </a:ln>
        </p:spPr>
      </p:sp>
      <p:sp>
        <p:nvSpPr>
          <p:cNvPr id="8" name="flow-title-0">
            <a:extLst xmlns:a="http://schemas.openxmlformats.org/drawingml/2006/main">
              <a:ext uri="{FF2B5EF4-FFF2-40B4-BE49-F238E27FC236}">
                <a16:creationId xmlns:a16="http://schemas.microsoft.com/office/drawing/2014/main" id="{169FB5F6-2F0F-473B-AF66-13D9F7586D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819400"/>
            <a:ext cx="1935480" cy="704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t>确认 TraceId</a:t>
            </a:r>
          </a:p>
        </p:txBody>
      </p:sp>
      <p:sp>
        <p:nvSpPr>
          <p:cNvPr id="9" name="flow-body-0">
            <a:extLst xmlns:a="http://schemas.openxmlformats.org/drawingml/2006/main">
              <a:ext uri="{FF2B5EF4-FFF2-40B4-BE49-F238E27FC236}">
                <a16:creationId xmlns:a16="http://schemas.microsoft.com/office/drawing/2014/main" id="{0F485E86-0989-41C2-BCD0-6FC848C3EF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695700"/>
            <a:ext cx="1935480" cy="1762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>
                <a:solidFill>
                  <a:srgbClr val="596273"/>
                </a:solidFill>
                <a:latin typeface="Microsoft YaHei"/>
                <a:ea typeface="Microsoft YaHei"/>
                <a:cs typeface="Microsoft YaHei"/>
              </a:defRPr>
            </a:pPr>
            <a:r>
              <a:t>锁定一次具体请求与时间。</a:t>
            </a:r>
          </a:p>
        </p:txBody>
      </p:sp>
      <p:sp>
        <p:nvSpPr>
          <p:cNvPr id="10" name="flow-arrow-1">
            <a:extLst xmlns:a="http://schemas.openxmlformats.org/drawingml/2006/main">
              <a:ext uri="{FF2B5EF4-FFF2-40B4-BE49-F238E27FC236}">
                <a16:creationId xmlns:a16="http://schemas.microsoft.com/office/drawing/2014/main" id="{3CB3A224-8A38-4446-97F9-B0D5D0EB3F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75835" y="3067050"/>
            <a:ext cx="304800" cy="495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defRPr>
            </a:pPr>
            <a:r>
              <a:t>→</a:t>
            </a:r>
          </a:p>
        </p:txBody>
      </p:sp>
      <p:sp>
        <p:nvSpPr>
          <p:cNvPr id="11" name="flow-index-1">
            <a:extLst xmlns:a="http://schemas.openxmlformats.org/drawingml/2006/main">
              <a:ext uri="{FF2B5EF4-FFF2-40B4-BE49-F238E27FC236}">
                <a16:creationId xmlns:a16="http://schemas.microsoft.com/office/drawing/2014/main" id="{E5A90C65-FDA0-424F-8B40-1B81285DB9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92730" y="2095500"/>
            <a:ext cx="193548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459B8"/>
                </a:solidFill>
                <a:latin typeface="Microsoft YaHei"/>
                <a:ea typeface="Microsoft YaHei"/>
                <a:cs typeface="Microsoft YaHei"/>
              </a:defRPr>
            </a:pPr>
            <a:r>
              <a:t>02</a:t>
            </a:r>
          </a:p>
        </p:txBody>
      </p:sp>
      <p:sp>
        <p:nvSpPr>
          <p:cNvPr id="12" name="rule">
            <a:extLst xmlns:a="http://schemas.openxmlformats.org/drawingml/2006/main">
              <a:ext uri="{FF2B5EF4-FFF2-40B4-BE49-F238E27FC236}">
                <a16:creationId xmlns:a16="http://schemas.microsoft.com/office/drawing/2014/main" id="{A98FC6A1-CB92-4C88-8089-4F7D937905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92730" y="2552700"/>
            <a:ext cx="193548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solidFill>
              <a:srgbClr val="3D8DFF"/>
            </a:solidFill>
            <a:prstDash val="solid"/>
          </a:ln>
        </p:spPr>
      </p:sp>
      <p:sp>
        <p:nvSpPr>
          <p:cNvPr id="13" name="flow-title-1">
            <a:extLst xmlns:a="http://schemas.openxmlformats.org/drawingml/2006/main">
              <a:ext uri="{FF2B5EF4-FFF2-40B4-BE49-F238E27FC236}">
                <a16:creationId xmlns:a16="http://schemas.microsoft.com/office/drawing/2014/main" id="{9F52A151-389F-4EB2-8F2A-3D72C517F5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92730" y="2819400"/>
            <a:ext cx="1935480" cy="704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t>查看总耗时</a:t>
            </a:r>
          </a:p>
        </p:txBody>
      </p:sp>
      <p:sp>
        <p:nvSpPr>
          <p:cNvPr id="14" name="flow-body-1">
            <a:extLst xmlns:a="http://schemas.openxmlformats.org/drawingml/2006/main">
              <a:ext uri="{FF2B5EF4-FFF2-40B4-BE49-F238E27FC236}">
                <a16:creationId xmlns:a16="http://schemas.microsoft.com/office/drawing/2014/main" id="{6F6CED48-AD73-46BC-A70B-E30A81CE76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92730" y="3695700"/>
            <a:ext cx="1935480" cy="1762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>
                <a:solidFill>
                  <a:srgbClr val="596273"/>
                </a:solidFill>
                <a:latin typeface="Microsoft YaHei"/>
                <a:ea typeface="Microsoft YaHei"/>
                <a:cs typeface="Microsoft YaHei"/>
              </a:defRPr>
            </a:pPr>
            <a:r>
              <a:t>判断慢发生在接口整体还是局部。</a:t>
            </a:r>
          </a:p>
        </p:txBody>
      </p:sp>
      <p:sp>
        <p:nvSpPr>
          <p:cNvPr id="15" name="flow-arrow-2">
            <a:extLst xmlns:a="http://schemas.openxmlformats.org/drawingml/2006/main">
              <a:ext uri="{FF2B5EF4-FFF2-40B4-BE49-F238E27FC236}">
                <a16:creationId xmlns:a16="http://schemas.microsoft.com/office/drawing/2014/main" id="{BCA4E8FF-AF33-4172-B167-F801F5030D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11365" y="3067050"/>
            <a:ext cx="304800" cy="495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defRPr>
            </a:pPr>
            <a:r>
              <a:t>→</a:t>
            </a:r>
          </a:p>
        </p:txBody>
      </p:sp>
      <p:sp>
        <p:nvSpPr>
          <p:cNvPr id="16" name="flow-index-2">
            <a:extLst xmlns:a="http://schemas.openxmlformats.org/drawingml/2006/main">
              <a:ext uri="{FF2B5EF4-FFF2-40B4-BE49-F238E27FC236}">
                <a16:creationId xmlns:a16="http://schemas.microsoft.com/office/drawing/2014/main" id="{9C62D883-F3D8-4780-88DE-3FD3FCD16F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8260" y="2095500"/>
            <a:ext cx="193548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459B8"/>
                </a:solidFill>
                <a:latin typeface="Microsoft YaHei"/>
                <a:ea typeface="Microsoft YaHei"/>
                <a:cs typeface="Microsoft YaHei"/>
              </a:defRPr>
            </a:pPr>
            <a:r>
              <a:t>03</a:t>
            </a:r>
          </a:p>
        </p:txBody>
      </p:sp>
      <p:sp>
        <p:nvSpPr>
          <p:cNvPr id="17" name="rule">
            <a:extLst xmlns:a="http://schemas.openxmlformats.org/drawingml/2006/main">
              <a:ext uri="{FF2B5EF4-FFF2-40B4-BE49-F238E27FC236}">
                <a16:creationId xmlns:a16="http://schemas.microsoft.com/office/drawing/2014/main" id="{FC4333D8-33B5-4171-9266-144A520820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8260" y="2552700"/>
            <a:ext cx="193548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solidFill>
              <a:srgbClr val="3D8DFF"/>
            </a:solidFill>
            <a:prstDash val="solid"/>
          </a:ln>
        </p:spPr>
      </p:sp>
      <p:sp>
        <p:nvSpPr>
          <p:cNvPr id="18" name="flow-title-2">
            <a:extLst xmlns:a="http://schemas.openxmlformats.org/drawingml/2006/main">
              <a:ext uri="{FF2B5EF4-FFF2-40B4-BE49-F238E27FC236}">
                <a16:creationId xmlns:a16="http://schemas.microsoft.com/office/drawing/2014/main" id="{00ECFFB6-56CC-45C2-AA98-89A35DE99B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8260" y="2819400"/>
            <a:ext cx="1935480" cy="704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t>检查 SQL timing</a:t>
            </a:r>
          </a:p>
        </p:txBody>
      </p:sp>
      <p:sp>
        <p:nvSpPr>
          <p:cNvPr id="19" name="flow-body-2">
            <a:extLst xmlns:a="http://schemas.openxmlformats.org/drawingml/2006/main">
              <a:ext uri="{FF2B5EF4-FFF2-40B4-BE49-F238E27FC236}">
                <a16:creationId xmlns:a16="http://schemas.microsoft.com/office/drawing/2014/main" id="{7F8056FF-D831-42C6-859D-3D9E4DE0EE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8260" y="3695700"/>
            <a:ext cx="1935480" cy="1762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>
                <a:solidFill>
                  <a:srgbClr val="596273"/>
                </a:solidFill>
                <a:latin typeface="Microsoft YaHei"/>
                <a:ea typeface="Microsoft YaHei"/>
                <a:cs typeface="Microsoft YaHei"/>
              </a:defRPr>
            </a:pPr>
            <a:r>
              <a:t>看单条 SQL 耗时与执行数量。</a:t>
            </a:r>
          </a:p>
        </p:txBody>
      </p:sp>
      <p:sp>
        <p:nvSpPr>
          <p:cNvPr id="20" name="flow-arrow-3">
            <a:extLst xmlns:a="http://schemas.openxmlformats.org/drawingml/2006/main">
              <a:ext uri="{FF2B5EF4-FFF2-40B4-BE49-F238E27FC236}">
                <a16:creationId xmlns:a16="http://schemas.microsoft.com/office/drawing/2014/main" id="{BD437E3D-B3B2-4CF2-A89E-6E621201BB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46895" y="3067050"/>
            <a:ext cx="304800" cy="495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defRPr>
            </a:pPr>
            <a:r>
              <a:t>→</a:t>
            </a:r>
          </a:p>
        </p:txBody>
      </p:sp>
      <p:sp>
        <p:nvSpPr>
          <p:cNvPr id="21" name="flow-index-3">
            <a:extLst xmlns:a="http://schemas.openxmlformats.org/drawingml/2006/main">
              <a:ext uri="{FF2B5EF4-FFF2-40B4-BE49-F238E27FC236}">
                <a16:creationId xmlns:a16="http://schemas.microsoft.com/office/drawing/2014/main" id="{3F889112-CE7B-4E3E-80A1-C0133D68D9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3790" y="2095500"/>
            <a:ext cx="193548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459B8"/>
                </a:solidFill>
                <a:latin typeface="Microsoft YaHei"/>
                <a:ea typeface="Microsoft YaHei"/>
                <a:cs typeface="Microsoft YaHei"/>
              </a:defRPr>
            </a:pPr>
            <a:r>
              <a:t>04</a:t>
            </a:r>
          </a:p>
        </p:txBody>
      </p:sp>
      <p:sp>
        <p:nvSpPr>
          <p:cNvPr id="22" name="rule">
            <a:extLst xmlns:a="http://schemas.openxmlformats.org/drawingml/2006/main">
              <a:ext uri="{FF2B5EF4-FFF2-40B4-BE49-F238E27FC236}">
                <a16:creationId xmlns:a16="http://schemas.microsoft.com/office/drawing/2014/main" id="{3534D889-21B6-403E-B767-E4A9CC59D1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3790" y="2552700"/>
            <a:ext cx="193548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solidFill>
              <a:srgbClr val="3D8DFF"/>
            </a:solidFill>
            <a:prstDash val="solid"/>
          </a:ln>
        </p:spPr>
      </p:sp>
      <p:sp>
        <p:nvSpPr>
          <p:cNvPr id="23" name="flow-title-3">
            <a:extLst xmlns:a="http://schemas.openxmlformats.org/drawingml/2006/main">
              <a:ext uri="{FF2B5EF4-FFF2-40B4-BE49-F238E27FC236}">
                <a16:creationId xmlns:a16="http://schemas.microsoft.com/office/drawing/2014/main" id="{15682BCE-D1C9-455B-A659-4E51468EF0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3790" y="2819400"/>
            <a:ext cx="1935480" cy="704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t>检查代理步骤</a:t>
            </a:r>
          </a:p>
        </p:txBody>
      </p:sp>
      <p:sp>
        <p:nvSpPr>
          <p:cNvPr id="24" name="flow-body-3">
            <a:extLst xmlns:a="http://schemas.openxmlformats.org/drawingml/2006/main">
              <a:ext uri="{FF2B5EF4-FFF2-40B4-BE49-F238E27FC236}">
                <a16:creationId xmlns:a16="http://schemas.microsoft.com/office/drawing/2014/main" id="{9A672234-1155-4850-B27F-922896CDC0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3790" y="3695700"/>
            <a:ext cx="1935480" cy="1762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>
                <a:solidFill>
                  <a:srgbClr val="596273"/>
                </a:solidFill>
                <a:latin typeface="Microsoft YaHei"/>
                <a:ea typeface="Microsoft YaHei"/>
                <a:cs typeface="Microsoft YaHei"/>
              </a:defRPr>
            </a:pPr>
            <a:r>
              <a:t>确认 Service 方法是否经过 AOP 记录。</a:t>
            </a:r>
          </a:p>
        </p:txBody>
      </p:sp>
      <p:sp>
        <p:nvSpPr>
          <p:cNvPr id="25" name="flow-index-4">
            <a:extLst xmlns:a="http://schemas.openxmlformats.org/drawingml/2006/main">
              <a:ext uri="{FF2B5EF4-FFF2-40B4-BE49-F238E27FC236}">
                <a16:creationId xmlns:a16="http://schemas.microsoft.com/office/drawing/2014/main" id="{30C209D9-6DB8-4371-8357-9A4B1E9311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99320" y="2095500"/>
            <a:ext cx="193548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459B8"/>
                </a:solidFill>
                <a:latin typeface="Microsoft YaHei"/>
                <a:ea typeface="Microsoft YaHei"/>
                <a:cs typeface="Microsoft YaHei"/>
              </a:defRPr>
            </a:pPr>
            <a:r>
              <a:t>05</a:t>
            </a:r>
          </a:p>
        </p:txBody>
      </p:sp>
      <p:sp>
        <p:nvSpPr>
          <p:cNvPr id="26" name="rule">
            <a:extLst xmlns:a="http://schemas.openxmlformats.org/drawingml/2006/main">
              <a:ext uri="{FF2B5EF4-FFF2-40B4-BE49-F238E27FC236}">
                <a16:creationId xmlns:a16="http://schemas.microsoft.com/office/drawing/2014/main" id="{F96BA63B-A098-41F2-AF2D-1F0481B374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99320" y="2552700"/>
            <a:ext cx="193548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solidFill>
              <a:srgbClr val="3D8DFF"/>
            </a:solidFill>
            <a:prstDash val="solid"/>
          </a:ln>
        </p:spPr>
      </p:sp>
      <p:sp>
        <p:nvSpPr>
          <p:cNvPr id="27" name="flow-title-4">
            <a:extLst xmlns:a="http://schemas.openxmlformats.org/drawingml/2006/main">
              <a:ext uri="{FF2B5EF4-FFF2-40B4-BE49-F238E27FC236}">
                <a16:creationId xmlns:a16="http://schemas.microsoft.com/office/drawing/2014/main" id="{FC7EA5D9-9125-455D-86D0-6F3250334B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99320" y="2819400"/>
            <a:ext cx="1935480" cy="704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t>回到源码定位</a:t>
            </a:r>
          </a:p>
        </p:txBody>
      </p:sp>
      <p:sp>
        <p:nvSpPr>
          <p:cNvPr id="28" name="flow-body-4">
            <a:extLst xmlns:a="http://schemas.openxmlformats.org/drawingml/2006/main">
              <a:ext uri="{FF2B5EF4-FFF2-40B4-BE49-F238E27FC236}">
                <a16:creationId xmlns:a16="http://schemas.microsoft.com/office/drawing/2014/main" id="{11130630-DFF0-47CA-A531-19F59AB01B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99320" y="3695700"/>
            <a:ext cx="1935480" cy="1762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>
                <a:solidFill>
                  <a:srgbClr val="596273"/>
                </a:solidFill>
                <a:latin typeface="Microsoft YaHei"/>
                <a:ea typeface="Microsoft YaHei"/>
                <a:cs typeface="Microsoft YaHei"/>
              </a:defRPr>
            </a:pPr>
            <a:r>
              <a:t>优化查询、循环、外部调用或业务算法。</a:t>
            </a:r>
          </a:p>
        </p:txBody>
      </p:sp>
    </p:spTree>
    <p:extLst>
      <p:ext uri="{BB962C8B-B14F-4D97-AF65-F5344CB8AC3E}">
        <p14:creationId xmlns:p14="http://schemas.microsoft.com/office/powerpoint/2010/main" val="1375679463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-title">
            <a:extLst xmlns:a="http://schemas.openxmlformats.org/drawingml/2006/main">
              <a:ext uri="{FF2B5EF4-FFF2-40B4-BE49-F238E27FC236}">
                <a16:creationId xmlns:a16="http://schemas.microsoft.com/office/drawing/2014/main" id="{D4CA0257-0118-4509-94D0-4B036F2405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42900"/>
            <a:ext cx="10668000" cy="609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t>当前限流底座已注册，但中间件默认未启用</a:t>
            </a:r>
          </a:p>
        </p:txBody>
      </p:sp>
      <p:sp>
        <p:nvSpPr>
          <p:cNvPr id="2" name="rule">
            <a:extLst xmlns:a="http://schemas.openxmlformats.org/drawingml/2006/main">
              <a:ext uri="{FF2B5EF4-FFF2-40B4-BE49-F238E27FC236}">
                <a16:creationId xmlns:a16="http://schemas.microsoft.com/office/drawing/2014/main" id="{52577CF0-9904-45F7-977A-DFC0BD490E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06680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solidFill>
              <a:srgbClr val="B8BCC4"/>
            </a:solidFill>
            <a:prstDash val="solid"/>
          </a:ln>
        </p:spPr>
      </p:sp>
      <p:sp>
        <p:nvSpPr>
          <p:cNvPr id="3" name="footer-deck">
            <a:extLst xmlns:a="http://schemas.openxmlformats.org/drawingml/2006/main">
              <a:ext uri="{FF2B5EF4-FFF2-40B4-BE49-F238E27FC236}">
                <a16:creationId xmlns:a16="http://schemas.microsoft.com/office/drawing/2014/main" id="{A5363E8A-39EE-4A9A-8C90-0DFD32C6EF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381750"/>
            <a:ext cx="72390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>
                <a:solidFill>
                  <a:srgbClr val="596273"/>
                </a:solidFill>
                <a:latin typeface="Microsoft YaHei"/>
                <a:ea typeface="Microsoft YaHei"/>
                <a:cs typeface="Microsoft YaHei"/>
              </a:defRPr>
            </a:pPr>
            <a:r>
              <a:t>08 · 运行稳定性</a:t>
            </a:r>
          </a:p>
        </p:txBody>
      </p:sp>
      <p:sp>
        <p:nvSpPr>
          <p:cNvPr id="4" name="footer-page">
            <a:extLst xmlns:a="http://schemas.openxmlformats.org/drawingml/2006/main">
              <a:ext uri="{FF2B5EF4-FFF2-40B4-BE49-F238E27FC236}">
                <a16:creationId xmlns:a16="http://schemas.microsoft.com/office/drawing/2014/main" id="{E3A37F1F-B0CC-469C-A000-9FDC8CC809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6381750"/>
            <a:ext cx="13525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975">
                <a:solidFill>
                  <a:srgbClr val="596273"/>
                </a:solidFill>
                <a:latin typeface="Microsoft YaHei"/>
                <a:ea typeface="Microsoft YaHei"/>
                <a:cs typeface="Microsoft YaHei"/>
              </a:defRPr>
            </a:pPr>
            <a:r>
              <a:t>08 / 11</a:t>
            </a:r>
          </a:p>
        </p:txBody>
      </p:sp>
      <p:sp>
        <p:nvSpPr>
          <p:cNvPr id="5" name="statement">
            <a:extLst xmlns:a="http://schemas.openxmlformats.org/drawingml/2006/main">
              <a:ext uri="{FF2B5EF4-FFF2-40B4-BE49-F238E27FC236}">
                <a16:creationId xmlns:a16="http://schemas.microsoft.com/office/drawing/2014/main" id="{6E2ED583-C611-48CC-81A2-1FD80EB296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562100"/>
            <a:ext cx="10668000" cy="1905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t>配置存在，不代表请求会返回 429。</a:t>
            </a:r>
          </a:p>
        </p:txBody>
      </p:sp>
      <p:sp>
        <p:nvSpPr>
          <p:cNvPr id="6" name="rule">
            <a:extLst xmlns:a="http://schemas.openxmlformats.org/drawingml/2006/main">
              <a:ext uri="{FF2B5EF4-FFF2-40B4-BE49-F238E27FC236}">
                <a16:creationId xmlns:a16="http://schemas.microsoft.com/office/drawing/2014/main" id="{EF2E843A-7B21-412F-AF88-047DD99A2D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810000"/>
            <a:ext cx="112776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solidFill>
              <a:srgbClr val="3D8DFF"/>
            </a:solidFill>
            <a:prstDash val="solid"/>
          </a:ln>
        </p:spPr>
      </p:sp>
      <p:sp>
        <p:nvSpPr>
          <p:cNvPr id="7" name="statement-index-0">
            <a:extLst xmlns:a="http://schemas.openxmlformats.org/drawingml/2006/main">
              <a:ext uri="{FF2B5EF4-FFF2-40B4-BE49-F238E27FC236}">
                <a16:creationId xmlns:a16="http://schemas.microsoft.com/office/drawing/2014/main" id="{B0C6BB54-608E-46CF-B283-017D0D4BF9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267200"/>
            <a:ext cx="49530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459B8"/>
                </a:solidFill>
                <a:latin typeface="Microsoft YaHei"/>
                <a:ea typeface="Microsoft YaHei"/>
                <a:cs typeface="Microsoft YaHei"/>
              </a:defRPr>
            </a:pPr>
            <a:r>
              <a:t>01</a:t>
            </a:r>
          </a:p>
        </p:txBody>
      </p:sp>
      <p:sp>
        <p:nvSpPr>
          <p:cNvPr id="8" name="statement-point-0">
            <a:extLst xmlns:a="http://schemas.openxmlformats.org/drawingml/2006/main">
              <a:ext uri="{FF2B5EF4-FFF2-40B4-BE49-F238E27FC236}">
                <a16:creationId xmlns:a16="http://schemas.microsoft.com/office/drawing/2014/main" id="{2975B391-7DC3-49E0-8D1D-40B78A4A6A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762500"/>
            <a:ext cx="2562225" cy="990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>
                <a:solidFill>
                  <a:srgbClr val="596273"/>
                </a:solidFill>
                <a:latin typeface="Microsoft YaHei"/>
                <a:ea typeface="Microsoft YaHei"/>
                <a:cs typeface="Microsoft YaHei"/>
              </a:defRPr>
            </a:pPr>
            <a:r>
              <a:t>AddInfrastructure 已注册 RateLimit 配置</a:t>
            </a:r>
          </a:p>
        </p:txBody>
      </p:sp>
      <p:sp>
        <p:nvSpPr>
          <p:cNvPr id="9" name="statement-index-1">
            <a:extLst xmlns:a="http://schemas.openxmlformats.org/drawingml/2006/main">
              <a:ext uri="{FF2B5EF4-FFF2-40B4-BE49-F238E27FC236}">
                <a16:creationId xmlns:a16="http://schemas.microsoft.com/office/drawing/2014/main" id="{8C55D42B-E373-4708-99B4-307645BCF5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62325" y="4267200"/>
            <a:ext cx="49530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459B8"/>
                </a:solidFill>
                <a:latin typeface="Microsoft YaHei"/>
                <a:ea typeface="Microsoft YaHei"/>
                <a:cs typeface="Microsoft YaHei"/>
              </a:defRPr>
            </a:pPr>
            <a:r>
              <a:t>02</a:t>
            </a:r>
          </a:p>
        </p:txBody>
      </p:sp>
      <p:sp>
        <p:nvSpPr>
          <p:cNvPr id="10" name="statement-point-1">
            <a:extLst xmlns:a="http://schemas.openxmlformats.org/drawingml/2006/main">
              <a:ext uri="{FF2B5EF4-FFF2-40B4-BE49-F238E27FC236}">
                <a16:creationId xmlns:a16="http://schemas.microsoft.com/office/drawing/2014/main" id="{DA975378-FAFA-4D49-AF3E-FF09F6A788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62325" y="4762500"/>
            <a:ext cx="2562225" cy="990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>
                <a:solidFill>
                  <a:srgbClr val="596273"/>
                </a:solidFill>
                <a:latin typeface="Microsoft YaHei"/>
                <a:ea typeface="Microsoft YaHei"/>
                <a:cs typeface="Microsoft YaHei"/>
              </a:defRPr>
            </a:pPr>
            <a:r>
              <a:t>UseCustomMiddleware 中 app.UseRateLimiting() 当前被注释</a:t>
            </a:r>
          </a:p>
        </p:txBody>
      </p:sp>
      <p:sp>
        <p:nvSpPr>
          <p:cNvPr id="11" name="statement-index-2">
            <a:extLst xmlns:a="http://schemas.openxmlformats.org/drawingml/2006/main">
              <a:ext uri="{FF2B5EF4-FFF2-40B4-BE49-F238E27FC236}">
                <a16:creationId xmlns:a16="http://schemas.microsoft.com/office/drawing/2014/main" id="{D51B4848-B88D-4084-9E27-D9B601DA0D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4267200"/>
            <a:ext cx="49530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459B8"/>
                </a:solidFill>
                <a:latin typeface="Microsoft YaHei"/>
                <a:ea typeface="Microsoft YaHei"/>
                <a:cs typeface="Microsoft YaHei"/>
              </a:defRPr>
            </a:pPr>
            <a:r>
              <a:t>03</a:t>
            </a:r>
          </a:p>
        </p:txBody>
      </p:sp>
      <p:sp>
        <p:nvSpPr>
          <p:cNvPr id="12" name="statement-point-2">
            <a:extLst xmlns:a="http://schemas.openxmlformats.org/drawingml/2006/main">
              <a:ext uri="{FF2B5EF4-FFF2-40B4-BE49-F238E27FC236}">
                <a16:creationId xmlns:a16="http://schemas.microsoft.com/office/drawing/2014/main" id="{B6CADA95-B481-4141-A319-B854AF3EC1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4762500"/>
            <a:ext cx="2562225" cy="990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>
                <a:solidFill>
                  <a:srgbClr val="596273"/>
                </a:solidFill>
                <a:latin typeface="Microsoft YaHei"/>
                <a:ea typeface="Microsoft YaHei"/>
                <a:cs typeface="Microsoft YaHei"/>
              </a:defRPr>
            </a:pPr>
            <a:r>
              <a:t>RateLimitAttribute 当前只是元数据</a:t>
            </a:r>
          </a:p>
        </p:txBody>
      </p:sp>
      <p:sp>
        <p:nvSpPr>
          <p:cNvPr id="13" name="statement-index-3">
            <a:extLst xmlns:a="http://schemas.openxmlformats.org/drawingml/2006/main">
              <a:ext uri="{FF2B5EF4-FFF2-40B4-BE49-F238E27FC236}">
                <a16:creationId xmlns:a16="http://schemas.microsoft.com/office/drawing/2014/main" id="{72171F45-A77D-4A93-9652-AB662FCF2C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72575" y="4267200"/>
            <a:ext cx="49530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459B8"/>
                </a:solidFill>
                <a:latin typeface="Microsoft YaHei"/>
                <a:ea typeface="Microsoft YaHei"/>
                <a:cs typeface="Microsoft YaHei"/>
              </a:defRPr>
            </a:pPr>
            <a:r>
              <a:t>04</a:t>
            </a:r>
          </a:p>
        </p:txBody>
      </p:sp>
      <p:sp>
        <p:nvSpPr>
          <p:cNvPr id="14" name="statement-point-3">
            <a:extLst xmlns:a="http://schemas.openxmlformats.org/drawingml/2006/main">
              <a:ext uri="{FF2B5EF4-FFF2-40B4-BE49-F238E27FC236}">
                <a16:creationId xmlns:a16="http://schemas.microsoft.com/office/drawing/2014/main" id="{12282D32-0A99-4EFA-B28E-219A2E26B5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72575" y="4762500"/>
            <a:ext cx="2562225" cy="990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>
                <a:solidFill>
                  <a:srgbClr val="596273"/>
                </a:solidFill>
                <a:latin typeface="Microsoft YaHei"/>
                <a:ea typeface="Microsoft YaHei"/>
                <a:cs typeface="Microsoft YaHei"/>
              </a:defRPr>
            </a:pPr>
            <a:r>
              <a:t>直接启用前还要修正 Options 读取并设计 key 与白名单</a:t>
            </a:r>
          </a:p>
        </p:txBody>
      </p:sp>
    </p:spTree>
    <p:extLst>
      <p:ext uri="{BB962C8B-B14F-4D97-AF65-F5344CB8AC3E}">
        <p14:creationId xmlns:p14="http://schemas.microsoft.com/office/powerpoint/2010/main" val="48780249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-title">
            <a:extLst xmlns:a="http://schemas.openxmlformats.org/drawingml/2006/main">
              <a:ext uri="{FF2B5EF4-FFF2-40B4-BE49-F238E27FC236}">
                <a16:creationId xmlns:a16="http://schemas.microsoft.com/office/drawing/2014/main" id="{C8059F1F-C360-4492-9928-E67ED157AC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42900"/>
            <a:ext cx="10668000" cy="609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t>HostedService 必须自己创建 Scope 并支持取消</a:t>
            </a:r>
          </a:p>
        </p:txBody>
      </p:sp>
      <p:sp>
        <p:nvSpPr>
          <p:cNvPr id="2" name="rule">
            <a:extLst xmlns:a="http://schemas.openxmlformats.org/drawingml/2006/main">
              <a:ext uri="{FF2B5EF4-FFF2-40B4-BE49-F238E27FC236}">
                <a16:creationId xmlns:a16="http://schemas.microsoft.com/office/drawing/2014/main" id="{272CE6D5-5FD4-4B1E-A5DF-90DF284AD0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06680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solidFill>
              <a:srgbClr val="B8BCC4"/>
            </a:solidFill>
            <a:prstDash val="solid"/>
          </a:ln>
        </p:spPr>
      </p:sp>
      <p:sp>
        <p:nvSpPr>
          <p:cNvPr id="3" name="footer-deck">
            <a:extLst xmlns:a="http://schemas.openxmlformats.org/drawingml/2006/main">
              <a:ext uri="{FF2B5EF4-FFF2-40B4-BE49-F238E27FC236}">
                <a16:creationId xmlns:a16="http://schemas.microsoft.com/office/drawing/2014/main" id="{20872711-5BC0-4174-B65F-C9C2FE517B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381750"/>
            <a:ext cx="72390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>
                <a:solidFill>
                  <a:srgbClr val="596273"/>
                </a:solidFill>
                <a:latin typeface="Microsoft YaHei"/>
                <a:ea typeface="Microsoft YaHei"/>
                <a:cs typeface="Microsoft YaHei"/>
              </a:defRPr>
            </a:pPr>
            <a:r>
              <a:t>08 · 运行稳定性</a:t>
            </a:r>
          </a:p>
        </p:txBody>
      </p:sp>
      <p:sp>
        <p:nvSpPr>
          <p:cNvPr id="4" name="footer-page">
            <a:extLst xmlns:a="http://schemas.openxmlformats.org/drawingml/2006/main">
              <a:ext uri="{FF2B5EF4-FFF2-40B4-BE49-F238E27FC236}">
                <a16:creationId xmlns:a16="http://schemas.microsoft.com/office/drawing/2014/main" id="{A2C084E3-5A40-4291-A59E-2BC113C33B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6381750"/>
            <a:ext cx="13525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975">
                <a:solidFill>
                  <a:srgbClr val="596273"/>
                </a:solidFill>
                <a:latin typeface="Microsoft YaHei"/>
                <a:ea typeface="Microsoft YaHei"/>
                <a:cs typeface="Microsoft YaHei"/>
              </a:defRPr>
            </a:pPr>
            <a:r>
              <a:t>09 / 11</a:t>
            </a:r>
          </a:p>
        </p:txBody>
      </p:sp>
      <p:sp>
        <p:nvSpPr>
          <p:cNvPr id="5" name="code-background">
            <a:extLst xmlns:a="http://schemas.openxmlformats.org/drawingml/2006/main">
              <a:ext uri="{FF2B5EF4-FFF2-40B4-BE49-F238E27FC236}">
                <a16:creationId xmlns:a16="http://schemas.microsoft.com/office/drawing/2014/main" id="{86F860A0-4E7C-4FF4-8F21-BE9A188A1C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485900"/>
            <a:ext cx="6667500" cy="428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827"/>
          </a:solidFill>
          <a:ln xmlns:a="http://schemas.openxmlformats.org/drawingml/2006/main" w="0">
            <a:solidFill>
              <a:srgbClr val="111827"/>
            </a:solidFill>
            <a:prstDash val="solid"/>
          </a:ln>
        </p:spPr>
      </p:sp>
      <p:sp>
        <p:nvSpPr>
          <p:cNvPr id="6" name="code-block">
            <a:extLst xmlns:a="http://schemas.openxmlformats.org/drawingml/2006/main">
              <a:ext uri="{FF2B5EF4-FFF2-40B4-BE49-F238E27FC236}">
                <a16:creationId xmlns:a16="http://schemas.microsoft.com/office/drawing/2014/main" id="{F3D97F34-25D5-46A6-A5BD-48BE1FE972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33550"/>
            <a:ext cx="6210300" cy="381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>
                <a:solidFill>
                  <a:srgbClr val="F8FAFC"/>
                </a:solidFill>
                <a:latin typeface="Consolas"/>
                <a:ea typeface="Consolas"/>
                <a:cs typeface="Consolas"/>
              </a:defRPr>
            </a:pPr>
            <a:r>
              <a:t>public async Task ExecuteAsync(
    CancellationToken stoppingToken)
{
    while (!stoppingToken.IsCancellationRequested)
    {
        using var scope =
            _scopeFactory.CreateScope();
        var service = scope.ServiceProvider
            .GetRequiredService&lt;ISnapshotService&gt;();
        await service.RunAsync(stoppingToken);
        await Task.Delay(interval, stoppingToken);
    }
}</a:t>
            </a:r>
          </a:p>
        </p:txBody>
      </p:sp>
      <p:sp>
        <p:nvSpPr>
          <p:cNvPr id="7" name="code-side-title">
            <a:extLst xmlns:a="http://schemas.openxmlformats.org/drawingml/2006/main">
              <a:ext uri="{FF2B5EF4-FFF2-40B4-BE49-F238E27FC236}">
                <a16:creationId xmlns:a16="http://schemas.microsoft.com/office/drawing/2014/main" id="{92504B92-D0D7-4E59-B00A-E3D63F04DD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1562100"/>
            <a:ext cx="3905250" cy="666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t>后台任务的最低要求</a:t>
            </a:r>
          </a:p>
        </p:txBody>
      </p:sp>
      <p:sp>
        <p:nvSpPr>
          <p:cNvPr id="8" name="code-side-body">
            <a:extLst xmlns:a="http://schemas.openxmlformats.org/drawingml/2006/main">
              <a:ext uri="{FF2B5EF4-FFF2-40B4-BE49-F238E27FC236}">
                <a16:creationId xmlns:a16="http://schemas.microsoft.com/office/drawing/2014/main" id="{06EC123D-B4DF-4F85-8D76-4B6CF9BCF6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2419350"/>
            <a:ext cx="3905250" cy="3143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>
                <a:solidFill>
                  <a:srgbClr val="596273"/>
                </a:solidFill>
                <a:latin typeface="Microsoft YaHei"/>
                <a:ea typeface="Microsoft YaHei"/>
                <a:cs typeface="Microsoft YaHei"/>
              </a:defRPr>
            </a:pPr>
            <a:r>
              <a:t>• Singleton HostedService 不直接持有 Scoped Service
• 循环和业务方法都传递取消令牌
• 异常要记录且决定是否继续
• 任务重复执行必须安全
• 长期复杂调度应使用专门平台</a:t>
            </a:r>
          </a:p>
        </p:txBody>
      </p:sp>
    </p:spTree>
    <p:extLst>
      <p:ext uri="{BB962C8B-B14F-4D97-AF65-F5344CB8AC3E}">
        <p14:creationId xmlns:p14="http://schemas.microsoft.com/office/powerpoint/2010/main" val="297720709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-title">
            <a:extLst xmlns:a="http://schemas.openxmlformats.org/drawingml/2006/main">
              <a:ext uri="{FF2B5EF4-FFF2-40B4-BE49-F238E27FC236}">
                <a16:creationId xmlns:a16="http://schemas.microsoft.com/office/drawing/2014/main" id="{5012622E-D471-4125-9346-C06D2C448C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42900"/>
            <a:ext cx="10668000" cy="609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t>后台任务没有登录用户，必须设计系统审计和幂等</a:t>
            </a:r>
          </a:p>
        </p:txBody>
      </p:sp>
      <p:sp>
        <p:nvSpPr>
          <p:cNvPr id="2" name="rule">
            <a:extLst xmlns:a="http://schemas.openxmlformats.org/drawingml/2006/main">
              <a:ext uri="{FF2B5EF4-FFF2-40B4-BE49-F238E27FC236}">
                <a16:creationId xmlns:a16="http://schemas.microsoft.com/office/drawing/2014/main" id="{851CE5ED-AA78-4F78-AED8-D03CAAF6D6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06680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solidFill>
              <a:srgbClr val="B8BCC4"/>
            </a:solidFill>
            <a:prstDash val="solid"/>
          </a:ln>
        </p:spPr>
      </p:sp>
      <p:sp>
        <p:nvSpPr>
          <p:cNvPr id="3" name="footer-deck">
            <a:extLst xmlns:a="http://schemas.openxmlformats.org/drawingml/2006/main">
              <a:ext uri="{FF2B5EF4-FFF2-40B4-BE49-F238E27FC236}">
                <a16:creationId xmlns:a16="http://schemas.microsoft.com/office/drawing/2014/main" id="{BE398873-0B58-443F-BD8B-18B86A0381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381750"/>
            <a:ext cx="72390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>
                <a:solidFill>
                  <a:srgbClr val="596273"/>
                </a:solidFill>
                <a:latin typeface="Microsoft YaHei"/>
                <a:ea typeface="Microsoft YaHei"/>
                <a:cs typeface="Microsoft YaHei"/>
              </a:defRPr>
            </a:pPr>
            <a:r>
              <a:t>08 · 运行稳定性</a:t>
            </a:r>
          </a:p>
        </p:txBody>
      </p:sp>
      <p:sp>
        <p:nvSpPr>
          <p:cNvPr id="4" name="footer-page">
            <a:extLst xmlns:a="http://schemas.openxmlformats.org/drawingml/2006/main">
              <a:ext uri="{FF2B5EF4-FFF2-40B4-BE49-F238E27FC236}">
                <a16:creationId xmlns:a16="http://schemas.microsoft.com/office/drawing/2014/main" id="{2AADB833-DA9B-4ECB-B812-8F0FF3CD2D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6381750"/>
            <a:ext cx="13525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975">
                <a:solidFill>
                  <a:srgbClr val="596273"/>
                </a:solidFill>
                <a:latin typeface="Microsoft YaHei"/>
                <a:ea typeface="Microsoft YaHei"/>
                <a:cs typeface="Microsoft YaHei"/>
              </a:defRPr>
            </a:pPr>
            <a:r>
              <a:t>10 / 11</a:t>
            </a:r>
          </a:p>
        </p:txBody>
      </p:sp>
      <p:sp>
        <p:nvSpPr>
          <p:cNvPr id="5" name="compare-band-0">
            <a:extLst xmlns:a="http://schemas.openxmlformats.org/drawingml/2006/main">
              <a:ext uri="{FF2B5EF4-FFF2-40B4-BE49-F238E27FC236}">
                <a16:creationId xmlns:a16="http://schemas.microsoft.com/office/drawing/2014/main" id="{21DBA694-D225-44D7-86D4-98B0BC6090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562100"/>
            <a:ext cx="533400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5FB"/>
          </a:solidFill>
          <a:ln xmlns:a="http://schemas.openxmlformats.org/drawingml/2006/main" w="0">
            <a:solidFill>
              <a:srgbClr val="EAF5FB"/>
            </a:solidFill>
            <a:prstDash val="solid"/>
          </a:ln>
        </p:spPr>
      </p:sp>
      <p:sp>
        <p:nvSpPr>
          <p:cNvPr id="6" name="compare-title-0">
            <a:extLst xmlns:a="http://schemas.openxmlformats.org/drawingml/2006/main">
              <a:ext uri="{FF2B5EF4-FFF2-40B4-BE49-F238E27FC236}">
                <a16:creationId xmlns:a16="http://schemas.microsoft.com/office/drawing/2014/main" id="{CA41DF9B-F72D-4982-94BD-B24BE257F8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790700"/>
            <a:ext cx="4914900" cy="457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t>请求内 Service</a:t>
            </a:r>
          </a:p>
        </p:txBody>
      </p:sp>
      <p:sp>
        <p:nvSpPr>
          <p:cNvPr id="7" name="compare-body-0">
            <a:extLst xmlns:a="http://schemas.openxmlformats.org/drawingml/2006/main">
              <a:ext uri="{FF2B5EF4-FFF2-40B4-BE49-F238E27FC236}">
                <a16:creationId xmlns:a16="http://schemas.microsoft.com/office/drawing/2014/main" id="{616408D5-C1F8-4187-A32E-3EFB1060EC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743200"/>
            <a:ext cx="5257800" cy="3143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>
                <a:solidFill>
                  <a:srgbClr val="596273"/>
                </a:solidFill>
                <a:latin typeface="Microsoft YaHei"/>
                <a:ea typeface="Microsoft YaHei"/>
                <a:cs typeface="Microsoft YaHei"/>
              </a:defRPr>
            </a:pPr>
            <a:r>
              <a:t>• 通常存在 IUserContext
• 可记录用户 ID 和用户名
• 请求失败可返回 ApiResponse
• TraceId 来自 HTTP 链路</a:t>
            </a:r>
          </a:p>
        </p:txBody>
      </p:sp>
      <p:sp>
        <p:nvSpPr>
          <p:cNvPr id="8" name="compare-band-1">
            <a:extLst xmlns:a="http://schemas.openxmlformats.org/drawingml/2006/main">
              <a:ext uri="{FF2B5EF4-FFF2-40B4-BE49-F238E27FC236}">
                <a16:creationId xmlns:a16="http://schemas.microsoft.com/office/drawing/2014/main" id="{218C62D3-3E11-4C9F-B37B-225915254A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1562100"/>
            <a:ext cx="533400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3F5"/>
          </a:solidFill>
          <a:ln xmlns:a="http://schemas.openxmlformats.org/drawingml/2006/main" w="0">
            <a:solidFill>
              <a:srgbClr val="F1F3F5"/>
            </a:solidFill>
            <a:prstDash val="solid"/>
          </a:ln>
        </p:spPr>
      </p:sp>
      <p:sp>
        <p:nvSpPr>
          <p:cNvPr id="9" name="compare-title-1">
            <a:extLst xmlns:a="http://schemas.openxmlformats.org/drawingml/2006/main">
              <a:ext uri="{FF2B5EF4-FFF2-40B4-BE49-F238E27FC236}">
                <a16:creationId xmlns:a16="http://schemas.microsoft.com/office/drawing/2014/main" id="{D68FA66F-99A7-4A43-864B-4F1BE8BE84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1790700"/>
            <a:ext cx="4914900" cy="457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t>后台任务</a:t>
            </a:r>
          </a:p>
        </p:txBody>
      </p:sp>
      <p:sp>
        <p:nvSpPr>
          <p:cNvPr id="10" name="compare-body-1">
            <a:extLst xmlns:a="http://schemas.openxmlformats.org/drawingml/2006/main">
              <a:ext uri="{FF2B5EF4-FFF2-40B4-BE49-F238E27FC236}">
                <a16:creationId xmlns:a16="http://schemas.microsoft.com/office/drawing/2014/main" id="{0902B683-4C12-4CA5-AB43-89D5AB7654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2743200"/>
            <a:ext cx="5257800" cy="3143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>
                <a:solidFill>
                  <a:srgbClr val="596273"/>
                </a:solidFill>
                <a:latin typeface="Microsoft YaHei"/>
                <a:ea typeface="Microsoft YaHei"/>
                <a:cs typeface="Microsoft YaHei"/>
              </a:defRPr>
            </a:pPr>
            <a:r>
              <a:t>• UserId / UserName 可能为空
• 审计使用系统操作语义
• 异常依赖日志和作业状态观察
• 重复启动或多实例必须防重复执行</a:t>
            </a:r>
          </a:p>
        </p:txBody>
      </p:sp>
    </p:spTree>
    <p:extLst>
      <p:ext uri="{BB962C8B-B14F-4D97-AF65-F5344CB8AC3E}">
        <p14:creationId xmlns:p14="http://schemas.microsoft.com/office/powerpoint/2010/main" val="79547439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-title">
            <a:extLst xmlns:a="http://schemas.openxmlformats.org/drawingml/2006/main">
              <a:ext uri="{FF2B5EF4-FFF2-40B4-BE49-F238E27FC236}">
                <a16:creationId xmlns:a16="http://schemas.microsoft.com/office/drawing/2014/main" id="{6F1F2D01-DB1F-46E1-A7CB-1B7B2647B4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42900"/>
            <a:ext cx="10668000" cy="609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t>复盘小测：把结论说出来</a:t>
            </a:r>
          </a:p>
        </p:txBody>
      </p:sp>
      <p:sp>
        <p:nvSpPr>
          <p:cNvPr id="2" name="rule">
            <a:extLst xmlns:a="http://schemas.openxmlformats.org/drawingml/2006/main">
              <a:ext uri="{FF2B5EF4-FFF2-40B4-BE49-F238E27FC236}">
                <a16:creationId xmlns:a16="http://schemas.microsoft.com/office/drawing/2014/main" id="{0D15A847-5AA1-4641-BC05-B955B3B121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06680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solidFill>
              <a:srgbClr val="B8BCC4"/>
            </a:solidFill>
            <a:prstDash val="solid"/>
          </a:ln>
        </p:spPr>
      </p:sp>
      <p:sp>
        <p:nvSpPr>
          <p:cNvPr id="3" name="footer-deck">
            <a:extLst xmlns:a="http://schemas.openxmlformats.org/drawingml/2006/main">
              <a:ext uri="{FF2B5EF4-FFF2-40B4-BE49-F238E27FC236}">
                <a16:creationId xmlns:a16="http://schemas.microsoft.com/office/drawing/2014/main" id="{840FB486-6432-4E49-8757-D377898907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381750"/>
            <a:ext cx="72390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>
                <a:solidFill>
                  <a:srgbClr val="596273"/>
                </a:solidFill>
                <a:latin typeface="Microsoft YaHei"/>
                <a:ea typeface="Microsoft YaHei"/>
                <a:cs typeface="Microsoft YaHei"/>
              </a:defRPr>
            </a:pPr>
            <a:r>
              <a:t>08 · 运行稳定性</a:t>
            </a:r>
          </a:p>
        </p:txBody>
      </p:sp>
      <p:sp>
        <p:nvSpPr>
          <p:cNvPr id="4" name="footer-page">
            <a:extLst xmlns:a="http://schemas.openxmlformats.org/drawingml/2006/main">
              <a:ext uri="{FF2B5EF4-FFF2-40B4-BE49-F238E27FC236}">
                <a16:creationId xmlns:a16="http://schemas.microsoft.com/office/drawing/2014/main" id="{8A6FBE9D-2E11-49C5-9786-D8CE406107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6381750"/>
            <a:ext cx="13525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975">
                <a:solidFill>
                  <a:srgbClr val="596273"/>
                </a:solidFill>
                <a:latin typeface="Microsoft YaHei"/>
                <a:ea typeface="Microsoft YaHei"/>
                <a:cs typeface="Microsoft YaHei"/>
              </a:defRPr>
            </a:pPr>
            <a:r>
              <a:t>11 / 11</a:t>
            </a:r>
          </a:p>
        </p:txBody>
      </p:sp>
      <p:sp>
        <p:nvSpPr>
          <p:cNvPr id="5" name="quiz-questions">
            <a:extLst xmlns:a="http://schemas.openxmlformats.org/drawingml/2006/main">
              <a:ext uri="{FF2B5EF4-FFF2-40B4-BE49-F238E27FC236}">
                <a16:creationId xmlns:a16="http://schemas.microsoft.com/office/drawing/2014/main" id="{09DF6C07-3E97-47C7-A07B-AD32B4A1B6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524000"/>
            <a:ext cx="6858000" cy="4191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t>01  缓存没有命中与缓存数据脏分别应该查什么？
02  TraceId、日志和 MiniProfiler 各自的作用是什么？
03  为什么当前 RateLimit 配置不会自动产生 429？
04  HostedService 为什么必须创建 Scope 并支持取消？</a:t>
            </a:r>
          </a:p>
        </p:txBody>
      </p:sp>
      <p:sp>
        <p:nvSpPr>
          <p:cNvPr id="6" name="next-panel">
            <a:extLst xmlns:a="http://schemas.openxmlformats.org/drawingml/2006/main">
              <a:ext uri="{FF2B5EF4-FFF2-40B4-BE49-F238E27FC236}">
                <a16:creationId xmlns:a16="http://schemas.microsoft.com/office/drawing/2014/main" id="{DE7AC0B6-70BD-4E3A-9F6A-69064CB3D9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1524000"/>
            <a:ext cx="3886200" cy="3352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5FB"/>
          </a:solidFill>
          <a:ln xmlns:a="http://schemas.openxmlformats.org/drawingml/2006/main" w="0">
            <a:solidFill>
              <a:srgbClr val="EAF5FB"/>
            </a:solidFill>
            <a:prstDash val="solid"/>
          </a:ln>
        </p:spPr>
      </p:sp>
      <p:sp>
        <p:nvSpPr>
          <p:cNvPr id="7" name="next-title">
            <a:extLst xmlns:a="http://schemas.openxmlformats.org/drawingml/2006/main">
              <a:ext uri="{FF2B5EF4-FFF2-40B4-BE49-F238E27FC236}">
                <a16:creationId xmlns:a16="http://schemas.microsoft.com/office/drawing/2014/main" id="{59042C0B-3A07-42AF-B8AA-C341066BAB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1847850"/>
            <a:ext cx="3238500" cy="457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459B8"/>
                </a:solidFill>
                <a:latin typeface="Microsoft YaHei"/>
                <a:ea typeface="Microsoft YaHei"/>
                <a:cs typeface="Microsoft YaHei"/>
              </a:defRPr>
            </a:pPr>
            <a:r>
              <a:t>下一步</a:t>
            </a:r>
          </a:p>
        </p:txBody>
      </p:sp>
      <p:sp>
        <p:nvSpPr>
          <p:cNvPr id="8" name="next-body">
            <a:extLst xmlns:a="http://schemas.openxmlformats.org/drawingml/2006/main">
              <a:ext uri="{FF2B5EF4-FFF2-40B4-BE49-F238E27FC236}">
                <a16:creationId xmlns:a16="http://schemas.microsoft.com/office/drawing/2014/main" id="{78176BD1-256F-49ED-8DE7-DFD7F2B9BD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2571750"/>
            <a:ext cx="3238500" cy="1714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t>最后一讲把前八讲的能力放回入库、出库、任务和库存源码主线。</a:t>
            </a:r>
          </a:p>
        </p:txBody>
      </p:sp>
      <p:sp>
        <p:nvSpPr>
          <p:cNvPr id="9" name="answer-hint">
            <a:extLst xmlns:a="http://schemas.openxmlformats.org/drawingml/2006/main">
              <a:ext uri="{FF2B5EF4-FFF2-40B4-BE49-F238E27FC236}">
                <a16:creationId xmlns:a16="http://schemas.microsoft.com/office/drawing/2014/main" id="{879979EE-84F1-4376-B88B-AA1EAC7BD9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4514850"/>
            <a:ext cx="32385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>
                <a:solidFill>
                  <a:srgbClr val="596273"/>
                </a:solidFill>
                <a:latin typeface="Microsoft YaHei"/>
                <a:ea typeface="Microsoft YaHei"/>
                <a:cs typeface="Microsoft YaHei"/>
              </a:defRPr>
            </a:pPr>
            <a:r>
              <a:t>答案与延伸阅读已放入讲师备注</a:t>
            </a:r>
          </a:p>
        </p:txBody>
      </p:sp>
      <p:sp>
        <p:nvSpPr>
          <p:cNvPr id="10" name="takeaway">
            <a:extLst xmlns:a="http://schemas.openxmlformats.org/drawingml/2006/main">
              <a:ext uri="{FF2B5EF4-FFF2-40B4-BE49-F238E27FC236}">
                <a16:creationId xmlns:a16="http://schemas.microsoft.com/office/drawing/2014/main" id="{B301DA54-AABE-472F-AD1F-42E18FDC00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867400"/>
            <a:ext cx="6858000" cy="381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459B8"/>
                </a:solidFill>
                <a:latin typeface="Microsoft YaHei"/>
                <a:ea typeface="Microsoft YaHei"/>
                <a:cs typeface="Microsoft YaHei"/>
              </a:defRPr>
            </a:pPr>
            <a:r>
              <a:t>运行稳定性来自可观察、可取消、可重复和可验证。</a:t>
            </a:r>
          </a:p>
        </p:txBody>
      </p:sp>
    </p:spTree>
    <p:extLst>
      <p:ext uri="{BB962C8B-B14F-4D97-AF65-F5344CB8AC3E}">
        <p14:creationId xmlns:p14="http://schemas.microsoft.com/office/powerpoint/2010/main" val="1884139977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2026-07-10T03:40:08.5640000Z</dcterms:created>
  <dcterms:modified xsi:type="dcterms:W3CDTF">2026-07-10T03:40:08.5640000Z</dcterms:modified>
</coreProperties>
</file>