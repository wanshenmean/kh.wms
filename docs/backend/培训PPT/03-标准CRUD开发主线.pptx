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3f525e1464ad5" /><Relationship Type="http://schemas.openxmlformats.org/officeDocument/2006/relationships/extended-properties" Target="/docProps/app.xml" Id="Rf92aae9edd5447de" /><Relationship Type="http://schemas.openxmlformats.org/officeDocument/2006/relationships/officeDocument" Target="/ppt/presentation.xml" Id="R2403d850a21e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9a6040d9ef4286"/>
  </p:sldMasterIdLst>
  <p:notesMasterIdLst>
    <p:notesMasterId xmlns:r="http://schemas.openxmlformats.org/officeDocument/2006/relationships" r:id="Rdc1384b792e84b31"/>
  </p:notesMasterIdLst>
  <p:sldIdLst>
    <p:sldId xmlns:r="http://schemas.openxmlformats.org/officeDocument/2006/relationships" id="256" r:id="R812980b7596447ff"/>
    <p:sldId xmlns:r="http://schemas.openxmlformats.org/officeDocument/2006/relationships" id="257" r:id="R82629ae5539f4a56"/>
    <p:sldId xmlns:r="http://schemas.openxmlformats.org/officeDocument/2006/relationships" id="258" r:id="R6bffb6e897144803"/>
    <p:sldId xmlns:r="http://schemas.openxmlformats.org/officeDocument/2006/relationships" id="259" r:id="R48ba525135124f63"/>
    <p:sldId xmlns:r="http://schemas.openxmlformats.org/officeDocument/2006/relationships" id="260" r:id="Ra39339f317cc448b"/>
    <p:sldId xmlns:r="http://schemas.openxmlformats.org/officeDocument/2006/relationships" id="261" r:id="R15913f82a8524029"/>
    <p:sldId xmlns:r="http://schemas.openxmlformats.org/officeDocument/2006/relationships" id="262" r:id="Re0b977b6464e45af"/>
    <p:sldId xmlns:r="http://schemas.openxmlformats.org/officeDocument/2006/relationships" id="263" r:id="Rcb6634faeabf4bde"/>
    <p:sldId xmlns:r="http://schemas.openxmlformats.org/officeDocument/2006/relationships" id="264" r:id="R556587989a8a4337"/>
    <p:sldId xmlns:r="http://schemas.openxmlformats.org/officeDocument/2006/relationships" id="265" r:id="R7da48a9269954ce9"/>
    <p:sldId xmlns:r="http://schemas.openxmlformats.org/officeDocument/2006/relationships" id="266" r:id="Rb685f2db297a4e98"/>
    <p:sldId xmlns:r="http://schemas.openxmlformats.org/officeDocument/2006/relationships" id="267" r:id="R9cb0b2901c644118"/>
    <p:sldId xmlns:r="http://schemas.openxmlformats.org/officeDocument/2006/relationships" id="268" r:id="Rc49f6277c478410b"/>
    <p:sldId xmlns:r="http://schemas.openxmlformats.org/officeDocument/2006/relationships" id="269" r:id="Rd04a3d28153849e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beaefe62464ca7" /><Relationship Type="http://schemas.openxmlformats.org/officeDocument/2006/relationships/slideMaster" Target="/ppt/slideMasters/slideMaster1.xml" Id="R949a6040d9ef4286" /><Relationship Type="http://schemas.openxmlformats.org/officeDocument/2006/relationships/notesMaster" Target="/ppt/notesMasters/notesMaster1.xml" Id="Rdc1384b792e84b31" /><Relationship Type="http://schemas.openxmlformats.org/officeDocument/2006/relationships/presProps" Target="/ppt/presProps.xml" Id="Rbc2a438f32e54877" /><Relationship Type="http://schemas.openxmlformats.org/officeDocument/2006/relationships/tableStyles" Target="/ppt/tableStyles.xml" Id="R63ad1b693e1f494e" /><Relationship Type="http://schemas.openxmlformats.org/officeDocument/2006/relationships/slide" Target="/ppt/slides/slide1.xml" Id="R812980b7596447ff" /><Relationship Type="http://schemas.openxmlformats.org/officeDocument/2006/relationships/slide" Target="/ppt/slides/slide2.xml" Id="R82629ae5539f4a56" /><Relationship Type="http://schemas.openxmlformats.org/officeDocument/2006/relationships/slide" Target="/ppt/slides/slide3.xml" Id="R6bffb6e897144803" /><Relationship Type="http://schemas.openxmlformats.org/officeDocument/2006/relationships/slide" Target="/ppt/slides/slide4.xml" Id="R48ba525135124f63" /><Relationship Type="http://schemas.openxmlformats.org/officeDocument/2006/relationships/slide" Target="/ppt/slides/slide5.xml" Id="Ra39339f317cc448b" /><Relationship Type="http://schemas.openxmlformats.org/officeDocument/2006/relationships/slide" Target="/ppt/slides/slide6.xml" Id="R15913f82a8524029" /><Relationship Type="http://schemas.openxmlformats.org/officeDocument/2006/relationships/slide" Target="/ppt/slides/slide7.xml" Id="Re0b977b6464e45af" /><Relationship Type="http://schemas.openxmlformats.org/officeDocument/2006/relationships/slide" Target="/ppt/slides/slide8.xml" Id="Rcb6634faeabf4bde" /><Relationship Type="http://schemas.openxmlformats.org/officeDocument/2006/relationships/slide" Target="/ppt/slides/slide9.xml" Id="R556587989a8a4337" /><Relationship Type="http://schemas.openxmlformats.org/officeDocument/2006/relationships/slide" Target="/ppt/slides/slide10.xml" Id="R7da48a9269954ce9" /><Relationship Type="http://schemas.openxmlformats.org/officeDocument/2006/relationships/slide" Target="/ppt/slides/slide11.xml" Id="Rb685f2db297a4e98" /><Relationship Type="http://schemas.openxmlformats.org/officeDocument/2006/relationships/slide" Target="/ppt/slides/slide12.xml" Id="R9cb0b2901c644118" /><Relationship Type="http://schemas.openxmlformats.org/officeDocument/2006/relationships/slide" Target="/ppt/slides/slide13.xml" Id="Rc49f6277c478410b" /><Relationship Type="http://schemas.openxmlformats.org/officeDocument/2006/relationships/slide" Target="/ppt/slides/slide14.xml" Id="Rd04a3d281538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b9a973533a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811401bb64355" /><Relationship Type="http://schemas.openxmlformats.org/officeDocument/2006/relationships/notesMaster" Target="/ppt/notesMasters/notesMaster1.xml" Id="Ra4740f0e10724f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f2b496cb604b6d" /><Relationship Type="http://schemas.openxmlformats.org/officeDocument/2006/relationships/notesMaster" Target="/ppt/notesMasters/notesMaster1.xml" Id="Rfc407b2dfb534a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db7485645e4b59" /><Relationship Type="http://schemas.openxmlformats.org/officeDocument/2006/relationships/notesMaster" Target="/ppt/notesMasters/notesMaster1.xml" Id="Rd682674f447f41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f23cf7fad84169" /><Relationship Type="http://schemas.openxmlformats.org/officeDocument/2006/relationships/notesMaster" Target="/ppt/notesMasters/notesMaster1.xml" Id="Rb583738fd55141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ac83c4dd4a4b6e" /><Relationship Type="http://schemas.openxmlformats.org/officeDocument/2006/relationships/notesMaster" Target="/ppt/notesMasters/notesMaster1.xml" Id="Rf7b7a845823648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9d0dbd322a4e6c" /><Relationship Type="http://schemas.openxmlformats.org/officeDocument/2006/relationships/notesMaster" Target="/ppt/notesMasters/notesMaster1.xml" Id="R42fdffa2c6dd4d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810009535144ff" /><Relationship Type="http://schemas.openxmlformats.org/officeDocument/2006/relationships/notesMaster" Target="/ppt/notesMasters/notesMaster1.xml" Id="Reaa533ea878c46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f6cf73f2f44dd3" /><Relationship Type="http://schemas.openxmlformats.org/officeDocument/2006/relationships/notesMaster" Target="/ppt/notesMasters/notesMaster1.xml" Id="Rb8fb48eb246141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d4fa340bff49de" /><Relationship Type="http://schemas.openxmlformats.org/officeDocument/2006/relationships/notesMaster" Target="/ppt/notesMasters/notesMaster1.xml" Id="Rc4c4d1b47a0946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209bd9ba79490c" /><Relationship Type="http://schemas.openxmlformats.org/officeDocument/2006/relationships/notesMaster" Target="/ppt/notesMasters/notesMaster1.xml" Id="Rcf72f8d6ef8146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4e7e41a80840fe" /><Relationship Type="http://schemas.openxmlformats.org/officeDocument/2006/relationships/notesMaster" Target="/ppt/notesMasters/notesMaster1.xml" Id="R21c10c0ce9aa41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4b6ef7abe347ea" /><Relationship Type="http://schemas.openxmlformats.org/officeDocument/2006/relationships/notesMaster" Target="/ppt/notesMasters/notesMaster1.xml" Id="Rb4bb8e018fb343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4530ee0d0d4b1b" /><Relationship Type="http://schemas.openxmlformats.org/officeDocument/2006/relationships/notesMaster" Target="/ppt/notesMasters/notesMaster1.xml" Id="R07c63a71b0a844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8e1925f91b48d4" /><Relationship Type="http://schemas.openxmlformats.org/officeDocument/2006/relationships/notesMaster" Target="/ppt/notesMasters/notesMaster1.xml" Id="R3ff1ada81ace45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讲师提示：开场说明：标准 CRUD 的目标不是少写代码，而是让通用行为一致、业务差异有固定落点。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D:\Git\0.KH.WMS\docs\backend\后端开发指引V3教程\06-完整CRUD底层执行链路.md</a:t>
            </a:r>
          </a:p>
          <a:p xmlns:a="http://schemas.openxmlformats.org/drawingml/2006/main">
            <a:r>
              <a:t>- D:\Git\0.KH.WMS\docs\backend\后端开发指引V3教程\08-后端开发标准流程.md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讲师提示：明确本讲只讲普通 CRUD，ExtData 和主从表扩展留到第 4 讲。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D:\Git\0.KH.WMS\docs\backend\后端开发指引V3教程\06-完整CRUD底层执行链路.md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 分钟</a:t>
            </a:r>
          </a:p>
          <a:p xmlns:a="http://schemas.openxmlformats.org/drawingml/2006/main">
            <a:r>
              <a:t>讲师提示：对比复制旧 Controller 和继承基类：前者容易带入历史差异，后者让行为统一。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D:\Git\0.KH.WMS\docs\backend\后端开发指引V3教程\04-职责边界.md</a:t>
            </a:r>
          </a:p>
          <a:p xmlns:a="http://schemas.openxmlformats.org/drawingml/2006/main">
            <a:r>
              <a:t>- D:\Git\0.KH.WMS\docs\backend\后端开发指引V3教程\06-完整CRUD底层执行链路.md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讲师提示：Contract 对普通模块内 CRUD 通常不是必需；只有跨模块调用才引入。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D:\Git\0.KH.WMS\docs\backend\后端开发指引V3教程\04-职责边界.md</a:t>
            </a:r>
          </a:p>
          <a:p xmlns:a="http://schemas.openxmlformats.org/drawingml/2006/main">
            <a:r>
              <a:t>- D:\Git\0.KH.WMS\docs\backend\后端底层概念\02-模块边界与分层职责.md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讲师提示：结合仓库目录定位一个已有普通 CRUD，要求成员说出四个核心文件。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D:\Git\0.KH.WMS\docs\backend\后端开发指引V3教程\08-后端开发标准流程.md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讲师提示：指出“按类名自动匹配”不是可靠规则；显示声明是可维护的注册契约。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D:\Git\0.KH.WMS\docs\backend\后端开发指引V3教程\05-服务自动注册RegisteredService.md</a:t>
            </a:r>
          </a:p>
          <a:p xmlns:a="http://schemas.openxmlformats.org/drawingml/2006/main">
            <a:r>
              <a:t>- D:\Git\0.KH.WMS\docs\backend\后端底层概念\03-依赖注入自动注册与AOP代理.md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讲师提示：强调路由应按项目 api/... 风格；自定义流程接口不要强塞进通用 CRUD 动作。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D:\Git\0.KH.WMS\docs\backend\后端开发指引V3教程\06-完整CRUD底层执行链路.md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- D:\Git\0.KH.WMS\docs\backend\后端底层概念\16-Swagger与OpenAPI接口文档底座.md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讲师提示：任何一层都可能报错，排错要先判断请求是否到达该层。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D:\Git\0.KH.WMS\docs\backend\后端开发指引V3教程\06-完整CRUD底层执行链路.md</a:t>
            </a:r>
          </a:p>
          <a:p xmlns:a="http://schemas.openxmlformats.org/drawingml/2006/main">
            <a:r>
              <a:t>- D:\Git\0.KH.WMS\docs\backend\后端开发指引V3教程\12-结合源码的后端深度走读.md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讲师提示：不要把校验复制到 Controller；需要事务内数据状态的校验应放在 Service 钩子。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D:\Git\0.KH.WMS\docs\backend\后端开发指引V3教程\07-CRUD基类能力详解.md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讲师提示：复杂查询可使用 SqlSugar 能力，但仍应保留 Service 作为业务边界。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D:\Git\0.KH.WMS\docs\backend\后端开发指引V3教程\06-完整CRUD底层执行链路.md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讲师提示：原文十步在页面中合并为七个教学阶段，完整细项放在备注来源章节中。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D:\Git\0.KH.WMS\docs\backend\后端开发指引V3教程\08-后端开发标准流程.md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 分钟</a:t>
            </a:r>
          </a:p>
          <a:p xmlns:a="http://schemas.openxmlformats.org/drawingml/2006/main">
            <a:r>
              <a:t>讲师提示：要求成员不要一上来全局搜索错误文本，而是先定位层次。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D:\Git\0.KH.WMS\docs\backend\后端开发指引V3教程\06-完整CRUD底层执行链路.md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 分钟</a:t>
            </a:r>
          </a:p>
          <a:p xmlns:a="http://schemas.openxmlformats.org/drawingml/2006/main">
            <a:r>
              <a:t>讲师提示：常用命令在附录 A；本页只保留培训需要记住的验收动作。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D:\Git\0.KH.WMS\docs\backend\后端开发指引V3教程\A-常用命令.md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建议时长：8 分钟（含答疑）</a:t>
            </a:r>
          </a:p>
          <a:p xmlns:a="http://schemas.openxmlformats.org/drawingml/2006/main">
            <a:r>
              <a:t>讲师提示：小测后让成员用现有模块找一个标准 CRUD，对照 B.1 清单检查。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- D:\Git\0.KH.WMS\docs\backend\后端开发指引V3教程\B-开发检查清单.md</a:t>
            </a:r>
          </a:p>
          <a:p xmlns:a="http://schemas.openxmlformats.org/drawingml/2006/main">
            <a:r>
              <a:t>- D:\Git\0.KH.WMS\docs\backend\后端开发指引V3教程\C-常见坑.md</a:t>
            </a:r>
          </a:p>
          <a:p xmlns:a="http://schemas.openxmlformats.org/drawingml/2006/main">
            <a:r>
              <a:t>- D:\Git\0.KH.WMS\docs\backend\后端底层概念\07-CRUD基类与扩展钩子.md</a:t>
            </a:r>
          </a:p>
          <a:p xmlns:a="http://schemas.openxmlformats.org/drawingml/2006/main">
            <a:r>
              <a:t>小测参考答案：1. Entity、Service 接口、Service 实现、Controller，必要时加 DTO 和数据库变更。2. 让容器按接口解析并经过 AOP 代理。3. 前者查程序集发现，后者查请求执行链和异常日志。4. 唯一性、默认值、业务校验、查询扩展及必要后置动作。</a:t>
            </a:r>
          </a:p>
          <a:p xmlns:a="http://schemas.openxmlformats.org/drawingml/2006/main">
            <a:r>
              <a:t>培训方式：先讲结论，再结合页面中的链路、清单或代码说明；页面内容讲完后停顿确认理解。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7fbfb1e5249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082839a8f4cc6" /><Relationship Type="http://schemas.openxmlformats.org/officeDocument/2006/relationships/slideLayout" Target="/ppt/slideLayouts/slideLayout1.xml" Id="Ra27bd0458fc742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7bd0458fc742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7197814ba4c7f" /><Relationship Type="http://schemas.openxmlformats.org/officeDocument/2006/relationships/notesSlide" Target="/ppt/notesSlides/notesSlide1.xml" Id="R1a0e8cf436ef4b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9d4d2a20245f2" /><Relationship Type="http://schemas.openxmlformats.org/officeDocument/2006/relationships/notesSlide" Target="/ppt/notesSlides/notesSlide2.xml" Id="R22663c938e494d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bd9dd855f4155" /><Relationship Type="http://schemas.openxmlformats.org/officeDocument/2006/relationships/notesSlide" Target="/ppt/notesSlides/notesSlide3.xml" Id="R9e2f62d8509447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f171b8cab4ef9" /><Relationship Type="http://schemas.openxmlformats.org/officeDocument/2006/relationships/notesSlide" Target="/ppt/notesSlides/notesSlide4.xml" Id="Rce20ba0fa45d41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2cf8aaebe4dab" /><Relationship Type="http://schemas.openxmlformats.org/officeDocument/2006/relationships/notesSlide" Target="/ppt/notesSlides/notesSlide5.xml" Id="Rd72d759accaf45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881228bbe462e" /><Relationship Type="http://schemas.openxmlformats.org/officeDocument/2006/relationships/notesSlide" Target="/ppt/notesSlides/notesSlide6.xml" Id="Ra10c979811624a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e90d553e34959" /><Relationship Type="http://schemas.openxmlformats.org/officeDocument/2006/relationships/notesSlide" Target="/ppt/notesSlides/notesSlide7.xml" Id="Rd9e25e54bf6343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8f0d70bf34329" /><Relationship Type="http://schemas.openxmlformats.org/officeDocument/2006/relationships/notesSlide" Target="/ppt/notesSlides/notesSlide8.xml" Id="R3be4ed2c527e42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40cc23d904bf5" /><Relationship Type="http://schemas.openxmlformats.org/officeDocument/2006/relationships/notesSlide" Target="/ppt/notesSlides/notesSlide9.xml" Id="Rc4e51c09618c4d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ef4498350495d" /><Relationship Type="http://schemas.openxmlformats.org/officeDocument/2006/relationships/notesSlide" Target="/ppt/notesSlides/notesSlide10.xml" Id="R4ef205d7a10345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d23f3c31349fc" /><Relationship Type="http://schemas.openxmlformats.org/officeDocument/2006/relationships/notesSlide" Target="/ppt/notesSlides/notesSlide11.xml" Id="R345ea1940b7145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e482007b64d94" /><Relationship Type="http://schemas.openxmlformats.org/officeDocument/2006/relationships/notesSlide" Target="/ppt/notesSlides/notesSlide12.xml" Id="R955a66028dc746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4f297d4044e33" /><Relationship Type="http://schemas.openxmlformats.org/officeDocument/2006/relationships/notesSlide" Target="/ppt/notesSlides/notesSlide13.xml" Id="Rbaf52f80a14244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76606b8a64d48" /><Relationship Type="http://schemas.openxmlformats.org/officeDocument/2006/relationships/notesSlide" Target="/ppt/notesSlides/notesSlide14.xml" Id="Rd686f00ccb20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8CCBB423-D677-4446-9A14-A59BBC3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47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KH.WMS 后端培训系列  ·  03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C654A74A-5B64-4F4C-A74C-90315D1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12776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 CRUD 开发主线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5D5EFB3-4C3C-45D4-A55E-44857CCA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2E0A0D8-557B-4D45-B326-DAE436E4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723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从需求判断到 Swagger、数据库与联调，一次走完标准路径</a:t>
            </a:r>
          </a:p>
        </p:txBody>
      </p:sp>
      <p:sp>
        <p:nvSpPr>
          <p:cNvPr id="5" name="audience">
            <a:extLst xmlns:a="http://schemas.openxmlformats.org/drawingml/2006/main">
              <a:ext uri="{FF2B5EF4-FFF2-40B4-BE49-F238E27FC236}">
                <a16:creationId xmlns:a16="http://schemas.microsoft.com/office/drawing/2014/main" id="{49C479CB-DC7E-4E6C-81F1-D58452B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面向：后端新人及已有项目经验成员</a:t>
            </a:r>
          </a:p>
        </p:txBody>
      </p:sp>
    </p:spTree>
    <p:extLst>
      <p:ext uri="{BB962C8B-B14F-4D97-AF65-F5344CB8AC3E}">
        <p14:creationId xmlns:p14="http://schemas.microsoft.com/office/powerpoint/2010/main" val="988442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E166EA-5E9D-4E00-AF51-8374DC17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本次培训讲哪些知识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400796F-4FAB-4E51-89A5-89699F5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62013B86-3A07-4EE8-8EC0-66A4C17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64050D-1D7A-44AA-8631-76549DCF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02 / 14</a:t>
            </a:r>
          </a:p>
        </p:txBody>
      </p:sp>
      <p:sp>
        <p:nvSpPr>
          <p:cNvPr id="5" name="scope-band-0">
            <a:extLst xmlns:a="http://schemas.openxmlformats.org/drawingml/2006/main">
              <a:ext uri="{FF2B5EF4-FFF2-40B4-BE49-F238E27FC236}">
                <a16:creationId xmlns:a16="http://schemas.microsoft.com/office/drawing/2014/main" id="{36412CE3-9628-4180-9662-D59B6DF9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6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913635D8-1DDA-4691-8F96-DBF15CEC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知识范围</a:t>
            </a:r>
          </a:p>
        </p:txBody>
      </p:sp>
      <p:sp>
        <p:nvSpPr>
          <p:cNvPr id="7" name="scope-body-0">
            <a:extLst xmlns:a="http://schemas.openxmlformats.org/drawingml/2006/main">
              <a:ext uri="{FF2B5EF4-FFF2-40B4-BE49-F238E27FC236}">
                <a16:creationId xmlns:a16="http://schemas.microsoft.com/office/drawing/2014/main" id="{D47CBEE6-1F20-4F77-A922-E701D6EB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Entity、DTO、Service、Controller 的职责组合
• RegisteredService 与 Swagger 发现
• 查询、新增、更新、删除底层执行链
• 标准开发十步、排错分层与提测清单</a:t>
            </a:r>
          </a:p>
        </p:txBody>
      </p:sp>
      <p:sp>
        <p:nvSpPr>
          <p:cNvPr id="8" name="scope-band-1">
            <a:extLst xmlns:a="http://schemas.openxmlformats.org/drawingml/2006/main">
              <a:ext uri="{FF2B5EF4-FFF2-40B4-BE49-F238E27FC236}">
                <a16:creationId xmlns:a16="http://schemas.microsoft.com/office/drawing/2014/main" id="{4F262061-A63A-4232-BD5A-5084C8D2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9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ABACA56D-A5D0-4E0F-99CE-BC4A4021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前置知识</a:t>
            </a:r>
          </a:p>
        </p:txBody>
      </p:sp>
      <p:sp>
        <p:nvSpPr>
          <p:cNvPr id="10" name="scope-body-1">
            <a:extLst xmlns:a="http://schemas.openxmlformats.org/drawingml/2006/main">
              <a:ext uri="{FF2B5EF4-FFF2-40B4-BE49-F238E27FC236}">
                <a16:creationId xmlns:a16="http://schemas.microsoft.com/office/drawing/2014/main" id="{9A40BDDF-F07C-45B6-95D6-952F9758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已理解模块、分层和程序集扫描
• 已理解接口代理、统一响应和事务基础
• 能阅读简单的 C# 泛型与特性</a:t>
            </a:r>
          </a:p>
        </p:txBody>
      </p:sp>
      <p:sp>
        <p:nvSpPr>
          <p:cNvPr id="11" name="scope-band-2">
            <a:extLst xmlns:a="http://schemas.openxmlformats.org/drawingml/2006/main">
              <a:ext uri="{FF2B5EF4-FFF2-40B4-BE49-F238E27FC236}">
                <a16:creationId xmlns:a16="http://schemas.microsoft.com/office/drawing/2014/main" id="{015C0907-59AA-478D-8943-40AB70DB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581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0">
            <a:solidFill>
              <a:srgbClr val="EEF7F1"/>
            </a:solidFill>
            <a:prstDash val="solid"/>
          </a:ln>
        </p:spPr>
      </p:sp>
      <p:sp>
        <p:nvSpPr>
          <p:cNvPr id="12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9F0E0DA3-5C23-46F8-880B-77DD90BD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19250"/>
            <a:ext cx="320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学完应会</a:t>
            </a:r>
          </a:p>
        </p:txBody>
      </p:sp>
      <p:sp>
        <p:nvSpPr>
          <p:cNvPr id="13" name="scope-body-2">
            <a:extLst xmlns:a="http://schemas.openxmlformats.org/drawingml/2006/main">
              <a:ext uri="{FF2B5EF4-FFF2-40B4-BE49-F238E27FC236}">
                <a16:creationId xmlns:a16="http://schemas.microsoft.com/office/drawing/2014/main" id="{B94D8CE6-878E-4E3A-9479-9E7854B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5052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• 能从零搭建一个普通 CRUD
• 知道哪些能力由基类自动提供
• 出现错误时能判断卡在扫描、DI、AOP、Service 还是数据库
• 提测前能按 B.1 清单完成自检</a:t>
            </a:r>
          </a:p>
        </p:txBody>
      </p:sp>
    </p:spTree>
    <p:extLst>
      <p:ext uri="{BB962C8B-B14F-4D97-AF65-F5344CB8AC3E}">
        <p14:creationId xmlns:p14="http://schemas.microsoft.com/office/powerpoint/2010/main" val="1259953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9D924-B968-4A9D-8AE6-C97D4D7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CRUD 的难点不是四个接口，而是每层都落对位置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40C51A6-2026-404C-B727-008ECC48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4471E81D-A21C-4824-9EE4-DA8E688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396A5F0-132F-41E5-8A46-4165D207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/ 14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3BA96A24-D1BA-462D-A0DD-9C30E95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0668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薄 Controller + 明确 Service + 统一基类，才能获得可预测的执行链。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92458F7C-999F-47FF-BD52-7D0B5899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statement-index-0">
            <a:extLst xmlns:a="http://schemas.openxmlformats.org/drawingml/2006/main">
              <a:ext uri="{FF2B5EF4-FFF2-40B4-BE49-F238E27FC236}">
                <a16:creationId xmlns:a16="http://schemas.microsoft.com/office/drawing/2014/main" id="{FE075E88-2462-4C8F-A971-07AB4C8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statement-point-0">
            <a:extLst xmlns:a="http://schemas.openxmlformats.org/drawingml/2006/main">
              <a:ext uri="{FF2B5EF4-FFF2-40B4-BE49-F238E27FC236}">
                <a16:creationId xmlns:a16="http://schemas.microsoft.com/office/drawing/2014/main" id="{A5FAF3ED-33FC-48D2-8159-6AA8074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Entity 映射数据库结构</a:t>
            </a:r>
          </a:p>
        </p:txBody>
      </p:sp>
      <p:sp>
        <p:nvSpPr>
          <p:cNvPr id="9" name="statement-index-1">
            <a:extLst xmlns:a="http://schemas.openxmlformats.org/drawingml/2006/main">
              <a:ext uri="{FF2B5EF4-FFF2-40B4-BE49-F238E27FC236}">
                <a16:creationId xmlns:a16="http://schemas.microsoft.com/office/drawing/2014/main" id="{E4D8A158-DC46-4B91-BE24-D319B37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tement-point-1">
            <a:extLst xmlns:a="http://schemas.openxmlformats.org/drawingml/2006/main">
              <a:ext uri="{FF2B5EF4-FFF2-40B4-BE49-F238E27FC236}">
                <a16:creationId xmlns:a16="http://schemas.microsoft.com/office/drawing/2014/main" id="{578623D3-3A41-4C6C-81E2-3A0608A7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 承载业务差异</a:t>
            </a:r>
          </a:p>
        </p:txBody>
      </p:sp>
      <p:sp>
        <p:nvSpPr>
          <p:cNvPr id="11" name="statement-index-2">
            <a:extLst xmlns:a="http://schemas.openxmlformats.org/drawingml/2006/main">
              <a:ext uri="{FF2B5EF4-FFF2-40B4-BE49-F238E27FC236}">
                <a16:creationId xmlns:a16="http://schemas.microsoft.com/office/drawing/2014/main" id="{757EBF8F-FBF8-4650-913F-1926F3A8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2" name="statement-point-2">
            <a:extLst xmlns:a="http://schemas.openxmlformats.org/drawingml/2006/main">
              <a:ext uri="{FF2B5EF4-FFF2-40B4-BE49-F238E27FC236}">
                <a16:creationId xmlns:a16="http://schemas.microsoft.com/office/drawing/2014/main" id="{48C7AC50-6171-4FCE-AA1C-66D68871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暴露标准 HTTP 入口</a:t>
            </a:r>
          </a:p>
        </p:txBody>
      </p:sp>
      <p:sp>
        <p:nvSpPr>
          <p:cNvPr id="13" name="statement-index-3">
            <a:extLst xmlns:a="http://schemas.openxmlformats.org/drawingml/2006/main">
              <a:ext uri="{FF2B5EF4-FFF2-40B4-BE49-F238E27FC236}">
                <a16:creationId xmlns:a16="http://schemas.microsoft.com/office/drawing/2014/main" id="{BD8A1B71-A1CD-4F77-B6A5-5C00F2CD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672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4" name="statement-point-3">
            <a:extLst xmlns:a="http://schemas.openxmlformats.org/drawingml/2006/main">
              <a:ext uri="{FF2B5EF4-FFF2-40B4-BE49-F238E27FC236}">
                <a16:creationId xmlns:a16="http://schemas.microsoft.com/office/drawing/2014/main" id="{4E8716AC-F14D-45A7-9B5E-2DAA53AD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62500"/>
            <a:ext cx="256222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框架统一处理事务、响应和 TraceId</a:t>
            </a:r>
          </a:p>
        </p:txBody>
      </p:sp>
    </p:spTree>
    <p:extLst>
      <p:ext uri="{BB962C8B-B14F-4D97-AF65-F5344CB8AC3E}">
        <p14:creationId xmlns:p14="http://schemas.microsoft.com/office/powerpoint/2010/main" val="2079204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63CA27-BEAC-44FD-9106-9062D1C7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五类对象各自守住一段边界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1FE4E28-C0A1-4310-BE3B-68F96D4C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B433BAB4-6226-4ED6-865A-4826D7B6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B14FC30-B780-40F1-9490-16C4E50D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04 / 14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2F04CF21-44DC-4646-BF66-C0D7C7FD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20955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6605EE9A-DD56-481C-8480-21BE4029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18669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对象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736DB160-7A57-4264-8E8C-093AB1C2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76375"/>
            <a:ext cx="47625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A38C5444-C871-4E84-91FA-4116EF37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28775"/>
            <a:ext cx="45339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负责什么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D1797359-2FB1-4EFD-BAE1-D21B7D34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76375"/>
            <a:ext cx="44196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3403B1D8-522C-4D6B-BDCC-F0F4785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28775"/>
            <a:ext cx="41910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不应该做什么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68D2922-22B3-4692-9A5B-5EC4C988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3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26630D53-8BAC-4237-9566-0F45430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9175"/>
            <a:ext cx="1866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Entity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716AA05A-CE42-4B5C-A635-95EA086B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8917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表结构、关系、审计和状态接口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0A964555-74BF-453D-B56D-A1E6C978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9175"/>
            <a:ext cx="4191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承载 HTTP 协议或跨模块编排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4A7085E3-37C4-4CBC-970A-9E9C2898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82E63A86-D5B7-441C-ABC9-ADAF203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7675"/>
            <a:ext cx="1866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DTO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0E51C4BC-C9E6-4904-AA63-F22A4DDB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8767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接口输入输出和前端契约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6852E0ED-A542-4D30-8195-24DEA79D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7675"/>
            <a:ext cx="4191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代替业务实体直接落库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3EF8F06-805B-4D5F-AD64-BB309EF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0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F5A50F39-8996-4674-ABE2-C94AEEE0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1866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C517066D-F3B8-4ACD-9414-AEDA8FA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8617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仓储访问、业务规则和扩展钩子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3B00BAC4-F2BE-4D75-AE8C-3B2B4139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86175"/>
            <a:ext cx="4191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处理路由和 HTTP 细节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CC4DE486-FCBB-4DF6-8B72-6EC20FF3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0DE1D95A-4B09-4640-B54F-34E18B63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4675"/>
            <a:ext cx="1866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</a:t>
            </a:r>
          </a:p>
        </p:txBody>
      </p:sp>
      <p:sp>
        <p:nvSpPr>
          <p:cNvPr id="2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F79A7CAE-C569-476A-94E5-1029E3E6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8467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参数、路由、调用 Service、返回响应</a:t>
            </a:r>
          </a:p>
        </p:txBody>
      </p:sp>
      <p:sp>
        <p:nvSpPr>
          <p:cNvPr id="2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F7B1F5C4-D3C8-4BC9-97D9-898E5F65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4675"/>
            <a:ext cx="4191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写复杂查询、事务和跨模块流程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67BCFAF0-50A6-4FF7-99F3-8E0E3C91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matrix-cell-4-0">
            <a:extLst xmlns:a="http://schemas.openxmlformats.org/drawingml/2006/main">
              <a:ext uri="{FF2B5EF4-FFF2-40B4-BE49-F238E27FC236}">
                <a16:creationId xmlns:a16="http://schemas.microsoft.com/office/drawing/2014/main" id="{EA6C84A8-84B7-4A02-BB46-04F367D4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3175"/>
            <a:ext cx="1866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Contract</a:t>
            </a:r>
          </a:p>
        </p:txBody>
      </p:sp>
      <p:sp>
        <p:nvSpPr>
          <p:cNvPr id="29" name="matrix-cell-4-1">
            <a:extLst xmlns:a="http://schemas.openxmlformats.org/drawingml/2006/main">
              <a:ext uri="{FF2B5EF4-FFF2-40B4-BE49-F238E27FC236}">
                <a16:creationId xmlns:a16="http://schemas.microsoft.com/office/drawing/2014/main" id="{51940BDE-6AC6-400D-BC0B-94C6F8EF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83175"/>
            <a:ext cx="45339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跨模块必要业务能力</a:t>
            </a:r>
          </a:p>
        </p:txBody>
      </p:sp>
      <p:sp>
        <p:nvSpPr>
          <p:cNvPr id="30" name="matrix-cell-4-2">
            <a:extLst xmlns:a="http://schemas.openxmlformats.org/drawingml/2006/main">
              <a:ext uri="{FF2B5EF4-FFF2-40B4-BE49-F238E27FC236}">
                <a16:creationId xmlns:a16="http://schemas.microsoft.com/office/drawing/2014/main" id="{6112C27D-204C-431C-94FF-433DD230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3175"/>
            <a:ext cx="4191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暴露对方模块整套 CRUD</a:t>
            </a:r>
          </a:p>
        </p:txBody>
      </p:sp>
    </p:spTree>
    <p:extLst>
      <p:ext uri="{BB962C8B-B14F-4D97-AF65-F5344CB8AC3E}">
        <p14:creationId xmlns:p14="http://schemas.microsoft.com/office/powerpoint/2010/main" val="935106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6F6B2D-E892-443F-95C0-087EFE0A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一个普通 CRUD 需要的文件并不多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3A108E2-A3BB-46CB-A212-CA08442E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1CBB7EB8-B7A5-41DA-8549-94A05981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CE842D-9303-4650-9736-CAD37A6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05 / 14</a:t>
            </a:r>
          </a:p>
        </p:txBody>
      </p:sp>
      <p:sp>
        <p:nvSpPr>
          <p:cNvPr id="5" name="grid-intro">
            <a:extLst xmlns:a="http://schemas.openxmlformats.org/drawingml/2006/main">
              <a:ext uri="{FF2B5EF4-FFF2-40B4-BE49-F238E27FC236}">
                <a16:creationId xmlns:a16="http://schemas.microsoft.com/office/drawing/2014/main" id="{49D1F349-F296-4133-855E-B8E4E2E0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文件少不代表职责可以混在一起；每个文件都应放在约定目录。</a:t>
            </a:r>
          </a:p>
        </p:txBody>
      </p:sp>
      <p:sp>
        <p:nvSpPr>
          <p:cNvPr id="6" name="grid-panel-0">
            <a:extLst xmlns:a="http://schemas.openxmlformats.org/drawingml/2006/main">
              <a:ext uri="{FF2B5EF4-FFF2-40B4-BE49-F238E27FC236}">
                <a16:creationId xmlns:a16="http://schemas.microsoft.com/office/drawing/2014/main" id="{536B2F02-A622-4A13-AFF0-A71442B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grid-title-0">
            <a:extLst xmlns:a="http://schemas.openxmlformats.org/drawingml/2006/main">
              <a:ext uri="{FF2B5EF4-FFF2-40B4-BE49-F238E27FC236}">
                <a16:creationId xmlns:a16="http://schemas.microsoft.com/office/drawing/2014/main" id="{F090DB93-D968-4115-9E33-37D4C1D6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Entities/Location.cs</a:t>
            </a:r>
          </a:p>
        </p:txBody>
      </p:sp>
      <p:sp>
        <p:nvSpPr>
          <p:cNvPr id="8" name="grid-body-0">
            <a:extLst xmlns:a="http://schemas.openxmlformats.org/drawingml/2006/main">
              <a:ext uri="{FF2B5EF4-FFF2-40B4-BE49-F238E27FC236}">
                <a16:creationId xmlns:a16="http://schemas.microsoft.com/office/drawing/2014/main" id="{9B625EE8-5379-4131-8911-C113F7D8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表映射、字段与索引约束。</a:t>
            </a:r>
          </a:p>
        </p:txBody>
      </p:sp>
      <p:sp>
        <p:nvSpPr>
          <p:cNvPr id="9" name="grid-panel-1">
            <a:extLst xmlns:a="http://schemas.openxmlformats.org/drawingml/2006/main">
              <a:ext uri="{FF2B5EF4-FFF2-40B4-BE49-F238E27FC236}">
                <a16:creationId xmlns:a16="http://schemas.microsoft.com/office/drawing/2014/main" id="{A61200D6-BC94-415C-9064-2C0DFCE7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0" name="grid-title-1">
            <a:extLst xmlns:a="http://schemas.openxmlformats.org/drawingml/2006/main">
              <a:ext uri="{FF2B5EF4-FFF2-40B4-BE49-F238E27FC236}">
                <a16:creationId xmlns:a16="http://schemas.microsoft.com/office/drawing/2014/main" id="{ED043043-58E6-4CAE-B58D-6EB0A11E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Interfaces/ILocationService.cs</a:t>
            </a:r>
          </a:p>
        </p:txBody>
      </p:sp>
      <p:sp>
        <p:nvSpPr>
          <p:cNvPr id="11" name="grid-body-1">
            <a:extLst xmlns:a="http://schemas.openxmlformats.org/drawingml/2006/main">
              <a:ext uri="{FF2B5EF4-FFF2-40B4-BE49-F238E27FC236}">
                <a16:creationId xmlns:a16="http://schemas.microsoft.com/office/drawing/2014/main" id="{91D8611C-A1DB-43B5-B782-338BAEE7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继承 ICrudService&lt;Location&gt;。</a:t>
            </a:r>
          </a:p>
        </p:txBody>
      </p:sp>
      <p:sp>
        <p:nvSpPr>
          <p:cNvPr id="12" name="grid-panel-2">
            <a:extLst xmlns:a="http://schemas.openxmlformats.org/drawingml/2006/main">
              <a:ext uri="{FF2B5EF4-FFF2-40B4-BE49-F238E27FC236}">
                <a16:creationId xmlns:a16="http://schemas.microsoft.com/office/drawing/2014/main" id="{8A243135-B450-485F-BD9F-7D36A7E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3" name="grid-title-2">
            <a:extLst xmlns:a="http://schemas.openxmlformats.org/drawingml/2006/main">
              <a:ext uri="{FF2B5EF4-FFF2-40B4-BE49-F238E27FC236}">
                <a16:creationId xmlns:a16="http://schemas.microsoft.com/office/drawing/2014/main" id="{B3FAF36D-F667-4E39-B6A8-2FC8A4EF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Services/LocationService.cs</a:t>
            </a:r>
          </a:p>
        </p:txBody>
      </p:sp>
      <p:sp>
        <p:nvSpPr>
          <p:cNvPr id="14" name="grid-body-2">
            <a:extLst xmlns:a="http://schemas.openxmlformats.org/drawingml/2006/main">
              <a:ext uri="{FF2B5EF4-FFF2-40B4-BE49-F238E27FC236}">
                <a16:creationId xmlns:a16="http://schemas.microsoft.com/office/drawing/2014/main" id="{DCD9540E-CE17-4670-AA39-5CF6AAB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051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继承 CrudService&lt;Location&gt; 并写业务钩子。</a:t>
            </a:r>
          </a:p>
        </p:txBody>
      </p:sp>
      <p:sp>
        <p:nvSpPr>
          <p:cNvPr id="15" name="grid-panel-3">
            <a:extLst xmlns:a="http://schemas.openxmlformats.org/drawingml/2006/main">
              <a:ext uri="{FF2B5EF4-FFF2-40B4-BE49-F238E27FC236}">
                <a16:creationId xmlns:a16="http://schemas.microsoft.com/office/drawing/2014/main" id="{0F6ABC13-4F57-4180-B1E1-23C58092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16" name="grid-title-3">
            <a:extLst xmlns:a="http://schemas.openxmlformats.org/drawingml/2006/main">
              <a:ext uri="{FF2B5EF4-FFF2-40B4-BE49-F238E27FC236}">
                <a16:creationId xmlns:a16="http://schemas.microsoft.com/office/drawing/2014/main" id="{18313CF9-4AD3-44D0-865D-7ECC9B80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Controllers/LocationController.cs</a:t>
            </a:r>
          </a:p>
        </p:txBody>
      </p:sp>
      <p:sp>
        <p:nvSpPr>
          <p:cNvPr id="17" name="grid-body-3">
            <a:extLst xmlns:a="http://schemas.openxmlformats.org/drawingml/2006/main">
              <a:ext uri="{FF2B5EF4-FFF2-40B4-BE49-F238E27FC236}">
                <a16:creationId xmlns:a16="http://schemas.microsoft.com/office/drawing/2014/main" id="{DFF5918D-76C7-4CD1-BEAE-F4B1D697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继承 CrudController&lt;Location&gt;。</a:t>
            </a:r>
          </a:p>
        </p:txBody>
      </p:sp>
      <p:sp>
        <p:nvSpPr>
          <p:cNvPr id="18" name="grid-panel-4">
            <a:extLst xmlns:a="http://schemas.openxmlformats.org/drawingml/2006/main">
              <a:ext uri="{FF2B5EF4-FFF2-40B4-BE49-F238E27FC236}">
                <a16:creationId xmlns:a16="http://schemas.microsoft.com/office/drawing/2014/main" id="{334D2E82-E583-44C8-BA8E-86B1BE62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9" name="grid-title-4">
            <a:extLst xmlns:a="http://schemas.openxmlformats.org/drawingml/2006/main">
              <a:ext uri="{FF2B5EF4-FFF2-40B4-BE49-F238E27FC236}">
                <a16:creationId xmlns:a16="http://schemas.microsoft.com/office/drawing/2014/main" id="{0A8F8CAB-A488-4F50-B057-C4A84CA9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DTO（按需）</a:t>
            </a:r>
          </a:p>
        </p:txBody>
      </p:sp>
      <p:sp>
        <p:nvSpPr>
          <p:cNvPr id="20" name="grid-body-4">
            <a:extLst xmlns:a="http://schemas.openxmlformats.org/drawingml/2006/main">
              <a:ext uri="{FF2B5EF4-FFF2-40B4-BE49-F238E27FC236}">
                <a16:creationId xmlns:a16="http://schemas.microsoft.com/office/drawing/2014/main" id="{B917C845-531F-454F-B3B9-8DC5AE08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复杂输入输出才新增 DTO。</a:t>
            </a:r>
          </a:p>
        </p:txBody>
      </p:sp>
      <p:sp>
        <p:nvSpPr>
          <p:cNvPr id="21" name="grid-panel-5">
            <a:extLst xmlns:a="http://schemas.openxmlformats.org/drawingml/2006/main">
              <a:ext uri="{FF2B5EF4-FFF2-40B4-BE49-F238E27FC236}">
                <a16:creationId xmlns:a16="http://schemas.microsoft.com/office/drawing/2014/main" id="{6B4C7BA1-340F-4B61-87AD-774AE563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81500"/>
            <a:ext cx="35814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solidFill>
              <a:srgbClr val="F8F9FA"/>
            </a:solidFill>
            <a:prstDash val="solid"/>
          </a:ln>
        </p:spPr>
      </p:sp>
      <p:sp>
        <p:nvSpPr>
          <p:cNvPr id="22" name="grid-title-5">
            <a:extLst xmlns:a="http://schemas.openxmlformats.org/drawingml/2006/main">
              <a:ext uri="{FF2B5EF4-FFF2-40B4-BE49-F238E27FC236}">
                <a16:creationId xmlns:a16="http://schemas.microsoft.com/office/drawing/2014/main" id="{554078AF-DBE9-4B41-890E-0E28A326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529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数据库变更</a:t>
            </a:r>
          </a:p>
        </p:txBody>
      </p:sp>
      <p:sp>
        <p:nvSpPr>
          <p:cNvPr id="23" name="grid-body-5">
            <a:extLst xmlns:a="http://schemas.openxmlformats.org/drawingml/2006/main">
              <a:ext uri="{FF2B5EF4-FFF2-40B4-BE49-F238E27FC236}">
                <a16:creationId xmlns:a16="http://schemas.microsoft.com/office/drawing/2014/main" id="{BA92CADE-322B-452B-94FD-4DC8E401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105400"/>
            <a:ext cx="3238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确认表、约束、初始化数据和环境差异。</a:t>
            </a:r>
          </a:p>
        </p:txBody>
      </p:sp>
    </p:spTree>
    <p:extLst>
      <p:ext uri="{BB962C8B-B14F-4D97-AF65-F5344CB8AC3E}">
        <p14:creationId xmlns:p14="http://schemas.microsoft.com/office/powerpoint/2010/main" val="7013539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58125F-4EA6-45FB-85D7-75E5661A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 注册必须显式指向业务接口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EF076A5-1362-4576-BDE1-F751B28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7EF36CA8-3E2A-4CA9-B2EF-80D886A6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AB2307B-E7A3-4098-BDD1-6C1EC60B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06 / 14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E4572DC-E2C8-4872-A545-75C12AF5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716D8521-2D39-4CCC-90DB-3883414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public interface ILocationService
    : ICrudService&lt;Location&gt;
{
}
[RegisteredService(
    ServiceType = typeof(ILocationService))]
public class LocationService
    : CrudService&lt;Location&gt;, ILocationService
{
    // 只重写需要的业务钩子
}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60D53D2A-42E6-4F8D-A858-CDA4F219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为什么推荐显式 ServiceType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5AFD8C35-1458-4BE5-A32E-4F90EA08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避免多接口时注册到非预期类型
• 保证 Controller 能按接口解析
• 让接口代理和 AOP 条件明确
• Contract、Validator 更必须显式</a:t>
            </a:r>
          </a:p>
        </p:txBody>
      </p:sp>
    </p:spTree>
    <p:extLst>
      <p:ext uri="{BB962C8B-B14F-4D97-AF65-F5344CB8AC3E}">
        <p14:creationId xmlns:p14="http://schemas.microsoft.com/office/powerpoint/2010/main" val="1119575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180F28-DB9B-416D-9D17-1B901883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薄 Controller 继承基类即可获得标准入口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A7E90CA-9982-499B-B75F-AF87C73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E924A6AC-915E-4E2C-94F7-0175D3DD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C34EDF6-ED96-4C4D-B7B5-F8D1CB2B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07 / 14</a:t>
            </a:r>
          </a:p>
        </p:txBody>
      </p:sp>
      <p:sp>
        <p:nvSpPr>
          <p:cNvPr id="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61CDCC4-2BE0-44E3-86C1-04C05D92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66675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6" name="code-block">
            <a:extLst xmlns:a="http://schemas.openxmlformats.org/drawingml/2006/main">
              <a:ext uri="{FF2B5EF4-FFF2-40B4-BE49-F238E27FC236}">
                <a16:creationId xmlns:a16="http://schemas.microsoft.com/office/drawing/2014/main" id="{111C0481-7DDC-4FE9-ADCC-5998B79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210300" cy="381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8FAFC"/>
                </a:solidFill>
                <a:latin typeface="Consolas"/>
                <a:ea typeface="Consolas"/>
                <a:cs typeface="Consolas"/>
              </a:defRPr>
            </a:pPr>
            <a:r>
              <a:t>[Route("api/location")]
[ApiController]
public class LocationController
    : CrudController&lt;Location&gt;
{
    public LocationController(
        ILocationService service)
        : base(service)
    {
    }
}</a:t>
            </a:r>
          </a:p>
        </p:txBody>
      </p:sp>
      <p:sp>
        <p:nvSpPr>
          <p:cNvPr id="7" name="code-side-title">
            <a:extLst xmlns:a="http://schemas.openxmlformats.org/drawingml/2006/main">
              <a:ext uri="{FF2B5EF4-FFF2-40B4-BE49-F238E27FC236}">
                <a16:creationId xmlns:a16="http://schemas.microsoft.com/office/drawing/2014/main" id="{E2C5B0E2-8EE1-43AB-A810-845F1D99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62100"/>
            <a:ext cx="3905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基类已经提供</a:t>
            </a:r>
          </a:p>
        </p:txBody>
      </p:sp>
      <p:sp>
        <p:nvSpPr>
          <p:cNvPr id="8" name="code-side-body">
            <a:extLst xmlns:a="http://schemas.openxmlformats.org/drawingml/2006/main">
              <a:ext uri="{FF2B5EF4-FFF2-40B4-BE49-F238E27FC236}">
                <a16:creationId xmlns:a16="http://schemas.microsoft.com/office/drawing/2014/main" id="{08AAC1B0-C009-4823-BDBE-58C05CBB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390525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• 分页与单条查询
• 新增、更新、删除和批量删除
• 统一 ApiResponse
• 导入导出等通用入口
• 与 Service 基类约定的执行链</a:t>
            </a:r>
          </a:p>
        </p:txBody>
      </p:sp>
    </p:spTree>
    <p:extLst>
      <p:ext uri="{BB962C8B-B14F-4D97-AF65-F5344CB8AC3E}">
        <p14:creationId xmlns:p14="http://schemas.microsoft.com/office/powerpoint/2010/main" val="460245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42F216-13D4-48CE-94B9-7BFF6F4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请求从 Swagger 到数据库是一条连续链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49013DA-8A03-49CD-8D5C-E90FC959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B3B97407-6AA0-43E4-AE9C-5825D77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445CB65-0B5A-4E6A-B25B-DCB74D4A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08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FD21C395-C622-4E06-8EFC-FC4570D5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050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F83053A-F68D-4F7A-8346-72D5933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A89BAFC-DC14-4B80-85D6-81FEF611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1F6BC9FE-03CE-46E9-A804-639A3E9E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MVC 发现 Action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083D1439-62AE-4036-9362-ECF7B9A2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程序集扫描、路由和 Controller 条件成立。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49F867C-D629-40B4-A66A-FE0C79A3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732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AC437EF1-49BB-4800-8BD2-0BCA70B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09550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6EB6DED-1D84-4683-BB62-7E82130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55270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CD7F2D58-CE04-4E3F-A52B-7219AC25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281940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DI 创建代理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72465D93-27B5-4FDB-9F2C-B2DD6D69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369570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接口解析到注册的 Service 实现。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E48B2D13-C4B0-4C08-AD5F-B1BBBD80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EBF4F463-5696-4723-86A6-F2FAB4A2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9550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38AFE05-085E-4112-955D-3333FA51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55270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62A6CBF0-9061-4A52-8BCC-077AB3A5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81940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CRUD 基类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982B485-EB37-45A2-87BD-065EAA80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369570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统一选择查询或写入模板。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CBC3F3B-25D5-453C-9605-2C4AC89E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1B841B44-F196-44EE-8E31-68963273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9550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E8D91A3C-B1C2-4ABB-8CFC-A52D7F12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5270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6AA45598-28B8-42A9-9A5B-2D2023D0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1940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 钩子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5FDD62D3-C911-4160-867E-2BCA9F32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9570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执行业务校验与差异处理。</a:t>
            </a:r>
          </a:p>
        </p:txBody>
      </p:sp>
      <p:sp>
        <p:nvSpPr>
          <p:cNvPr id="25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6DEBA3E2-D1F2-47D8-BBD9-F500F0C6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6150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6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A14873AA-C1C8-4CB6-A080-338B1CD4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09550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DA463320-6A62-4E97-851F-FCAD135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55270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BE52CE23-077C-4C6F-B033-E655B475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81940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Repository</a:t>
            </a:r>
          </a:p>
        </p:txBody>
      </p:sp>
      <p:sp>
        <p:nvSpPr>
          <p:cNvPr id="29" name="flow-body-4">
            <a:extLst xmlns:a="http://schemas.openxmlformats.org/drawingml/2006/main">
              <a:ext uri="{FF2B5EF4-FFF2-40B4-BE49-F238E27FC236}">
                <a16:creationId xmlns:a16="http://schemas.microsoft.com/office/drawing/2014/main" id="{DF83387D-39D9-4DFB-9739-252535D8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369570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由仓储和 SqlSugar 访问数据库。</a:t>
            </a:r>
          </a:p>
        </p:txBody>
      </p:sp>
      <p:sp>
        <p:nvSpPr>
          <p:cNvPr id="30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791E276A-9368-4118-B661-93A3DFF6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2095500"/>
            <a:ext cx="15462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3CCDA56A-7CA9-42EE-8786-DD88B7D2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2552700"/>
            <a:ext cx="154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869A454B-A872-4EF0-B60B-3003374F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2819400"/>
            <a:ext cx="15462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UnitOfWork</a:t>
            </a:r>
          </a:p>
        </p:txBody>
      </p:sp>
      <p:sp>
        <p:nvSpPr>
          <p:cNvPr id="33" name="flow-body-5">
            <a:extLst xmlns:a="http://schemas.openxmlformats.org/drawingml/2006/main">
              <a:ext uri="{FF2B5EF4-FFF2-40B4-BE49-F238E27FC236}">
                <a16:creationId xmlns:a16="http://schemas.microsoft.com/office/drawing/2014/main" id="{D07F8ADC-1EAE-4757-B27E-0E6A1185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8575" y="3695700"/>
            <a:ext cx="1546225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提交或回滚并返回 ApiResponse。</a:t>
            </a:r>
          </a:p>
        </p:txBody>
      </p:sp>
    </p:spTree>
    <p:extLst>
      <p:ext uri="{BB962C8B-B14F-4D97-AF65-F5344CB8AC3E}">
        <p14:creationId xmlns:p14="http://schemas.microsoft.com/office/powerpoint/2010/main" val="850553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52693B-E235-47A3-A8CD-1F3A0EC0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新增流程先准备数据，再校验、写入和提交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5F94A54-B52C-4E2B-B23D-B7AE2D3F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F17C3463-4506-47FD-A360-EC8CAD21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D1CD351-0F07-4E09-B723-C02FEFBF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09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833EB53-8FF3-4EC6-890D-25D663D6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FA7CF4A3-1DF2-4E79-A56F-C08249F4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5328D6F-538E-4BC4-A455-ED0F7CBB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3C9CAFB3-0696-49AA-A7FA-4E53DED2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接收实体 / DTO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B3FE4282-91BA-40AA-89FE-2A0AA702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模型绑定并进入基类新增动作。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C8BAA1A-8D66-49B5-983A-2EAD2F10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E7002635-2A2B-47DB-BD31-ED341BE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EA3EF141-82BA-418C-9C6F-BC56CCA4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FD21A587-F409-4619-92C4-6BEAE514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新增前钩子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AAD95AAA-00A9-4F73-9F1A-44AFC866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唯一性、默认值和必要业务校验。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B326A3D-6834-4F48-9449-92609EC2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51AB2FAE-27A2-46B1-AB0A-9A1FC845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455D0D5-BB22-490A-B6BF-BB7A6082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04483CE0-F248-46FE-8174-EF1AAD67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仓储新增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0DC21C9-389A-421E-95B1-49CDB93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写入主实体及需要的导航数据。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C0D8CB1F-2DBB-4FD4-8C26-8EE612F9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9A59C408-805D-4F0B-9D6D-69EE077A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21BDDBE5-8435-4154-8400-A8152C04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98102FD4-ADD6-4B9C-A1E2-004EB3EB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新增后钩子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BBEAF09-2B71-4B93-B815-211D9243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处理后置业务动作。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676262E6-F52E-4CF5-8642-D44A8BBF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4C3F29D9-814C-4ED2-92E2-B75CE8F4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938A1176-1C34-40AA-97CB-F0FC7BC3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提交事务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C5CF129B-F526-448B-8353-6ADABD88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成功返回；异常则统一回滚。</a:t>
            </a:r>
          </a:p>
        </p:txBody>
      </p:sp>
    </p:spTree>
    <p:extLst>
      <p:ext uri="{BB962C8B-B14F-4D97-AF65-F5344CB8AC3E}">
        <p14:creationId xmlns:p14="http://schemas.microsoft.com/office/powerpoint/2010/main" val="13841658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37DAC8-8E4A-456F-B2C7-51AC4011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查询链统一处理过滤、排序和分页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A4127B2-AB85-4905-94C7-F470A68E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1F3F472C-436D-4C64-A832-2C40EBA5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BB90626-EDCA-47BB-9307-A804EDF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10 / 14</a:t>
            </a:r>
          </a:p>
        </p:txBody>
      </p:sp>
      <p:sp>
        <p:nvSpPr>
          <p:cNvPr id="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B8EE55DE-4B47-4A39-BC08-0D614511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0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6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19799DFB-9BDF-405E-96C0-3FA11B79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DFC3AFE-ECEA-49C6-99F8-8127137F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2D5888A0-B456-4C6D-8350-433C5801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接收查询条件</a:t>
            </a:r>
          </a:p>
        </p:txBody>
      </p:sp>
      <p:sp>
        <p:nvSpPr>
          <p:cNvPr id="9" name="flow-body-0">
            <a:extLst xmlns:a="http://schemas.openxmlformats.org/drawingml/2006/main">
              <a:ext uri="{FF2B5EF4-FFF2-40B4-BE49-F238E27FC236}">
                <a16:creationId xmlns:a16="http://schemas.microsoft.com/office/drawing/2014/main" id="{AEB66E24-5972-4273-9436-A6E22BBF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分页、过滤、排序参数进入基类。</a:t>
            </a:r>
          </a:p>
        </p:txBody>
      </p:sp>
      <p:sp>
        <p:nvSpPr>
          <p:cNvPr id="10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73A9858-66FE-47AF-9933-1700C7F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1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F8159957-D39A-441B-9C0F-B8C52C0B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7A7CB0A8-A032-4C3A-94E3-3283B472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9BB3C5EF-DCB9-4ED5-BECA-B8979D93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 IQueryable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89A44BB0-2ED1-4D6D-BE30-06A75A57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仓储提供当前实体查询入口。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824BB2F-8405-46CD-988B-AF3252F8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36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0679EB5B-60FE-47BE-BB5F-F05738B8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701AD45-7155-448D-B095-800CDA8F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AF893534-2ECD-439F-BBE4-D87A0F8F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查询扩展钩子</a:t>
            </a:r>
          </a:p>
        </p:txBody>
      </p:sp>
      <p:sp>
        <p:nvSpPr>
          <p:cNvPr id="19" name="flow-body-2">
            <a:extLst xmlns:a="http://schemas.openxmlformats.org/drawingml/2006/main">
              <a:ext uri="{FF2B5EF4-FFF2-40B4-BE49-F238E27FC236}">
                <a16:creationId xmlns:a16="http://schemas.microsoft.com/office/drawing/2014/main" id="{355A5E0D-CFE4-4D60-8842-AED4F20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按业务需要补充包含、关联或过滤。</a:t>
            </a:r>
          </a:p>
        </p:txBody>
      </p:sp>
      <p:sp>
        <p:nvSpPr>
          <p:cNvPr id="20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3A56E784-9A47-4940-9C4D-CC27F3B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895" y="3067050"/>
            <a:ext cx="304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1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7FD8A46C-7EAA-401D-9779-8090880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7E718867-2A7D-4A4E-804E-FD2FE1F6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6ADDAC6C-33B0-4C2C-9730-04563FD5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分页与排序</a:t>
            </a:r>
          </a:p>
        </p:txBody>
      </p:sp>
      <p:sp>
        <p:nvSpPr>
          <p:cNvPr id="24" name="flow-body-3">
            <a:extLst xmlns:a="http://schemas.openxmlformats.org/drawingml/2006/main">
              <a:ext uri="{FF2B5EF4-FFF2-40B4-BE49-F238E27FC236}">
                <a16:creationId xmlns:a16="http://schemas.microsoft.com/office/drawing/2014/main" id="{8E27B6E0-273B-4D1F-BBE6-DE052336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统一生成分页结果。</a:t>
            </a:r>
          </a:p>
        </p:txBody>
      </p:sp>
      <p:sp>
        <p:nvSpPr>
          <p:cNvPr id="25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E5CB3454-DC05-48BC-99D8-812EA23B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095500"/>
            <a:ext cx="19354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A1CAF08E-3A88-4C3B-96B8-7A1599CE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552700"/>
            <a:ext cx="193548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22F95512-6363-47C5-9775-8E2DF351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2819400"/>
            <a:ext cx="193548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ApiResponse 返回</a:t>
            </a:r>
          </a:p>
        </p:txBody>
      </p:sp>
      <p:sp>
        <p:nvSpPr>
          <p:cNvPr id="28" name="flow-body-4">
            <a:extLst xmlns:a="http://schemas.openxmlformats.org/drawingml/2006/main">
              <a:ext uri="{FF2B5EF4-FFF2-40B4-BE49-F238E27FC236}">
                <a16:creationId xmlns:a16="http://schemas.microsoft.com/office/drawing/2014/main" id="{D34BA3C3-C148-475F-8112-66CFB9BB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320" y="3695700"/>
            <a:ext cx="1935480" cy="1762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前端按统一结构消费。</a:t>
            </a:r>
          </a:p>
        </p:txBody>
      </p:sp>
    </p:spTree>
    <p:extLst>
      <p:ext uri="{BB962C8B-B14F-4D97-AF65-F5344CB8AC3E}">
        <p14:creationId xmlns:p14="http://schemas.microsoft.com/office/powerpoint/2010/main" val="2100584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80C57-F34D-456B-8572-E0171865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开发十步先做决策，再写文件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B9B2ECC-35BF-492E-8A59-6EBE5573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2A2853A0-FBEF-46FE-9C74-3FCC7332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A9F3216-B886-4067-AFFC-6E215166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11 / 14</a:t>
            </a:r>
          </a:p>
        </p:txBody>
      </p:sp>
      <p:sp>
        <p:nvSpPr>
          <p:cNvPr id="5" name="stacked-index-0">
            <a:extLst xmlns:a="http://schemas.openxmlformats.org/drawingml/2006/main">
              <a:ext uri="{FF2B5EF4-FFF2-40B4-BE49-F238E27FC236}">
                <a16:creationId xmlns:a16="http://schemas.microsoft.com/office/drawing/2014/main" id="{373E36C0-A5C4-4F73-AB8B-6BFC669A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6" name="stacked-title-0">
            <a:extLst xmlns:a="http://schemas.openxmlformats.org/drawingml/2006/main">
              <a:ext uri="{FF2B5EF4-FFF2-40B4-BE49-F238E27FC236}">
                <a16:creationId xmlns:a16="http://schemas.microsoft.com/office/drawing/2014/main" id="{E85E85C0-5D8D-4064-8013-4F7F76E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判断需求类型</a:t>
            </a:r>
          </a:p>
        </p:txBody>
      </p:sp>
      <p:sp>
        <p:nvSpPr>
          <p:cNvPr id="7" name="stacked-body-0">
            <a:extLst xmlns:a="http://schemas.openxmlformats.org/drawingml/2006/main">
              <a:ext uri="{FF2B5EF4-FFF2-40B4-BE49-F238E27FC236}">
                <a16:creationId xmlns:a16="http://schemas.microsoft.com/office/drawing/2014/main" id="{016662B4-2254-4B5A-8B7E-9D84985D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普通 CRUD、带 ExtData、流程接口或跨模块能力。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C08744C1-86A3-4008-B8DB-104ADE9F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85282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stacked-index-1">
            <a:extLst xmlns:a="http://schemas.openxmlformats.org/drawingml/2006/main">
              <a:ext uri="{FF2B5EF4-FFF2-40B4-BE49-F238E27FC236}">
                <a16:creationId xmlns:a16="http://schemas.microsoft.com/office/drawing/2014/main" id="{DF698F29-CFCE-449C-A132-36BAF34D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2932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0" name="stacked-title-1">
            <a:extLst xmlns:a="http://schemas.openxmlformats.org/drawingml/2006/main">
              <a:ext uri="{FF2B5EF4-FFF2-40B4-BE49-F238E27FC236}">
                <a16:creationId xmlns:a16="http://schemas.microsoft.com/office/drawing/2014/main" id="{AAA2B39C-C33E-4415-9403-A81AF371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4832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确认业务归属</a:t>
            </a:r>
          </a:p>
        </p:txBody>
      </p:sp>
      <p:sp>
        <p:nvSpPr>
          <p:cNvPr id="11" name="stacked-body-1">
            <a:extLst xmlns:a="http://schemas.openxmlformats.org/drawingml/2006/main">
              <a:ext uri="{FF2B5EF4-FFF2-40B4-BE49-F238E27FC236}">
                <a16:creationId xmlns:a16="http://schemas.microsoft.com/office/drawing/2014/main" id="{F3BF7FD9-47B7-407D-B7D4-F4A07E76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4832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能力放在真正拥有数据和规则的模块。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B93C0767-213B-414E-9401-29E4AF56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18014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stacked-index-2">
            <a:extLst xmlns:a="http://schemas.openxmlformats.org/drawingml/2006/main">
              <a:ext uri="{FF2B5EF4-FFF2-40B4-BE49-F238E27FC236}">
                <a16:creationId xmlns:a16="http://schemas.microsoft.com/office/drawing/2014/main" id="{C1D30226-956C-4DAB-BAEF-3D1E63CF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5664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4" name="stacked-title-2">
            <a:extLst xmlns:a="http://schemas.openxmlformats.org/drawingml/2006/main">
              <a:ext uri="{FF2B5EF4-FFF2-40B4-BE49-F238E27FC236}">
                <a16:creationId xmlns:a16="http://schemas.microsoft.com/office/drawing/2014/main" id="{134E49E3-022B-4A32-9804-09A7CD70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7564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 Entity / DTO</a:t>
            </a:r>
          </a:p>
        </p:txBody>
      </p:sp>
      <p:sp>
        <p:nvSpPr>
          <p:cNvPr id="15" name="stacked-body-2">
            <a:extLst xmlns:a="http://schemas.openxmlformats.org/drawingml/2006/main">
              <a:ext uri="{FF2B5EF4-FFF2-40B4-BE49-F238E27FC236}">
                <a16:creationId xmlns:a16="http://schemas.microsoft.com/office/drawing/2014/main" id="{663FAB14-1EA4-4B4B-892F-C4D1F58A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27564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确认表、字段、约束和接口模型。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208630B-5EBB-4178-8988-F244CB09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0746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stacked-index-3">
            <a:extLst xmlns:a="http://schemas.openxmlformats.org/drawingml/2006/main">
              <a:ext uri="{FF2B5EF4-FFF2-40B4-BE49-F238E27FC236}">
                <a16:creationId xmlns:a16="http://schemas.microsoft.com/office/drawing/2014/main" id="{BC293C70-FA3A-4AFB-9AEB-F58A8701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8396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8" name="stacked-title-3">
            <a:extLst xmlns:a="http://schemas.openxmlformats.org/drawingml/2006/main">
              <a:ext uri="{FF2B5EF4-FFF2-40B4-BE49-F238E27FC236}">
                <a16:creationId xmlns:a16="http://schemas.microsoft.com/office/drawing/2014/main" id="{15BFCFE0-8CC3-43C6-9BFF-D8C70510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60296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定义接口并实现 Service</a:t>
            </a:r>
          </a:p>
        </p:txBody>
      </p:sp>
      <p:sp>
        <p:nvSpPr>
          <p:cNvPr id="19" name="stacked-body-3">
            <a:extLst xmlns:a="http://schemas.openxmlformats.org/drawingml/2006/main">
              <a:ext uri="{FF2B5EF4-FFF2-40B4-BE49-F238E27FC236}">
                <a16:creationId xmlns:a16="http://schemas.microsoft.com/office/drawing/2014/main" id="{A10DE582-B779-4A5D-8B21-1712067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0296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显式注册，业务差异写在钩子或方法中。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A52A6BC1-0F1D-4B46-9B5C-7C09410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3479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stacked-index-4">
            <a:extLst xmlns:a="http://schemas.openxmlformats.org/drawingml/2006/main">
              <a:ext uri="{FF2B5EF4-FFF2-40B4-BE49-F238E27FC236}">
                <a16:creationId xmlns:a16="http://schemas.microsoft.com/office/drawing/2014/main" id="{0C47EDD5-5EBC-4C11-87C5-E9ACE6C3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1129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2" name="stacked-title-4">
            <a:extLst xmlns:a="http://schemas.openxmlformats.org/drawingml/2006/main">
              <a:ext uri="{FF2B5EF4-FFF2-40B4-BE49-F238E27FC236}">
                <a16:creationId xmlns:a16="http://schemas.microsoft.com/office/drawing/2014/main" id="{8D2D04D6-2CFC-4BDC-A19B-76BA2C21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3029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 Controller</a:t>
            </a:r>
          </a:p>
        </p:txBody>
      </p:sp>
      <p:sp>
        <p:nvSpPr>
          <p:cNvPr id="23" name="stacked-body-4">
            <a:extLst xmlns:a="http://schemas.openxmlformats.org/drawingml/2006/main">
              <a:ext uri="{FF2B5EF4-FFF2-40B4-BE49-F238E27FC236}">
                <a16:creationId xmlns:a16="http://schemas.microsoft.com/office/drawing/2014/main" id="{CA0E27C2-B336-4880-921E-1A20948D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3029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选择正确基类和路由。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07990526-186D-4C88-9A87-2E1F2DC3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6211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stacked-index-5">
            <a:extLst xmlns:a="http://schemas.openxmlformats.org/drawingml/2006/main">
              <a:ext uri="{FF2B5EF4-FFF2-40B4-BE49-F238E27FC236}">
                <a16:creationId xmlns:a16="http://schemas.microsoft.com/office/drawing/2014/main" id="{F82D50CD-D3A2-46F7-8FD5-F05D2A3E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3861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26" name="stacked-title-5">
            <a:extLst xmlns:a="http://schemas.openxmlformats.org/drawingml/2006/main">
              <a:ext uri="{FF2B5EF4-FFF2-40B4-BE49-F238E27FC236}">
                <a16:creationId xmlns:a16="http://schemas.microsoft.com/office/drawing/2014/main" id="{6767F529-9049-4A7A-A7C4-2591E5A2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5761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判断 Contract、事务和校验</a:t>
            </a:r>
          </a:p>
        </p:txBody>
      </p:sp>
      <p:sp>
        <p:nvSpPr>
          <p:cNvPr id="27" name="stacked-body-5">
            <a:extLst xmlns:a="http://schemas.openxmlformats.org/drawingml/2006/main">
              <a:ext uri="{FF2B5EF4-FFF2-40B4-BE49-F238E27FC236}">
                <a16:creationId xmlns:a16="http://schemas.microsoft.com/office/drawing/2014/main" id="{76CE2123-5CF2-4F92-A8CA-6EA6759F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5761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只在场景需要时引入扩展能力。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2C5086AA-A615-4002-9250-2DA5B0C6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8943"/>
            <a:ext cx="10267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9" name="stacked-index-6">
            <a:extLst xmlns:a="http://schemas.openxmlformats.org/drawingml/2006/main">
              <a:ext uri="{FF2B5EF4-FFF2-40B4-BE49-F238E27FC236}">
                <a16:creationId xmlns:a16="http://schemas.microsoft.com/office/drawing/2014/main" id="{164FD971-3087-4453-8661-87BCF973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6593"/>
            <a:ext cx="57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30" name="stacked-title-6">
            <a:extLst xmlns:a="http://schemas.openxmlformats.org/drawingml/2006/main">
              <a:ext uri="{FF2B5EF4-FFF2-40B4-BE49-F238E27FC236}">
                <a16:creationId xmlns:a16="http://schemas.microsoft.com/office/drawing/2014/main" id="{59E33866-C790-4986-9483-52BCC804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58493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构建、Swagger 与联调</a:t>
            </a:r>
          </a:p>
        </p:txBody>
      </p:sp>
      <p:sp>
        <p:nvSpPr>
          <p:cNvPr id="31" name="stacked-body-6">
            <a:extLst xmlns:a="http://schemas.openxmlformats.org/drawingml/2006/main">
              <a:ext uri="{FF2B5EF4-FFF2-40B4-BE49-F238E27FC236}">
                <a16:creationId xmlns:a16="http://schemas.microsoft.com/office/drawing/2014/main" id="{2F405990-86C2-4A48-8FC6-4F44D22B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58493"/>
            <a:ext cx="6953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验证成功路径、失败路径和 TraceId。</a:t>
            </a:r>
          </a:p>
        </p:txBody>
      </p:sp>
    </p:spTree>
    <p:extLst>
      <p:ext uri="{BB962C8B-B14F-4D97-AF65-F5344CB8AC3E}">
        <p14:creationId xmlns:p14="http://schemas.microsoft.com/office/powerpoint/2010/main" val="203671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3F0920-741B-4DD1-A806-7D5FD052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排错时先判断请求卡在哪一层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8662C60-83D6-4825-8FC0-39BE7E7C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3C5B8862-2331-4789-AED7-4331503E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F932FF1-5AFD-41C1-8C54-2A169703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12 / 14</a:t>
            </a:r>
          </a:p>
        </p:txBody>
      </p:sp>
      <p:sp>
        <p:nvSpPr>
          <p:cNvPr id="5" name="matrix-header-band-0">
            <a:extLst xmlns:a="http://schemas.openxmlformats.org/drawingml/2006/main">
              <a:ext uri="{FF2B5EF4-FFF2-40B4-BE49-F238E27FC236}">
                <a16:creationId xmlns:a16="http://schemas.microsoft.com/office/drawing/2014/main" id="{C4D2C9E0-97AD-42F6-93EB-CD693DE2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1432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DB49E65A-13AA-42F1-96F6-C752062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29146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现象</a:t>
            </a:r>
          </a:p>
        </p:txBody>
      </p:sp>
      <p:sp>
        <p:nvSpPr>
          <p:cNvPr id="7" name="matrix-header-band-1">
            <a:extLst xmlns:a="http://schemas.openxmlformats.org/drawingml/2006/main">
              <a:ext uri="{FF2B5EF4-FFF2-40B4-BE49-F238E27FC236}">
                <a16:creationId xmlns:a16="http://schemas.microsoft.com/office/drawing/2014/main" id="{66C74490-937E-4BF0-856D-6C9A704A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76375"/>
            <a:ext cx="333375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783675A5-2211-418B-BB9A-72492D6E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28775"/>
            <a:ext cx="310515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优先检查</a:t>
            </a:r>
          </a:p>
        </p:txBody>
      </p:sp>
      <p:sp>
        <p:nvSpPr>
          <p:cNvPr id="9" name="matrix-header-band-2">
            <a:extLst xmlns:a="http://schemas.openxmlformats.org/drawingml/2006/main">
              <a:ext uri="{FF2B5EF4-FFF2-40B4-BE49-F238E27FC236}">
                <a16:creationId xmlns:a16="http://schemas.microsoft.com/office/drawing/2014/main" id="{655DE400-1755-4B10-A2D6-DDFE3333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76375"/>
            <a:ext cx="4800600" cy="69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6304936A-DEE7-4AEF-A345-19081FD8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28775"/>
            <a:ext cx="4572000" cy="469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典型原因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210073EA-C6D7-4BFD-90B7-BF314CE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3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matrix-cell-0-0">
            <a:extLst xmlns:a="http://schemas.openxmlformats.org/drawingml/2006/main">
              <a:ext uri="{FF2B5EF4-FFF2-40B4-BE49-F238E27FC236}">
                <a16:creationId xmlns:a16="http://schemas.microsoft.com/office/drawing/2014/main" id="{11720FA6-5C4A-42DF-AE19-04C324B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91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Swagger 没接口</a:t>
            </a:r>
          </a:p>
        </p:txBody>
      </p:sp>
      <p:sp>
        <p:nvSpPr>
          <p:cNvPr id="13" name="matrix-cell-0-1">
            <a:extLst xmlns:a="http://schemas.openxmlformats.org/drawingml/2006/main">
              <a:ext uri="{FF2B5EF4-FFF2-40B4-BE49-F238E27FC236}">
                <a16:creationId xmlns:a16="http://schemas.microsoft.com/office/drawing/2014/main" id="{2826EE51-8B53-42E3-8C41-9C2C3466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9175"/>
            <a:ext cx="3105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程序集发现层</a:t>
            </a:r>
          </a:p>
        </p:txBody>
      </p:sp>
      <p:sp>
        <p:nvSpPr>
          <p:cNvPr id="14" name="matrix-cell-0-2">
            <a:extLst xmlns:a="http://schemas.openxmlformats.org/drawingml/2006/main">
              <a:ext uri="{FF2B5EF4-FFF2-40B4-BE49-F238E27FC236}">
                <a16:creationId xmlns:a16="http://schemas.microsoft.com/office/drawing/2014/main" id="{549A9329-566B-4F1E-8CD9-18577B02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9175"/>
            <a:ext cx="4572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项目未引用、命名不符、构造依赖失败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5396DEE-DF6E-4798-B330-DF2FBD24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matrix-cell-1-0">
            <a:extLst xmlns:a="http://schemas.openxmlformats.org/drawingml/2006/main">
              <a:ext uri="{FF2B5EF4-FFF2-40B4-BE49-F238E27FC236}">
                <a16:creationId xmlns:a16="http://schemas.microsoft.com/office/drawing/2014/main" id="{A4914459-9473-41A5-8ECB-F3B6DFA1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76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启动时报 DI 错误</a:t>
            </a:r>
          </a:p>
        </p:txBody>
      </p:sp>
      <p:sp>
        <p:nvSpPr>
          <p:cNvPr id="17" name="matrix-cell-1-1">
            <a:extLst xmlns:a="http://schemas.openxmlformats.org/drawingml/2006/main">
              <a:ext uri="{FF2B5EF4-FFF2-40B4-BE49-F238E27FC236}">
                <a16:creationId xmlns:a16="http://schemas.microsoft.com/office/drawing/2014/main" id="{A3DB392D-6853-4264-86D6-D6987BC3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87675"/>
            <a:ext cx="3105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服务注册层</a:t>
            </a:r>
          </a:p>
        </p:txBody>
      </p:sp>
      <p:sp>
        <p:nvSpPr>
          <p:cNvPr id="18" name="matrix-cell-1-2">
            <a:extLst xmlns:a="http://schemas.openxmlformats.org/drawingml/2006/main">
              <a:ext uri="{FF2B5EF4-FFF2-40B4-BE49-F238E27FC236}">
                <a16:creationId xmlns:a16="http://schemas.microsoft.com/office/drawing/2014/main" id="{613C5117-232D-47D9-96FE-E0D30971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87675"/>
            <a:ext cx="4572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缺 RegisteredService 或 ServiceType 不匹配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E890D5B-8751-4134-BCC9-ED1A28B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0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0" name="matrix-cell-2-0">
            <a:extLst xmlns:a="http://schemas.openxmlformats.org/drawingml/2006/main">
              <a:ext uri="{FF2B5EF4-FFF2-40B4-BE49-F238E27FC236}">
                <a16:creationId xmlns:a16="http://schemas.microsoft.com/office/drawing/2014/main" id="{E40365A7-0C53-4B44-85B0-0611495D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AOP 没日志 / 校验</a:t>
            </a:r>
          </a:p>
        </p:txBody>
      </p:sp>
      <p:sp>
        <p:nvSpPr>
          <p:cNvPr id="21" name="matrix-cell-2-1">
            <a:extLst xmlns:a="http://schemas.openxmlformats.org/drawingml/2006/main">
              <a:ext uri="{FF2B5EF4-FFF2-40B4-BE49-F238E27FC236}">
                <a16:creationId xmlns:a16="http://schemas.microsoft.com/office/drawing/2014/main" id="{66E27FA9-57FB-4A85-BBF4-76D9EF58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3105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代理层</a:t>
            </a:r>
          </a:p>
        </p:txBody>
      </p:sp>
      <p:sp>
        <p:nvSpPr>
          <p:cNvPr id="22" name="matrix-cell-2-2">
            <a:extLst xmlns:a="http://schemas.openxmlformats.org/drawingml/2006/main">
              <a:ext uri="{FF2B5EF4-FFF2-40B4-BE49-F238E27FC236}">
                <a16:creationId xmlns:a16="http://schemas.microsoft.com/office/drawing/2014/main" id="{1471B23E-B45A-4528-B4AC-4D4F22C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86175"/>
            <a:ext cx="4572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手动 new、关闭拦截器、注入类型不对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FE544767-213E-4F8C-A703-9327BA81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matrix-cell-3-0">
            <a:extLst xmlns:a="http://schemas.openxmlformats.org/drawingml/2006/main">
              <a:ext uri="{FF2B5EF4-FFF2-40B4-BE49-F238E27FC236}">
                <a16:creationId xmlns:a16="http://schemas.microsoft.com/office/drawing/2014/main" id="{ACA37063-BAF4-42AC-B511-A51A352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46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接口进了但写库失败</a:t>
            </a:r>
          </a:p>
        </p:txBody>
      </p:sp>
      <p:sp>
        <p:nvSpPr>
          <p:cNvPr id="25" name="matrix-cell-3-1">
            <a:extLst xmlns:a="http://schemas.openxmlformats.org/drawingml/2006/main">
              <a:ext uri="{FF2B5EF4-FFF2-40B4-BE49-F238E27FC236}">
                <a16:creationId xmlns:a16="http://schemas.microsoft.com/office/drawing/2014/main" id="{3A31F458-7CF2-4836-845F-1FC4543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4675"/>
            <a:ext cx="3105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Service / 数据层</a:t>
            </a:r>
          </a:p>
        </p:txBody>
      </p:sp>
      <p:sp>
        <p:nvSpPr>
          <p:cNvPr id="26" name="matrix-cell-3-2">
            <a:extLst xmlns:a="http://schemas.openxmlformats.org/drawingml/2006/main">
              <a:ext uri="{FF2B5EF4-FFF2-40B4-BE49-F238E27FC236}">
                <a16:creationId xmlns:a16="http://schemas.microsoft.com/office/drawing/2014/main" id="{A4826EF0-DDAB-4503-BBF0-F1F92BBD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4675"/>
            <a:ext cx="4572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业务校验、关系、约束或事务异常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2286D815-1CF9-47EF-A95C-520CB1AD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8" name="matrix-cell-4-0">
            <a:extLst xmlns:a="http://schemas.openxmlformats.org/drawingml/2006/main">
              <a:ext uri="{FF2B5EF4-FFF2-40B4-BE49-F238E27FC236}">
                <a16:creationId xmlns:a16="http://schemas.microsoft.com/office/drawing/2014/main" id="{55EEB2D8-291B-4FEB-8274-DEBEC42E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3175"/>
            <a:ext cx="29146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前端格式不对</a:t>
            </a:r>
          </a:p>
        </p:txBody>
      </p:sp>
      <p:sp>
        <p:nvSpPr>
          <p:cNvPr id="29" name="matrix-cell-4-1">
            <a:extLst xmlns:a="http://schemas.openxmlformats.org/drawingml/2006/main">
              <a:ext uri="{FF2B5EF4-FFF2-40B4-BE49-F238E27FC236}">
                <a16:creationId xmlns:a16="http://schemas.microsoft.com/office/drawing/2014/main" id="{8D6A2CC1-7920-49C5-86F3-DAC2685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83175"/>
            <a:ext cx="310515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响应 / JSON 层</a:t>
            </a:r>
          </a:p>
        </p:txBody>
      </p:sp>
      <p:sp>
        <p:nvSpPr>
          <p:cNvPr id="30" name="matrix-cell-4-2">
            <a:extLst xmlns:a="http://schemas.openxmlformats.org/drawingml/2006/main">
              <a:ext uri="{FF2B5EF4-FFF2-40B4-BE49-F238E27FC236}">
                <a16:creationId xmlns:a16="http://schemas.microsoft.com/office/drawing/2014/main" id="{6CFA005A-03E4-4150-8AA0-34BA7AE2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83175"/>
            <a:ext cx="4572000" cy="5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未使用 ApiResponse 或序列化约定不一致</a:t>
            </a:r>
          </a:p>
        </p:txBody>
      </p:sp>
    </p:spTree>
    <p:extLst>
      <p:ext uri="{BB962C8B-B14F-4D97-AF65-F5344CB8AC3E}">
        <p14:creationId xmlns:p14="http://schemas.microsoft.com/office/powerpoint/2010/main" val="1514935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9BC7DC-47BD-4913-8DB8-CEAC9B72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提测前用普通 CRUD 清单收口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9F96FB5-59E7-4674-A416-770DC4DE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0F2477A8-35B9-413E-926C-C8CEABF4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CAE5CA6-BFB3-4B03-ADA9-75D70BCC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13 / 14</a:t>
            </a:r>
          </a:p>
        </p:txBody>
      </p:sp>
      <p:sp>
        <p:nvSpPr>
          <p:cNvPr id="5" name="checklist-intro">
            <a:extLst xmlns:a="http://schemas.openxmlformats.org/drawingml/2006/main">
              <a:ext uri="{FF2B5EF4-FFF2-40B4-BE49-F238E27FC236}">
                <a16:creationId xmlns:a16="http://schemas.microsoft.com/office/drawing/2014/main" id="{207918ED-C084-419E-A069-6C0E0238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04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构建成功只是开始，必须验证接口发现、业务主线和异常证据。</a:t>
            </a:r>
          </a:p>
        </p:txBody>
      </p:sp>
      <p:sp>
        <p:nvSpPr>
          <p:cNvPr id="6" name="checklist-title-0">
            <a:extLst xmlns:a="http://schemas.openxmlformats.org/drawingml/2006/main">
              <a:ext uri="{FF2B5EF4-FFF2-40B4-BE49-F238E27FC236}">
                <a16:creationId xmlns:a16="http://schemas.microsoft.com/office/drawing/2014/main" id="{CC4DF8E3-B331-44BD-902D-F3E44F1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代码完整性</a:t>
            </a:r>
          </a:p>
        </p:txBody>
      </p:sp>
      <p:sp>
        <p:nvSpPr>
          <p:cNvPr id="7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7EFA7C0-386D-4050-A0F1-750620A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check-mark">
            <a:extLst xmlns:a="http://schemas.openxmlformats.org/drawingml/2006/main">
              <a:ext uri="{FF2B5EF4-FFF2-40B4-BE49-F238E27FC236}">
                <a16:creationId xmlns:a16="http://schemas.microsoft.com/office/drawing/2014/main" id="{B6E0DA70-2CD4-43AB-BEBE-9E0C51D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9" name="check-text-0-0">
            <a:extLst xmlns:a="http://schemas.openxmlformats.org/drawingml/2006/main">
              <a:ext uri="{FF2B5EF4-FFF2-40B4-BE49-F238E27FC236}">
                <a16:creationId xmlns:a16="http://schemas.microsoft.com/office/drawing/2014/main" id="{37E2412F-8EEE-4A0A-BB75-5F89F5F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Entity 表、字段、索引和约束确认清楚</a:t>
            </a:r>
          </a:p>
        </p:txBody>
      </p:sp>
      <p:sp>
        <p:nvSpPr>
          <p:cNvPr id="10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D1F8D0F8-C035-4D58-89A0-839A7A44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check-mark">
            <a:extLst xmlns:a="http://schemas.openxmlformats.org/drawingml/2006/main">
              <a:ext uri="{FF2B5EF4-FFF2-40B4-BE49-F238E27FC236}">
                <a16:creationId xmlns:a16="http://schemas.microsoft.com/office/drawing/2014/main" id="{7045C884-FB8E-4D11-B20B-8C344D4D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2" name="check-text-0-1">
            <a:extLst xmlns:a="http://schemas.openxmlformats.org/drawingml/2006/main">
              <a:ext uri="{FF2B5EF4-FFF2-40B4-BE49-F238E27FC236}">
                <a16:creationId xmlns:a16="http://schemas.microsoft.com/office/drawing/2014/main" id="{46778411-D0C2-4D4B-8E88-FD08FF6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接口继承 ICrudService，Service 继承 CrudService</a:t>
            </a:r>
          </a:p>
        </p:txBody>
      </p:sp>
      <p:sp>
        <p:nvSpPr>
          <p:cNvPr id="13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999ABF7A-660E-45D7-BDAC-1B943198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check-mark">
            <a:extLst xmlns:a="http://schemas.openxmlformats.org/drawingml/2006/main">
              <a:ext uri="{FF2B5EF4-FFF2-40B4-BE49-F238E27FC236}">
                <a16:creationId xmlns:a16="http://schemas.microsoft.com/office/drawing/2014/main" id="{81D24A0E-BD7B-442D-8384-D79EEF80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5" name="check-text-0-2">
            <a:extLst xmlns:a="http://schemas.openxmlformats.org/drawingml/2006/main">
              <a:ext uri="{FF2B5EF4-FFF2-40B4-BE49-F238E27FC236}">
                <a16:creationId xmlns:a16="http://schemas.microsoft.com/office/drawing/2014/main" id="{E986A24A-6293-4ED5-A4D7-AB9D816D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RegisteredService 显式指定 ServiceType</a:t>
            </a:r>
          </a:p>
        </p:txBody>
      </p:sp>
      <p:sp>
        <p:nvSpPr>
          <p:cNvPr id="1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098D2945-CD08-4BBA-A328-79DA754A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check-mark">
            <a:extLst xmlns:a="http://schemas.openxmlformats.org/drawingml/2006/main">
              <a:ext uri="{FF2B5EF4-FFF2-40B4-BE49-F238E27FC236}">
                <a16:creationId xmlns:a16="http://schemas.microsoft.com/office/drawing/2014/main" id="{3D82BF3B-F17C-4CC1-9331-D5D7A82B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18" name="check-text-0-3">
            <a:extLst xmlns:a="http://schemas.openxmlformats.org/drawingml/2006/main">
              <a:ext uri="{FF2B5EF4-FFF2-40B4-BE49-F238E27FC236}">
                <a16:creationId xmlns:a16="http://schemas.microsoft.com/office/drawing/2014/main" id="{063C5A6D-94B7-468F-8A06-6363F628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Controller 继承 CrudController 且路由明确</a:t>
            </a:r>
          </a:p>
        </p:txBody>
      </p:sp>
      <p:sp>
        <p:nvSpPr>
          <p:cNvPr id="19" name="checklist-title-1">
            <a:extLst xmlns:a="http://schemas.openxmlformats.org/drawingml/2006/main">
              <a:ext uri="{FF2B5EF4-FFF2-40B4-BE49-F238E27FC236}">
                <a16:creationId xmlns:a16="http://schemas.microsoft.com/office/drawing/2014/main" id="{2C3B7259-EE0D-44A0-ACC1-EF055AF0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运行验证</a:t>
            </a:r>
          </a:p>
        </p:txBody>
      </p:sp>
      <p:sp>
        <p:nvSpPr>
          <p:cNvPr id="20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3E6F7AF-1406-49C7-9658-91CAC9BF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36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check-mark">
            <a:extLst xmlns:a="http://schemas.openxmlformats.org/drawingml/2006/main">
              <a:ext uri="{FF2B5EF4-FFF2-40B4-BE49-F238E27FC236}">
                <a16:creationId xmlns:a16="http://schemas.microsoft.com/office/drawing/2014/main" id="{D36C12C1-3A6D-40D6-BD23-EE807469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2" name="check-text-1-0">
            <a:extLst xmlns:a="http://schemas.openxmlformats.org/drawingml/2006/main">
              <a:ext uri="{FF2B5EF4-FFF2-40B4-BE49-F238E27FC236}">
                <a16:creationId xmlns:a16="http://schemas.microsoft.com/office/drawing/2014/main" id="{39D415BE-8CAA-4FA5-8699-E58B96AA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 dotnet build 并确认无错误</a:t>
            </a:r>
          </a:p>
        </p:txBody>
      </p:sp>
      <p:sp>
        <p:nvSpPr>
          <p:cNvPr id="23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D763975E-0DD7-4778-9100-22FAC594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4" name="check-mark">
            <a:extLst xmlns:a="http://schemas.openxmlformats.org/drawingml/2006/main">
              <a:ext uri="{FF2B5EF4-FFF2-40B4-BE49-F238E27FC236}">
                <a16:creationId xmlns:a16="http://schemas.microsoft.com/office/drawing/2014/main" id="{157E5A5A-D5D2-402E-A33D-DF962E50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5" name="check-text-1-1">
            <a:extLst xmlns:a="http://schemas.openxmlformats.org/drawingml/2006/main">
              <a:ext uri="{FF2B5EF4-FFF2-40B4-BE49-F238E27FC236}">
                <a16:creationId xmlns:a16="http://schemas.microsoft.com/office/drawing/2014/main" id="{E2FE0160-EB72-44B0-8164-5C0E3DD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623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Swagger 能发现分页、新增、更新、删除</a:t>
            </a:r>
          </a:p>
        </p:txBody>
      </p:sp>
      <p:sp>
        <p:nvSpPr>
          <p:cNvPr id="2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8A2A1556-00F3-424F-945B-6D90D8B4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check-mark">
            <a:extLst xmlns:a="http://schemas.openxmlformats.org/drawingml/2006/main">
              <a:ext uri="{FF2B5EF4-FFF2-40B4-BE49-F238E27FC236}">
                <a16:creationId xmlns:a16="http://schemas.microsoft.com/office/drawing/2014/main" id="{F6BF110E-D907-4764-9D56-AB632A9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28" name="check-text-1-2">
            <a:extLst xmlns:a="http://schemas.openxmlformats.org/drawingml/2006/main">
              <a:ext uri="{FF2B5EF4-FFF2-40B4-BE49-F238E27FC236}">
                <a16:creationId xmlns:a16="http://schemas.microsoft.com/office/drawing/2014/main" id="{E4AAC3A6-6CA6-42F4-9686-CD806986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成功与失败都返回 ApiResponse 和 traceId</a:t>
            </a:r>
          </a:p>
        </p:txBody>
      </p:sp>
      <p:sp>
        <p:nvSpPr>
          <p:cNvPr id="29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494868C6-AD0E-4D84-8004-7287C886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0" name="check-mark">
            <a:extLst xmlns:a="http://schemas.openxmlformats.org/drawingml/2006/main">
              <a:ext uri="{FF2B5EF4-FFF2-40B4-BE49-F238E27FC236}">
                <a16:creationId xmlns:a16="http://schemas.microsoft.com/office/drawing/2014/main" id="{71BA1641-DD63-41A2-9D28-36F02EAE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✓</a:t>
            </a:r>
          </a:p>
        </p:txBody>
      </p:sp>
      <p:sp>
        <p:nvSpPr>
          <p:cNvPr id="31" name="check-text-1-3">
            <a:extLst xmlns:a="http://schemas.openxmlformats.org/drawingml/2006/main">
              <a:ext uri="{FF2B5EF4-FFF2-40B4-BE49-F238E27FC236}">
                <a16:creationId xmlns:a16="http://schemas.microsoft.com/office/drawing/2014/main" id="{37AD49B9-04C4-4D64-9CCB-C6546D61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95825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前端联调主流程并保留异常验证证据</a:t>
            </a:r>
          </a:p>
        </p:txBody>
      </p:sp>
    </p:spTree>
    <p:extLst>
      <p:ext uri="{BB962C8B-B14F-4D97-AF65-F5344CB8AC3E}">
        <p14:creationId xmlns:p14="http://schemas.microsoft.com/office/powerpoint/2010/main" val="11296271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2F2E25-7919-48F9-B59E-EA2542F4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复盘小测：把结论说出来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A81E5C2-81C2-4BE7-8E9F-53E302B5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footer-deck">
            <a:extLst xmlns:a="http://schemas.openxmlformats.org/drawingml/2006/main">
              <a:ext uri="{FF2B5EF4-FFF2-40B4-BE49-F238E27FC236}">
                <a16:creationId xmlns:a16="http://schemas.microsoft.com/office/drawing/2014/main" id="{C1BB83F2-D7F4-42FD-AC76-132009E0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723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03 · 标准 CRUD 开发主线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CB0EA2-3480-44FF-A37B-C52111F7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35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14 / 14</a:t>
            </a:r>
          </a:p>
        </p:txBody>
      </p:sp>
      <p:sp>
        <p:nvSpPr>
          <p:cNvPr id="5" name="quiz-questions">
            <a:extLst xmlns:a="http://schemas.openxmlformats.org/drawingml/2006/main">
              <a:ext uri="{FF2B5EF4-FFF2-40B4-BE49-F238E27FC236}">
                <a16:creationId xmlns:a16="http://schemas.microsoft.com/office/drawing/2014/main" id="{58593D3A-0A81-404E-984C-11E9D18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6858000" cy="419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01  一个普通 CRUD 最少需要哪些核心文件？
02  为什么 Service 要通过接口注入？
03  Swagger 没接口与接口返回 500 分别优先查哪一层？
04  哪些业务差异应该写进 Service 钩子？</a:t>
            </a:r>
          </a:p>
        </p:txBody>
      </p:sp>
      <p:sp>
        <p:nvSpPr>
          <p:cNvPr id="6" name="next-panel">
            <a:extLst xmlns:a="http://schemas.openxmlformats.org/drawingml/2006/main">
              <a:ext uri="{FF2B5EF4-FFF2-40B4-BE49-F238E27FC236}">
                <a16:creationId xmlns:a16="http://schemas.microsoft.com/office/drawing/2014/main" id="{0988F1B0-D9D9-414E-8A39-CC6E8C3C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886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A04BCBD6-44EE-4E7B-9648-82B44B90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</a:t>
            </a:r>
          </a:p>
        </p:txBody>
      </p:sp>
      <p:sp>
        <p:nvSpPr>
          <p:cNvPr id="8" name="next-body">
            <a:extLst xmlns:a="http://schemas.openxmlformats.org/drawingml/2006/main">
              <a:ext uri="{FF2B5EF4-FFF2-40B4-BE49-F238E27FC236}">
                <a16:creationId xmlns:a16="http://schemas.microsoft.com/office/drawing/2014/main" id="{C1A7AAAF-B6F3-485B-A9D6-5A978B53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下一讲进入 CRUD 的高阶能力：主从表、启停、导入导出和 ExtData。</a:t>
            </a:r>
          </a:p>
        </p:txBody>
      </p:sp>
      <p:sp>
        <p:nvSpPr>
          <p:cNvPr id="9" name="answer-hint">
            <a:extLst xmlns:a="http://schemas.openxmlformats.org/drawingml/2006/main">
              <a:ext uri="{FF2B5EF4-FFF2-40B4-BE49-F238E27FC236}">
                <a16:creationId xmlns:a16="http://schemas.microsoft.com/office/drawing/2014/main" id="{29C72C8D-CB92-411E-8DB5-FD1FEDF7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t>答案与延伸阅读已放入讲师备注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B3C57EA0-D076-4189-9498-FA1FEA15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685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9B8"/>
                </a:solidFill>
                <a:latin typeface="Microsoft YaHei"/>
                <a:ea typeface="Microsoft YaHei"/>
                <a:cs typeface="Microsoft YaHei"/>
              </a:defRPr>
            </a:pPr>
            <a:r>
              <a:t>普通 CRUD 的价值，是把通用行为固定，把业务差异集中。</a:t>
            </a:r>
          </a:p>
        </p:txBody>
      </p:sp>
    </p:spTree>
    <p:extLst>
      <p:ext uri="{BB962C8B-B14F-4D97-AF65-F5344CB8AC3E}">
        <p14:creationId xmlns:p14="http://schemas.microsoft.com/office/powerpoint/2010/main" val="1390961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2026-07-10T03:40:02.6500000Z</dcterms:created>
  <dcterms:modified xsi:type="dcterms:W3CDTF">2026-07-10T03:40:02.6500000Z</dcterms:modified>
</coreProperties>
</file>