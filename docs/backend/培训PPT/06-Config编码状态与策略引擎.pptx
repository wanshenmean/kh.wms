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3bfe580e274834" /><Relationship Type="http://schemas.openxmlformats.org/officeDocument/2006/relationships/extended-properties" Target="/docProps/app.xml" Id="Rcfab31a45e3c4246" /><Relationship Type="http://schemas.openxmlformats.org/officeDocument/2006/relationships/officeDocument" Target="/ppt/presentation.xml" Id="R1ec855508dab49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6f9d424c4442a5"/>
  </p:sldMasterIdLst>
  <p:notesMasterIdLst>
    <p:notesMasterId xmlns:r="http://schemas.openxmlformats.org/officeDocument/2006/relationships" r:id="Rfa5d3cbec80047d7"/>
  </p:notesMasterIdLst>
  <p:sldIdLst>
    <p:sldId xmlns:r="http://schemas.openxmlformats.org/officeDocument/2006/relationships" id="256" r:id="R3aea96b108dd4dc4"/>
    <p:sldId xmlns:r="http://schemas.openxmlformats.org/officeDocument/2006/relationships" id="257" r:id="R19874d5b452641e3"/>
    <p:sldId xmlns:r="http://schemas.openxmlformats.org/officeDocument/2006/relationships" id="258" r:id="R24a1b4decf994dbf"/>
    <p:sldId xmlns:r="http://schemas.openxmlformats.org/officeDocument/2006/relationships" id="259" r:id="Rc464e259a7674c67"/>
    <p:sldId xmlns:r="http://schemas.openxmlformats.org/officeDocument/2006/relationships" id="260" r:id="Rca01e5b2c2184245"/>
    <p:sldId xmlns:r="http://schemas.openxmlformats.org/officeDocument/2006/relationships" id="261" r:id="R2a66c9cfd9374012"/>
    <p:sldId xmlns:r="http://schemas.openxmlformats.org/officeDocument/2006/relationships" id="262" r:id="R3bcad3ac0b164e5b"/>
    <p:sldId xmlns:r="http://schemas.openxmlformats.org/officeDocument/2006/relationships" id="263" r:id="R61a7e9e3398d45b7"/>
    <p:sldId xmlns:r="http://schemas.openxmlformats.org/officeDocument/2006/relationships" id="264" r:id="R793324b6fb694d8f"/>
    <p:sldId xmlns:r="http://schemas.openxmlformats.org/officeDocument/2006/relationships" id="265" r:id="R511ccada280b4774"/>
    <p:sldId xmlns:r="http://schemas.openxmlformats.org/officeDocument/2006/relationships" id="266" r:id="R635cf71e71dc4bbc"/>
    <p:sldId xmlns:r="http://schemas.openxmlformats.org/officeDocument/2006/relationships" id="267" r:id="R0a3902f43ef245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15c23cfa984e9a" /><Relationship Type="http://schemas.openxmlformats.org/officeDocument/2006/relationships/slideMaster" Target="/ppt/slideMasters/slideMaster1.xml" Id="Rba6f9d424c4442a5" /><Relationship Type="http://schemas.openxmlformats.org/officeDocument/2006/relationships/notesMaster" Target="/ppt/notesMasters/notesMaster1.xml" Id="Rfa5d3cbec80047d7" /><Relationship Type="http://schemas.openxmlformats.org/officeDocument/2006/relationships/presProps" Target="/ppt/presProps.xml" Id="R68b035b251c74562" /><Relationship Type="http://schemas.openxmlformats.org/officeDocument/2006/relationships/tableStyles" Target="/ppt/tableStyles.xml" Id="R1637d61ec63c4d0a" /><Relationship Type="http://schemas.openxmlformats.org/officeDocument/2006/relationships/slide" Target="/ppt/slides/slide1.xml" Id="R3aea96b108dd4dc4" /><Relationship Type="http://schemas.openxmlformats.org/officeDocument/2006/relationships/slide" Target="/ppt/slides/slide2.xml" Id="R19874d5b452641e3" /><Relationship Type="http://schemas.openxmlformats.org/officeDocument/2006/relationships/slide" Target="/ppt/slides/slide3.xml" Id="R24a1b4decf994dbf" /><Relationship Type="http://schemas.openxmlformats.org/officeDocument/2006/relationships/slide" Target="/ppt/slides/slide4.xml" Id="Rc464e259a7674c67" /><Relationship Type="http://schemas.openxmlformats.org/officeDocument/2006/relationships/slide" Target="/ppt/slides/slide5.xml" Id="Rca01e5b2c2184245" /><Relationship Type="http://schemas.openxmlformats.org/officeDocument/2006/relationships/slide" Target="/ppt/slides/slide6.xml" Id="R2a66c9cfd9374012" /><Relationship Type="http://schemas.openxmlformats.org/officeDocument/2006/relationships/slide" Target="/ppt/slides/slide7.xml" Id="R3bcad3ac0b164e5b" /><Relationship Type="http://schemas.openxmlformats.org/officeDocument/2006/relationships/slide" Target="/ppt/slides/slide8.xml" Id="R61a7e9e3398d45b7" /><Relationship Type="http://schemas.openxmlformats.org/officeDocument/2006/relationships/slide" Target="/ppt/slides/slide9.xml" Id="R793324b6fb694d8f" /><Relationship Type="http://schemas.openxmlformats.org/officeDocument/2006/relationships/slide" Target="/ppt/slides/slide10.xml" Id="R511ccada280b4774" /><Relationship Type="http://schemas.openxmlformats.org/officeDocument/2006/relationships/slide" Target="/ppt/slides/slide11.xml" Id="R635cf71e71dc4bbc" /><Relationship Type="http://schemas.openxmlformats.org/officeDocument/2006/relationships/slide" Target="/ppt/slides/slide12.xml" Id="R0a3902f43ef245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509bccb87c49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b89d3d42bd4075" /><Relationship Type="http://schemas.openxmlformats.org/officeDocument/2006/relationships/notesMaster" Target="/ppt/notesMasters/notesMaster1.xml" Id="Rd451c43cc49443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90a366c58a40a4" /><Relationship Type="http://schemas.openxmlformats.org/officeDocument/2006/relationships/notesMaster" Target="/ppt/notesMasters/notesMaster1.xml" Id="R31850ee9bc814c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70abe87dd04b33" /><Relationship Type="http://schemas.openxmlformats.org/officeDocument/2006/relationships/notesMaster" Target="/ppt/notesMasters/notesMaster1.xml" Id="Rbf0ae1babbe942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b49c4672db4d88" /><Relationship Type="http://schemas.openxmlformats.org/officeDocument/2006/relationships/notesMaster" Target="/ppt/notesMasters/notesMaster1.xml" Id="Rfbe6f1fbd81f4a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6c243f6fa2422b" /><Relationship Type="http://schemas.openxmlformats.org/officeDocument/2006/relationships/notesMaster" Target="/ppt/notesMasters/notesMaster1.xml" Id="Raa40dfd8ba1f4c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28517f5dc44fec" /><Relationship Type="http://schemas.openxmlformats.org/officeDocument/2006/relationships/notesMaster" Target="/ppt/notesMasters/notesMaster1.xml" Id="R4b8316d74b554b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85ae7c1a1f485d" /><Relationship Type="http://schemas.openxmlformats.org/officeDocument/2006/relationships/notesMaster" Target="/ppt/notesMasters/notesMaster1.xml" Id="R705a0383711d45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10b96d1d504df1" /><Relationship Type="http://schemas.openxmlformats.org/officeDocument/2006/relationships/notesMaster" Target="/ppt/notesMasters/notesMaster1.xml" Id="R6103760f2eb349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e3ac33e3d84bd3" /><Relationship Type="http://schemas.openxmlformats.org/officeDocument/2006/relationships/notesMaster" Target="/ppt/notesMasters/notesMaster1.xml" Id="R45b1371d33f648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efc02d09e04c17" /><Relationship Type="http://schemas.openxmlformats.org/officeDocument/2006/relationships/notesMaster" Target="/ppt/notesMasters/notesMaster1.xml" Id="R3fdab5aec6cf4b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557bf81cc74633" /><Relationship Type="http://schemas.openxmlformats.org/officeDocument/2006/relationships/notesMaster" Target="/ppt/notesMasters/notesMaster1.xml" Id="R6f4b6213b41244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a91f2ef9db412c" /><Relationship Type="http://schemas.openxmlformats.org/officeDocument/2006/relationships/notesMaster" Target="/ppt/notesMasters/notesMaster1.xml" Id="R6785250ec73b4b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建议时长：2 分钟</a:t>
            </a:r>
          </a:p>
          <a:p xmlns:a="http://schemas.openxmlformats.org/drawingml/2006/main">
            <a:r>
              <a:t>讲师提示：开场说明：配置化不是把所有判断都搬到数据库，而是识别真正需要运行期变化的规则。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D:\Git\0.KH.WMS\docs\backend\后端底层概念\10-Config配置底座.md</a:t>
            </a:r>
          </a:p>
          <a:p xmlns:a="http://schemas.openxmlformats.org/drawingml/2006/main">
            <a:r>
              <a:t>- D:\Git\0.KH.WMS\docs\backend\后端底层概念\12-编码规则与单据状态.md</a:t>
            </a:r>
          </a:p>
          <a:p xmlns:a="http://schemas.openxmlformats.org/drawingml/2006/main">
            <a:r>
              <a:t>- D:\Git\0.KH.WMS\docs\backend\后端底层概念\14-策略算法底座.md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讲师提示：本讲以边界判断为主，不展开全部配置表字段。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D:\Git\0.KH.WMS\docs\backend\后端底层概念\10-Config配置底座.md</a:t>
            </a:r>
          </a:p>
          <a:p xmlns:a="http://schemas.openxmlformats.org/drawingml/2006/main">
            <a:r>
              <a:t>- D:\Git\0.KH.WMS\docs\backend\后端底层概念\15-应用配置Options与运行时配置边界.md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建议时长：4 分钟</a:t>
            </a:r>
          </a:p>
          <a:p xmlns:a="http://schemas.openxmlformats.org/drawingml/2006/main">
            <a:r>
              <a:t>讲师提示：用“是否允许混批”和“数据库连接串”对比，帮助成员建立判断标准。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D:\Git\0.KH.WMS\docs\backend\后端底层概念\15-应用配置Options与运行时配置边界.md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讲师提示：明确敏感 Secret 仍应通过安全的环境配置治理，不能把生产值留在开发配置中。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D:\Git\0.KH.WMS\docs\backend\后端底层概念\15-应用配置Options与运行时配置边界.md</a:t>
            </a:r>
          </a:p>
          <a:p xmlns:a="http://schemas.openxmlformats.org/drawingml/2006/main">
            <a:r>
              <a:t>- D:\Git\0.KH.WMS\docs\backend\后端底层概念\10-Config配置底座.md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讲师提示：强调缓存 key 必须包含作用域，否则不同仓库或货主会互相污染。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D:\Git\0.KH.WMS\docs\backend\后端底层概念\10-Config配置底座.md</a:t>
            </a:r>
          </a:p>
          <a:p xmlns:a="http://schemas.openxmlformats.org/drawingml/2006/main">
            <a:r>
              <a:t>- D:\Git\0.KH.WMS\docs\backend\后端底层概念\13-鉴权缓存用户上下文与运行期开关.md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讲师提示：要求规则作者在设计阶段写清缺失策略，不把行为留给异常偶然决定。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D:\Git\0.KH.WMS\docs\backend\后端底层概念\10-Config配置底座.md</a:t>
            </a:r>
          </a:p>
          <a:p xmlns:a="http://schemas.openxmlformats.org/drawingml/2006/main">
            <a:r>
              <a:t>- D:\Git\0.KH.WMS\docs\backend\后端底层概念\11-可插拔校验器.md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讲师提示：提醒多实例部署下序列并发边界必须由底座保证，业务代码不要自行拼接递增号。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D:\Git\0.KH.WMS\docs\backend\后端底层概念\12-编码规则与单据状态.md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讲师提示：状态流转常与事务和幂等相连，尤其是任务完成回调。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D:\Git\0.KH.WMS\docs\backend\后端底层概念\12-编码规则与单据状态.md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讲师提示：用上架货位选择和出库库存分配举例，说明策略算法属于可替换决策。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D:\Git\0.KH.WMS\docs\backend\后端底层概念\14-策略算法底座.md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讲师提示：策略失败不能静默返回空结果；调用方应记录原因并决定回滚、降级或阻断。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D:\Git\0.KH.WMS\docs\backend\后端底层概念\14-策略算法底座.md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讲师提示：补充当前 DataMap/InterfaceMiddleware 不是主线启用能力，不作为普通配置扩展模板。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D:\Git\0.KH.WMS\docs\backend\后端底层概念\10-Config配置底座.md</a:t>
            </a:r>
          </a:p>
          <a:p xmlns:a="http://schemas.openxmlformats.org/drawingml/2006/main">
            <a:r>
              <a:t>- D:\Git\0.KH.WMS\docs\backend\后端底层概念\14-策略算法底座.md</a:t>
            </a:r>
          </a:p>
          <a:p xmlns:a="http://schemas.openxmlformats.org/drawingml/2006/main">
            <a:r>
              <a:t>- D:\Git\0.KH.WMS\docs\backend\后端底层概念\15-应用配置Options与运行时配置边界.md</a:t>
            </a:r>
          </a:p>
          <a:p xmlns:a="http://schemas.openxmlformats.org/drawingml/2006/main">
            <a:r>
              <a:t>- D:\Git\0.KH.WMS\docs\backend\后端底层概念\README.md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建议时长：8 分钟（含答疑）</a:t>
            </a:r>
          </a:p>
          <a:p xmlns:a="http://schemas.openxmlformats.org/drawingml/2006/main">
            <a:r>
              <a:t>讲师提示：小测后让成员为一个现有业务开关判断配置载体、作用域和缺失策略。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D:\Git\0.KH.WMS\docs\backend\后端底层概念\10-Config配置底座.md</a:t>
            </a:r>
          </a:p>
          <a:p xmlns:a="http://schemas.openxmlformats.org/drawingml/2006/main">
            <a:r>
              <a:t>- D:\Git\0.KH.WMS\docs\backend\后端底层概念\12-编码规则与单据状态.md</a:t>
            </a:r>
          </a:p>
          <a:p xmlns:a="http://schemas.openxmlformats.org/drawingml/2006/main">
            <a:r>
              <a:t>- D:\Git\0.KH.WMS\docs\backend\后端底层概念\14-策略算法底座.md</a:t>
            </a:r>
          </a:p>
          <a:p xmlns:a="http://schemas.openxmlformats.org/drawingml/2006/main">
            <a:r>
              <a:t>小测参考答案：1. 连接串放环境化 appsettings/Options；允许混批属于运行期业务 Config。2. 防止不同仓库、货主或业务类型互相污染。3. 并发、周期和格式应由编码底座统一保证。4. 保持策略可注册、可配置、可替换，并统一处理上下文和结果。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9c360fc76e4b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ffe1bc38b04373" /><Relationship Type="http://schemas.openxmlformats.org/officeDocument/2006/relationships/slideLayout" Target="/ppt/slideLayouts/slideLayout1.xml" Id="Reba35efbf6b944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a35efbf6b944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7df9ca1764ade" /><Relationship Type="http://schemas.openxmlformats.org/officeDocument/2006/relationships/notesSlide" Target="/ppt/notesSlides/notesSlide1.xml" Id="R168ddaa2ed9449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46096bbed478e" /><Relationship Type="http://schemas.openxmlformats.org/officeDocument/2006/relationships/notesSlide" Target="/ppt/notesSlides/notesSlide2.xml" Id="R4c0b481ce2d647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97b11520446a7" /><Relationship Type="http://schemas.openxmlformats.org/officeDocument/2006/relationships/notesSlide" Target="/ppt/notesSlides/notesSlide3.xml" Id="R203455720c5b46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1139129d14120" /><Relationship Type="http://schemas.openxmlformats.org/officeDocument/2006/relationships/notesSlide" Target="/ppt/notesSlides/notesSlide4.xml" Id="R0e6fe44debaf4a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b86c4989446c2" /><Relationship Type="http://schemas.openxmlformats.org/officeDocument/2006/relationships/notesSlide" Target="/ppt/notesSlides/notesSlide5.xml" Id="R4e569836ebba4c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331e810c84472" /><Relationship Type="http://schemas.openxmlformats.org/officeDocument/2006/relationships/notesSlide" Target="/ppt/notesSlides/notesSlide6.xml" Id="Rfb06b11da6a248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1d0be65cf4fe2" /><Relationship Type="http://schemas.openxmlformats.org/officeDocument/2006/relationships/notesSlide" Target="/ppt/notesSlides/notesSlide7.xml" Id="Rb8a16fc2c73942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1ad261b024e08" /><Relationship Type="http://schemas.openxmlformats.org/officeDocument/2006/relationships/notesSlide" Target="/ppt/notesSlides/notesSlide8.xml" Id="R84016aa316c54d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4f65d2a194b0e" /><Relationship Type="http://schemas.openxmlformats.org/officeDocument/2006/relationships/notesSlide" Target="/ppt/notesSlides/notesSlide9.xml" Id="R721702ef5b9044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53d0c7f244cda" /><Relationship Type="http://schemas.openxmlformats.org/officeDocument/2006/relationships/notesSlide" Target="/ppt/notesSlides/notesSlide10.xml" Id="Ra2224a7adbac41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5d5c1505d483a" /><Relationship Type="http://schemas.openxmlformats.org/officeDocument/2006/relationships/notesSlide" Target="/ppt/notesSlides/notesSlide11.xml" Id="Rf4e015e452db43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31ee63c1a4bae" /><Relationship Type="http://schemas.openxmlformats.org/officeDocument/2006/relationships/notesSlide" Target="/ppt/notesSlides/notesSlide12.xml" Id="Rba58c5d528e24e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EE6D77F0-CB1A-4FAE-9248-5E8226EF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47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KH.WMS 后端培训系列  ·  06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2BA2E8DB-78BE-4E24-B641-23E50F4B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12776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Config、编码状态与策略引擎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5181E32-68B1-469A-A1EE-0AEF31E1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DADB90C8-CA8E-42CF-881A-B2154BE0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723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把可变业务规则从代码中抽离，同时守住配置和算法边界</a:t>
            </a:r>
          </a:p>
        </p:txBody>
      </p:sp>
      <p:sp>
        <p:nvSpPr>
          <p:cNvPr id="5" name="audience">
            <a:extLst xmlns:a="http://schemas.openxmlformats.org/drawingml/2006/main">
              <a:ext uri="{FF2B5EF4-FFF2-40B4-BE49-F238E27FC236}">
                <a16:creationId xmlns:a16="http://schemas.microsoft.com/office/drawing/2014/main" id="{C02951E1-9303-4C6B-B4AE-ADDC1E20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面向：后端新人及已有项目经验成员</a:t>
            </a:r>
          </a:p>
        </p:txBody>
      </p:sp>
    </p:spTree>
    <p:extLst>
      <p:ext uri="{BB962C8B-B14F-4D97-AF65-F5344CB8AC3E}">
        <p14:creationId xmlns:p14="http://schemas.microsoft.com/office/powerpoint/2010/main" val="722324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41784B-C8AC-4B47-8F39-B77DD71A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本次培训讲哪些知识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37F94611-0B02-44BE-BAD6-EE2F1432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CDDA21BE-BA65-465F-A3C8-34DA986A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06 · 配置化业务与策略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9CA2D20-8CAB-4101-9AB1-D27F9908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12</a:t>
            </a:r>
          </a:p>
        </p:txBody>
      </p:sp>
      <p:sp>
        <p:nvSpPr>
          <p:cNvPr id="5" name="scope-band-0">
            <a:extLst xmlns:a="http://schemas.openxmlformats.org/drawingml/2006/main">
              <a:ext uri="{FF2B5EF4-FFF2-40B4-BE49-F238E27FC236}">
                <a16:creationId xmlns:a16="http://schemas.microsoft.com/office/drawing/2014/main" id="{5646375A-0D5D-436D-9BF6-C10F563F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scope-label-0">
            <a:extLst xmlns:a="http://schemas.openxmlformats.org/drawingml/2006/main">
              <a:ext uri="{FF2B5EF4-FFF2-40B4-BE49-F238E27FC236}">
                <a16:creationId xmlns:a16="http://schemas.microsoft.com/office/drawing/2014/main" id="{7C743B5E-4065-461A-ACC6-FCBFC5AC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知识范围</a:t>
            </a:r>
          </a:p>
        </p:txBody>
      </p:sp>
      <p:sp>
        <p:nvSpPr>
          <p:cNvPr id="7" name="scope-body-0">
            <a:extLst xmlns:a="http://schemas.openxmlformats.org/drawingml/2006/main">
              <a:ext uri="{FF2B5EF4-FFF2-40B4-BE49-F238E27FC236}">
                <a16:creationId xmlns:a16="http://schemas.microsoft.com/office/drawing/2014/main" id="{4EE26E9F-5B1F-4CBF-A31E-82BD24E9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appsettings、Options、Config 与系统参数边界
• 配置作用域、缓存与缺失策略
• 编码规则与单据状态流转
• 策略注册、选择与策略链</a:t>
            </a:r>
          </a:p>
        </p:txBody>
      </p:sp>
      <p:sp>
        <p:nvSpPr>
          <p:cNvPr id="8" name="scope-band-1">
            <a:extLst xmlns:a="http://schemas.openxmlformats.org/drawingml/2006/main">
              <a:ext uri="{FF2B5EF4-FFF2-40B4-BE49-F238E27FC236}">
                <a16:creationId xmlns:a16="http://schemas.microsoft.com/office/drawing/2014/main" id="{5154E2FF-C761-461F-843F-3F4CD948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scope-label-1">
            <a:extLst xmlns:a="http://schemas.openxmlformats.org/drawingml/2006/main">
              <a:ext uri="{FF2B5EF4-FFF2-40B4-BE49-F238E27FC236}">
                <a16:creationId xmlns:a16="http://schemas.microsoft.com/office/drawing/2014/main" id="{EA77CBE6-0EE5-41E0-8F17-E0C82BC5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前置知识</a:t>
            </a:r>
          </a:p>
        </p:txBody>
      </p:sp>
      <p:sp>
        <p:nvSpPr>
          <p:cNvPr id="10" name="scope-body-1">
            <a:extLst xmlns:a="http://schemas.openxmlformats.org/drawingml/2006/main">
              <a:ext uri="{FF2B5EF4-FFF2-40B4-BE49-F238E27FC236}">
                <a16:creationId xmlns:a16="http://schemas.microsoft.com/office/drawing/2014/main" id="{E91CC685-6E38-431C-8914-DFDCDFB6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理解启动配置与运行时配置的区别
• 理解 Contract 与可插拔 Validator
• 了解订单、任务和库存状态概念</a:t>
            </a:r>
          </a:p>
        </p:txBody>
      </p:sp>
      <p:sp>
        <p:nvSpPr>
          <p:cNvPr id="11" name="scope-band-2">
            <a:extLst xmlns:a="http://schemas.openxmlformats.org/drawingml/2006/main">
              <a:ext uri="{FF2B5EF4-FFF2-40B4-BE49-F238E27FC236}">
                <a16:creationId xmlns:a16="http://schemas.microsoft.com/office/drawing/2014/main" id="{02BA5297-2369-4F8E-8C83-1B806B02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solidFill>
              <a:srgbClr val="EEF7F1"/>
            </a:solidFill>
            <a:prstDash val="solid"/>
          </a:ln>
        </p:spPr>
      </p:sp>
      <p:sp>
        <p:nvSpPr>
          <p:cNvPr id="12" name="scope-label-2">
            <a:extLst xmlns:a="http://schemas.openxmlformats.org/drawingml/2006/main">
              <a:ext uri="{FF2B5EF4-FFF2-40B4-BE49-F238E27FC236}">
                <a16:creationId xmlns:a16="http://schemas.microsoft.com/office/drawing/2014/main" id="{56A60404-FD4C-4B1D-8812-04ED1AE6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学完应会</a:t>
            </a:r>
          </a:p>
        </p:txBody>
      </p:sp>
      <p:sp>
        <p:nvSpPr>
          <p:cNvPr id="13" name="scope-body-2">
            <a:extLst xmlns:a="http://schemas.openxmlformats.org/drawingml/2006/main">
              <a:ext uri="{FF2B5EF4-FFF2-40B4-BE49-F238E27FC236}">
                <a16:creationId xmlns:a16="http://schemas.microsoft.com/office/drawing/2014/main" id="{CBE2B60B-EE80-42ED-999B-CE598B3B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能为新规则选择正确配置载体
• 能解释配置的命中和缓存路径
• 能使用编码与状态底座而不硬编码
• 能通过 IPolicyEngine 调用策略</a:t>
            </a:r>
          </a:p>
        </p:txBody>
      </p:sp>
    </p:spTree>
    <p:extLst>
      <p:ext uri="{BB962C8B-B14F-4D97-AF65-F5344CB8AC3E}">
        <p14:creationId xmlns:p14="http://schemas.microsoft.com/office/powerpoint/2010/main" val="3448264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B20037-EF4D-4AFC-B016-56C97083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先判断配置影响启动、业务规则还是运维控制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7F7522D7-71A1-4491-B746-C5FC1BB0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69BDBAAD-C380-43E5-A2F4-1985A35F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06 · 配置化业务与策略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98D2911-C7D2-4C55-96EF-C3A342BB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12</a:t>
            </a:r>
          </a:p>
        </p:txBody>
      </p:sp>
      <p:sp>
        <p:nvSpPr>
          <p:cNvPr id="5" name="statement">
            <a:extLst xmlns:a="http://schemas.openxmlformats.org/drawingml/2006/main">
              <a:ext uri="{FF2B5EF4-FFF2-40B4-BE49-F238E27FC236}">
                <a16:creationId xmlns:a16="http://schemas.microsoft.com/office/drawing/2014/main" id="{1B75917B-441B-48BB-BF6C-EC683192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66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配置放错位置，会让运行期规则必须重启，或让启动行为失去环境治理。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86D741F5-109A-456E-B05C-916140F9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tatement-index-0">
            <a:extLst xmlns:a="http://schemas.openxmlformats.org/drawingml/2006/main">
              <a:ext uri="{FF2B5EF4-FFF2-40B4-BE49-F238E27FC236}">
                <a16:creationId xmlns:a16="http://schemas.microsoft.com/office/drawing/2014/main" id="{50A8EE92-62DA-4C66-94AD-16117C71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statement-point-0">
            <a:extLst xmlns:a="http://schemas.openxmlformats.org/drawingml/2006/main">
              <a:ext uri="{FF2B5EF4-FFF2-40B4-BE49-F238E27FC236}">
                <a16:creationId xmlns:a16="http://schemas.microsoft.com/office/drawing/2014/main" id="{06A6B036-22EA-4C98-97DF-963C58D3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启动与基础设施行为</a:t>
            </a:r>
          </a:p>
        </p:txBody>
      </p:sp>
      <p:sp>
        <p:nvSpPr>
          <p:cNvPr id="9" name="statement-index-1">
            <a:extLst xmlns:a="http://schemas.openxmlformats.org/drawingml/2006/main">
              <a:ext uri="{FF2B5EF4-FFF2-40B4-BE49-F238E27FC236}">
                <a16:creationId xmlns:a16="http://schemas.microsoft.com/office/drawing/2014/main" id="{9495CB89-CE03-4BA7-BEDF-A6AA9B08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statement-point-1">
            <a:extLst xmlns:a="http://schemas.openxmlformats.org/drawingml/2006/main">
              <a:ext uri="{FF2B5EF4-FFF2-40B4-BE49-F238E27FC236}">
                <a16:creationId xmlns:a16="http://schemas.microsoft.com/office/drawing/2014/main" id="{17E26472-4CAD-4924-B583-C1B9273C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可由业务维护的运行规则</a:t>
            </a:r>
          </a:p>
        </p:txBody>
      </p:sp>
      <p:sp>
        <p:nvSpPr>
          <p:cNvPr id="11" name="statement-index-2">
            <a:extLst xmlns:a="http://schemas.openxmlformats.org/drawingml/2006/main">
              <a:ext uri="{FF2B5EF4-FFF2-40B4-BE49-F238E27FC236}">
                <a16:creationId xmlns:a16="http://schemas.microsoft.com/office/drawing/2014/main" id="{75536F90-B32F-4840-A8F5-2DA2D448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2" name="statement-point-2">
            <a:extLst xmlns:a="http://schemas.openxmlformats.org/drawingml/2006/main">
              <a:ext uri="{FF2B5EF4-FFF2-40B4-BE49-F238E27FC236}">
                <a16:creationId xmlns:a16="http://schemas.microsoft.com/office/drawing/2014/main" id="{7FC3392C-FC61-416E-9E98-9CB83F54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部署环境差异</a:t>
            </a:r>
          </a:p>
        </p:txBody>
      </p:sp>
      <p:sp>
        <p:nvSpPr>
          <p:cNvPr id="13" name="statement-index-3">
            <a:extLst xmlns:a="http://schemas.openxmlformats.org/drawingml/2006/main">
              <a:ext uri="{FF2B5EF4-FFF2-40B4-BE49-F238E27FC236}">
                <a16:creationId xmlns:a16="http://schemas.microsoft.com/office/drawing/2014/main" id="{62E77E3D-39A4-4CC8-804C-4518DE78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4" name="statement-point-3">
            <a:extLst xmlns:a="http://schemas.openxmlformats.org/drawingml/2006/main">
              <a:ext uri="{FF2B5EF4-FFF2-40B4-BE49-F238E27FC236}">
                <a16:creationId xmlns:a16="http://schemas.microsoft.com/office/drawing/2014/main" id="{F5047B40-05FB-43A2-A1DB-D92FB575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临时运行控制与系统参数</a:t>
            </a:r>
          </a:p>
        </p:txBody>
      </p:sp>
    </p:spTree>
    <p:extLst>
      <p:ext uri="{BB962C8B-B14F-4D97-AF65-F5344CB8AC3E}">
        <p14:creationId xmlns:p14="http://schemas.microsoft.com/office/powerpoint/2010/main" val="15690986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C25BBF-4CA8-4872-8C46-B6D9EBC5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不同配置载体的生命周期和责任不同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C92F807F-25DC-41D8-9D8B-8A924A64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86F648D9-7755-4EE6-AF7A-4A930F4E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06 · 配置化业务与策略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DA7DE3D-25AE-4838-90C0-643E918F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12</a:t>
            </a:r>
          </a:p>
        </p:txBody>
      </p:sp>
      <p:sp>
        <p:nvSpPr>
          <p:cNvPr id="5" name="matrix-header-band-0">
            <a:extLst xmlns:a="http://schemas.openxmlformats.org/drawingml/2006/main">
              <a:ext uri="{FF2B5EF4-FFF2-40B4-BE49-F238E27FC236}">
                <a16:creationId xmlns:a16="http://schemas.microsoft.com/office/drawing/2014/main" id="{41F3FB8D-115C-48F8-ACD4-504CF3A9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matrix-header-0">
            <a:extLst xmlns:a="http://schemas.openxmlformats.org/drawingml/2006/main">
              <a:ext uri="{FF2B5EF4-FFF2-40B4-BE49-F238E27FC236}">
                <a16:creationId xmlns:a16="http://schemas.microsoft.com/office/drawing/2014/main" id="{50B1B3AD-CEA3-4AB3-8EE1-EA568A2B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2628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载体</a:t>
            </a:r>
          </a:p>
        </p:txBody>
      </p:sp>
      <p:sp>
        <p:nvSpPr>
          <p:cNvPr id="7" name="matrix-header-band-1">
            <a:extLst xmlns:a="http://schemas.openxmlformats.org/drawingml/2006/main">
              <a:ext uri="{FF2B5EF4-FFF2-40B4-BE49-F238E27FC236}">
                <a16:creationId xmlns:a16="http://schemas.microsoft.com/office/drawing/2014/main" id="{A1C98679-0B7E-4D75-AE91-3C061609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76375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matrix-header-1">
            <a:extLst xmlns:a="http://schemas.openxmlformats.org/drawingml/2006/main">
              <a:ext uri="{FF2B5EF4-FFF2-40B4-BE49-F238E27FC236}">
                <a16:creationId xmlns:a16="http://schemas.microsoft.com/office/drawing/2014/main" id="{95EAD7D9-8D25-46A3-87B3-2DACBF13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28775"/>
            <a:ext cx="4343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适合内容</a:t>
            </a:r>
          </a:p>
        </p:txBody>
      </p:sp>
      <p:sp>
        <p:nvSpPr>
          <p:cNvPr id="9" name="matrix-header-band-2">
            <a:extLst xmlns:a="http://schemas.openxmlformats.org/drawingml/2006/main">
              <a:ext uri="{FF2B5EF4-FFF2-40B4-BE49-F238E27FC236}">
                <a16:creationId xmlns:a16="http://schemas.microsoft.com/office/drawing/2014/main" id="{DE93BF84-B6EB-4E6E-AAF1-5C452B58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76375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matrix-header-2">
            <a:extLst xmlns:a="http://schemas.openxmlformats.org/drawingml/2006/main">
              <a:ext uri="{FF2B5EF4-FFF2-40B4-BE49-F238E27FC236}">
                <a16:creationId xmlns:a16="http://schemas.microsoft.com/office/drawing/2014/main" id="{493AAD1E-BD63-46B9-A554-1012803D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28775"/>
            <a:ext cx="3619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生效与维护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2E7A99B9-6A75-4E87-BF9B-45FF2396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matrix-cell-0-0">
            <a:extLst xmlns:a="http://schemas.openxmlformats.org/drawingml/2006/main">
              <a:ext uri="{FF2B5EF4-FFF2-40B4-BE49-F238E27FC236}">
                <a16:creationId xmlns:a16="http://schemas.microsoft.com/office/drawing/2014/main" id="{FBAFCED6-450E-49AC-B3CF-E927A0BF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2628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appsettings / Options</a:t>
            </a:r>
          </a:p>
        </p:txBody>
      </p:sp>
      <p:sp>
        <p:nvSpPr>
          <p:cNvPr id="13" name="matrix-cell-0-1">
            <a:extLst xmlns:a="http://schemas.openxmlformats.org/drawingml/2006/main">
              <a:ext uri="{FF2B5EF4-FFF2-40B4-BE49-F238E27FC236}">
                <a16:creationId xmlns:a16="http://schemas.microsoft.com/office/drawing/2014/main" id="{650F450A-BA04-4E79-AAF5-1EE313BA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14575"/>
            <a:ext cx="4343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连接、日志、JWT、License、基础设施行为</a:t>
            </a:r>
          </a:p>
        </p:txBody>
      </p:sp>
      <p:sp>
        <p:nvSpPr>
          <p:cNvPr id="14" name="matrix-cell-0-2">
            <a:extLst xmlns:a="http://schemas.openxmlformats.org/drawingml/2006/main">
              <a:ext uri="{FF2B5EF4-FFF2-40B4-BE49-F238E27FC236}">
                <a16:creationId xmlns:a16="http://schemas.microsoft.com/office/drawing/2014/main" id="{BAF5CB8C-5F5A-4B76-8BF0-520EC209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14575"/>
            <a:ext cx="3619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按环境绑定，通常随启动生效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115317DE-2DF4-44EA-894E-B9E40151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matrix-cell-1-0">
            <a:extLst xmlns:a="http://schemas.openxmlformats.org/drawingml/2006/main">
              <a:ext uri="{FF2B5EF4-FFF2-40B4-BE49-F238E27FC236}">
                <a16:creationId xmlns:a16="http://schemas.microsoft.com/office/drawing/2014/main" id="{79DEBE87-B169-41A1-99D2-7C32941D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38475"/>
            <a:ext cx="2628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Config 配置库</a:t>
            </a:r>
          </a:p>
        </p:txBody>
      </p:sp>
      <p:sp>
        <p:nvSpPr>
          <p:cNvPr id="17" name="matrix-cell-1-1">
            <a:extLst xmlns:a="http://schemas.openxmlformats.org/drawingml/2006/main">
              <a:ext uri="{FF2B5EF4-FFF2-40B4-BE49-F238E27FC236}">
                <a16:creationId xmlns:a16="http://schemas.microsoft.com/office/drawing/2014/main" id="{BBEAFE1B-47A0-4927-A530-C4AFA083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38475"/>
            <a:ext cx="4343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业务校验、编码、状态、动态字段</a:t>
            </a:r>
          </a:p>
        </p:txBody>
      </p:sp>
      <p:sp>
        <p:nvSpPr>
          <p:cNvPr id="18" name="matrix-cell-1-2">
            <a:extLst xmlns:a="http://schemas.openxmlformats.org/drawingml/2006/main">
              <a:ext uri="{FF2B5EF4-FFF2-40B4-BE49-F238E27FC236}">
                <a16:creationId xmlns:a16="http://schemas.microsoft.com/office/drawing/2014/main" id="{D38EA4A8-D170-4DD5-A811-96F8F5A7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38475"/>
            <a:ext cx="3619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运行期按作用域读取，可缓存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349C0419-6DD7-4B03-9B1D-C919D09F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matrix-cell-2-0">
            <a:extLst xmlns:a="http://schemas.openxmlformats.org/drawingml/2006/main">
              <a:ext uri="{FF2B5EF4-FFF2-40B4-BE49-F238E27FC236}">
                <a16:creationId xmlns:a16="http://schemas.microsoft.com/office/drawing/2014/main" id="{F38AD479-2F48-405E-AAEA-D83F84CF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2628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系统参数</a:t>
            </a:r>
          </a:p>
        </p:txBody>
      </p:sp>
      <p:sp>
        <p:nvSpPr>
          <p:cNvPr id="21" name="matrix-cell-2-1">
            <a:extLst xmlns:a="http://schemas.openxmlformats.org/drawingml/2006/main">
              <a:ext uri="{FF2B5EF4-FFF2-40B4-BE49-F238E27FC236}">
                <a16:creationId xmlns:a16="http://schemas.microsoft.com/office/drawing/2014/main" id="{AA52E6F7-4490-4BD2-8E87-E468009C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62375"/>
            <a:ext cx="4343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较轻量、全局或运维可维护的业务参数</a:t>
            </a:r>
          </a:p>
        </p:txBody>
      </p:sp>
      <p:sp>
        <p:nvSpPr>
          <p:cNvPr id="22" name="matrix-cell-2-2">
            <a:extLst xmlns:a="http://schemas.openxmlformats.org/drawingml/2006/main">
              <a:ext uri="{FF2B5EF4-FFF2-40B4-BE49-F238E27FC236}">
                <a16:creationId xmlns:a16="http://schemas.microsoft.com/office/drawing/2014/main" id="{9636740A-1430-4F44-A83D-B629181E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62375"/>
            <a:ext cx="3619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通过系统能力读取并治理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9608ABF9-789A-4065-AC95-6BE53F5B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matrix-cell-3-0">
            <a:extLst xmlns:a="http://schemas.openxmlformats.org/drawingml/2006/main">
              <a:ext uri="{FF2B5EF4-FFF2-40B4-BE49-F238E27FC236}">
                <a16:creationId xmlns:a16="http://schemas.microsoft.com/office/drawing/2014/main" id="{8DB3A4D5-4953-4269-81E9-F1966E2A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86275"/>
            <a:ext cx="2628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代码常量</a:t>
            </a:r>
          </a:p>
        </p:txBody>
      </p:sp>
      <p:sp>
        <p:nvSpPr>
          <p:cNvPr id="25" name="matrix-cell-3-1">
            <a:extLst xmlns:a="http://schemas.openxmlformats.org/drawingml/2006/main">
              <a:ext uri="{FF2B5EF4-FFF2-40B4-BE49-F238E27FC236}">
                <a16:creationId xmlns:a16="http://schemas.microsoft.com/office/drawing/2014/main" id="{57710E14-783E-49E0-86AF-E39578B7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86275"/>
            <a:ext cx="4343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稳定协议、ValidatorCodes、不可变约定</a:t>
            </a:r>
          </a:p>
        </p:txBody>
      </p:sp>
      <p:sp>
        <p:nvSpPr>
          <p:cNvPr id="26" name="matrix-cell-3-2">
            <a:extLst xmlns:a="http://schemas.openxmlformats.org/drawingml/2006/main">
              <a:ext uri="{FF2B5EF4-FFF2-40B4-BE49-F238E27FC236}">
                <a16:creationId xmlns:a16="http://schemas.microsoft.com/office/drawing/2014/main" id="{7CB5AA3C-34B3-4ED7-9F47-E593C7F8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86275"/>
            <a:ext cx="3619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随版本发布，不承担运行期开关</a:t>
            </a:r>
          </a:p>
        </p:txBody>
      </p:sp>
    </p:spTree>
    <p:extLst>
      <p:ext uri="{BB962C8B-B14F-4D97-AF65-F5344CB8AC3E}">
        <p14:creationId xmlns:p14="http://schemas.microsoft.com/office/powerpoint/2010/main" val="11631890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D22B86-657A-42B4-B4F2-2D3A6F6D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Config 按作用域命中，并通过缓存加速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F3724B5-3A10-4E2E-979F-D23B6A1B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FE7EA273-527E-4659-98FE-89382084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06 · 配置化业务与策略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58D5E62-685B-4509-94EC-273FC1F3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12</a:t>
            </a:r>
          </a:p>
        </p:txBody>
      </p:sp>
      <p:sp>
        <p:nvSpPr>
          <p:cNvPr id="5" name="flow-intro">
            <a:extLst xmlns:a="http://schemas.openxmlformats.org/drawingml/2006/main">
              <a:ext uri="{FF2B5EF4-FFF2-40B4-BE49-F238E27FC236}">
                <a16:creationId xmlns:a16="http://schemas.microsoft.com/office/drawing/2014/main" id="{FC1A12E3-7DE0-438B-8F02-7CD67833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04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配置读取不是直接查一行表，而是按业务边界解析最合适的值。</a:t>
            </a:r>
          </a:p>
        </p:txBody>
      </p:sp>
      <p:sp>
        <p:nvSpPr>
          <p:cNvPr id="6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E7770ED2-3B59-493C-89CA-F9E40CA4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7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D67125CF-E9CC-4DE6-BB49-DAE9BE4E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BB80D70F-38D8-408C-BBDF-94E0C5EA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9633070A-1905-4692-99CC-C30D4DA5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业务请求</a:t>
            </a:r>
          </a:p>
        </p:txBody>
      </p:sp>
      <p:sp>
        <p:nvSpPr>
          <p:cNvPr id="10" name="flow-body-0">
            <a:extLst xmlns:a="http://schemas.openxmlformats.org/drawingml/2006/main">
              <a:ext uri="{FF2B5EF4-FFF2-40B4-BE49-F238E27FC236}">
                <a16:creationId xmlns:a16="http://schemas.microsoft.com/office/drawing/2014/main" id="{A942BAF3-EB36-4672-9CA2-048DB2D9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携带配置编码和仓库、货主等上下文。</a:t>
            </a:r>
          </a:p>
        </p:txBody>
      </p:sp>
      <p:sp>
        <p:nvSpPr>
          <p:cNvPr id="11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DEFBAC43-646B-46BC-B096-11A75D0E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35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2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C9D3184B-42F9-49C6-A773-A183E030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38125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15368946-0367-4884-B3B7-81E93927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83845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9898DEF1-F877-4B9D-855F-10D0F76F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10515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解析作用域</a:t>
            </a:r>
          </a:p>
        </p:txBody>
      </p:sp>
      <p:sp>
        <p:nvSpPr>
          <p:cNvPr id="15" name="flow-body-1">
            <a:extLst xmlns:a="http://schemas.openxmlformats.org/drawingml/2006/main">
              <a:ext uri="{FF2B5EF4-FFF2-40B4-BE49-F238E27FC236}">
                <a16:creationId xmlns:a16="http://schemas.microsoft.com/office/drawing/2014/main" id="{DDC63C74-A032-4E8A-8633-7A8DD0B9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98145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优先匹配更具体的业务范围。</a:t>
            </a:r>
          </a:p>
        </p:txBody>
      </p:sp>
      <p:sp>
        <p:nvSpPr>
          <p:cNvPr id="1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E0BEF3F8-D106-4818-B821-2422BDFD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7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1F4FE05E-7254-4F1B-94A7-D00FA3A5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38125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30AEA332-C891-4662-B577-D5D1B79D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83845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8F345558-9A2C-417A-A6B3-925CFC12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10515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读取缓存</a:t>
            </a:r>
          </a:p>
        </p:txBody>
      </p:sp>
      <p:sp>
        <p:nvSpPr>
          <p:cNvPr id="20" name="flow-body-2">
            <a:extLst xmlns:a="http://schemas.openxmlformats.org/drawingml/2006/main">
              <a:ext uri="{FF2B5EF4-FFF2-40B4-BE49-F238E27FC236}">
                <a16:creationId xmlns:a16="http://schemas.microsoft.com/office/drawing/2014/main" id="{8DB442FE-CD7D-4AF4-B690-9B547D32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98145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按稳定 key 获取已解析值。</a:t>
            </a:r>
          </a:p>
        </p:txBody>
      </p:sp>
      <p:sp>
        <p:nvSpPr>
          <p:cNvPr id="21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4844FA6C-D061-4FF8-8F86-FBF5DC0A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2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A71B1509-1CFC-4646-9598-FED90FEA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38125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164CA78B-B238-4C82-AC52-E97D3C64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83845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51366EBE-5CB4-49C7-AAFE-D049D5E0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10515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回源配置库</a:t>
            </a:r>
          </a:p>
        </p:txBody>
      </p:sp>
      <p:sp>
        <p:nvSpPr>
          <p:cNvPr id="25" name="flow-body-3">
            <a:extLst xmlns:a="http://schemas.openxmlformats.org/drawingml/2006/main">
              <a:ext uri="{FF2B5EF4-FFF2-40B4-BE49-F238E27FC236}">
                <a16:creationId xmlns:a16="http://schemas.microsoft.com/office/drawing/2014/main" id="{23BBFFE4-8B32-4D12-95C4-A276426F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98145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缓存未命中时查询并构建结果。</a:t>
            </a:r>
          </a:p>
        </p:txBody>
      </p:sp>
      <p:sp>
        <p:nvSpPr>
          <p:cNvPr id="26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A5BD762B-8BD0-4DE6-AD75-FB63FB78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38125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6F0816D9-278C-49B1-8518-5893118C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83845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8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A76CF75E-B84C-4A55-ADF6-CAB32D2C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310515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返回业务值</a:t>
            </a:r>
          </a:p>
        </p:txBody>
      </p:sp>
      <p:sp>
        <p:nvSpPr>
          <p:cNvPr id="29" name="flow-body-4">
            <a:extLst xmlns:a="http://schemas.openxmlformats.org/drawingml/2006/main">
              <a:ext uri="{FF2B5EF4-FFF2-40B4-BE49-F238E27FC236}">
                <a16:creationId xmlns:a16="http://schemas.microsoft.com/office/drawing/2014/main" id="{D061B6EA-07B4-4314-A991-A9879E4A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398145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调用方只依赖 Contract / Resolver。</a:t>
            </a:r>
          </a:p>
        </p:txBody>
      </p:sp>
    </p:spTree>
    <p:extLst>
      <p:ext uri="{BB962C8B-B14F-4D97-AF65-F5344CB8AC3E}">
        <p14:creationId xmlns:p14="http://schemas.microsoft.com/office/powerpoint/2010/main" val="5994586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D5F498-F7AF-4583-9D8C-D2CC53C0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配置缺失时必须明确放行还是失败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ADEE6C32-E31F-4AC4-B2A6-AD4E150E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90F51789-C226-4CB3-9F78-3670137E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06 · 配置化业务与策略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7E80BAB-7C18-42B2-9AF4-2D4973A3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06 / 12</a:t>
            </a:r>
          </a:p>
        </p:txBody>
      </p:sp>
      <p:sp>
        <p:nvSpPr>
          <p:cNvPr id="5" name="compare-band-0">
            <a:extLst xmlns:a="http://schemas.openxmlformats.org/drawingml/2006/main">
              <a:ext uri="{FF2B5EF4-FFF2-40B4-BE49-F238E27FC236}">
                <a16:creationId xmlns:a16="http://schemas.microsoft.com/office/drawing/2014/main" id="{BA522385-B744-41D7-A8FE-BB7120FA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E9E12BDB-3E42-492E-A884-A75792D6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缺失时放行</a:t>
            </a:r>
          </a:p>
        </p:txBody>
      </p:sp>
      <p:sp>
        <p:nvSpPr>
          <p:cNvPr id="7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CDF98D81-A982-4CC7-BEE2-1BD64EFC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配置属于可选增强
• 系统有安全且明确的默认行为
• 缺失不会破坏库存或流程一致性
• 日志能够提示采用了默认值</a:t>
            </a:r>
          </a:p>
        </p:txBody>
      </p:sp>
      <p:sp>
        <p:nvSpPr>
          <p:cNvPr id="8" name="compare-band-1">
            <a:extLst xmlns:a="http://schemas.openxmlformats.org/drawingml/2006/main">
              <a:ext uri="{FF2B5EF4-FFF2-40B4-BE49-F238E27FC236}">
                <a16:creationId xmlns:a16="http://schemas.microsoft.com/office/drawing/2014/main" id="{F189694B-07EF-4E15-B396-E70CB8BF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37BB4C6C-423A-444E-8084-EF2B4431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缺失时失败</a:t>
            </a:r>
          </a:p>
        </p:txBody>
      </p:sp>
      <p:sp>
        <p:nvSpPr>
          <p:cNvPr id="10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6C35F952-93D4-4268-9BAD-D27031C0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配置决定状态、编码或关键业务约束
• 默认值可能导致错误写入
• 多租户 / 多仓作用域必须明确
• 必须由运维先完成初始化</a:t>
            </a:r>
          </a:p>
        </p:txBody>
      </p:sp>
    </p:spTree>
    <p:extLst>
      <p:ext uri="{BB962C8B-B14F-4D97-AF65-F5344CB8AC3E}">
        <p14:creationId xmlns:p14="http://schemas.microsoft.com/office/powerpoint/2010/main" val="3287057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BCD1C7-7CBC-4D71-ADD5-0D0A4D55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编码规则把单号格式与业务代码解耦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411C1B87-57DC-4F80-8A0A-9D190EC8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AB9E7F35-AC31-4702-AF27-8F10BB6C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06 · 配置化业务与策略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1C2219B-6A66-4B2C-9205-32C7ECC0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07 / 12</a:t>
            </a:r>
          </a:p>
        </p:txBody>
      </p:sp>
      <p:sp>
        <p:nvSpPr>
          <p:cNvPr id="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100491A5-7F93-45C4-B69D-74D02D85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6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A7D3B241-5C5C-4FA4-8448-B45E8C70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B4E6766E-1F5D-4B86-91DB-53AC5354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05B52996-3845-422E-972A-ADB79752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选择编码规则</a:t>
            </a:r>
          </a:p>
        </p:txBody>
      </p:sp>
      <p:sp>
        <p:nvSpPr>
          <p:cNvPr id="9" name="flow-body-0">
            <a:extLst xmlns:a="http://schemas.openxmlformats.org/drawingml/2006/main">
              <a:ext uri="{FF2B5EF4-FFF2-40B4-BE49-F238E27FC236}">
                <a16:creationId xmlns:a16="http://schemas.microsoft.com/office/drawing/2014/main" id="{EBC63E8A-AF58-4B4A-B638-FEB9A3B9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按业务类型和配置编码读取规则。</a:t>
            </a:r>
          </a:p>
        </p:txBody>
      </p:sp>
      <p:sp>
        <p:nvSpPr>
          <p:cNvPr id="10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E88E44DF-6243-400E-95FD-C80D583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3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A386EDB0-D7F4-472C-913A-71D680CA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FEC06FEA-7081-4B41-941B-BE15F945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2BAD5EA2-2BCC-4786-B3DF-AEB4FC20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解析前缀与日期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7D41F402-15F7-4B40-BF1C-7B220B8C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组合固定文本、日期段等格式。</a:t>
            </a:r>
          </a:p>
        </p:txBody>
      </p:sp>
      <p:sp>
        <p:nvSpPr>
          <p:cNvPr id="1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2A67B6A3-52FE-4F1E-9F3E-48F19CF8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6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37EFE312-B43C-4918-9102-BDA41194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95E1D82-8BC4-4268-994C-B3A7B6C0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4FB0BD22-55B3-412D-B7D4-B02FE60E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获取序列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5920D0F5-06E2-4155-87F2-039CF582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按日、月或配置周期生成下一个序号。</a:t>
            </a:r>
          </a:p>
        </p:txBody>
      </p:sp>
      <p:sp>
        <p:nvSpPr>
          <p:cNvPr id="20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BD20425A-004E-45C2-807C-5E35E87B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1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4A440966-9105-43C6-9A82-4EC6DAB1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7020CD62-4A55-4425-A098-0E692502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1E3C7A74-6196-43A4-8899-AFBE6A7E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格式化单号</a:t>
            </a:r>
          </a:p>
        </p:txBody>
      </p:sp>
      <p:sp>
        <p:nvSpPr>
          <p:cNvPr id="24" name="flow-body-3">
            <a:extLst xmlns:a="http://schemas.openxmlformats.org/drawingml/2006/main">
              <a:ext uri="{FF2B5EF4-FFF2-40B4-BE49-F238E27FC236}">
                <a16:creationId xmlns:a16="http://schemas.microsoft.com/office/drawing/2014/main" id="{3CAB50BA-7F81-49FC-88E0-3EC4180E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补位并输出最终业务编码。</a:t>
            </a:r>
          </a:p>
        </p:txBody>
      </p:sp>
      <p:sp>
        <p:nvSpPr>
          <p:cNvPr id="25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CBC9BBA9-E8F8-4FB0-9745-114A1466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7F00E66B-52C8-4CA9-9DBE-D5796BA3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1DB1E234-3D2B-4758-8D3F-C0AE86A8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写入业务实体</a:t>
            </a:r>
          </a:p>
        </p:txBody>
      </p:sp>
      <p:sp>
        <p:nvSpPr>
          <p:cNvPr id="28" name="flow-body-4">
            <a:extLst xmlns:a="http://schemas.openxmlformats.org/drawingml/2006/main">
              <a:ext uri="{FF2B5EF4-FFF2-40B4-BE49-F238E27FC236}">
                <a16:creationId xmlns:a16="http://schemas.microsoft.com/office/drawing/2014/main" id="{71C8C107-ED77-47B1-BA41-12C4C7BF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创建任务、订单等对象时保存。</a:t>
            </a:r>
          </a:p>
        </p:txBody>
      </p:sp>
    </p:spTree>
    <p:extLst>
      <p:ext uri="{BB962C8B-B14F-4D97-AF65-F5344CB8AC3E}">
        <p14:creationId xmlns:p14="http://schemas.microsoft.com/office/powerpoint/2010/main" val="15792109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4E54C8-92AD-4EB3-A46E-485B16BC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单据状态是受控流转，不是随意改字段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FC57B404-0002-4BF9-A251-848C0BC6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646A7FF4-F55B-4EE4-B914-82CD1FEB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06 · 配置化业务与策略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134E9EC-3C1D-4DD3-9B1D-77AAFF19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08 / 12</a:t>
            </a:r>
          </a:p>
        </p:txBody>
      </p:sp>
      <p:sp>
        <p:nvSpPr>
          <p:cNvPr id="5" name="compare-band-0">
            <a:extLst xmlns:a="http://schemas.openxmlformats.org/drawingml/2006/main">
              <a:ext uri="{FF2B5EF4-FFF2-40B4-BE49-F238E27FC236}">
                <a16:creationId xmlns:a16="http://schemas.microsoft.com/office/drawing/2014/main" id="{0D6B3073-92DD-4BAE-B06D-6C0C2121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7EEF93DA-CDB8-4709-A8A7-C9FD54B6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7D4A"/>
                </a:solidFill>
                <a:latin typeface="Microsoft YaHei"/>
                <a:ea typeface="Microsoft YaHei"/>
                <a:cs typeface="Microsoft YaHei"/>
              </a:defRPr>
            </a:pPr>
            <a:r>
              <a:t>正确流转</a:t>
            </a:r>
          </a:p>
        </p:txBody>
      </p:sp>
      <p:sp>
        <p:nvSpPr>
          <p:cNvPr id="7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87E20F3A-3DC8-4020-8BC1-8356256E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从配置取得初始状态
• 执行动作前校验当前状态
• 按允许的源状态和目标状态推进
• 实体方法与配置校验保持一致</a:t>
            </a:r>
          </a:p>
        </p:txBody>
      </p:sp>
      <p:sp>
        <p:nvSpPr>
          <p:cNvPr id="8" name="compare-band-1">
            <a:extLst xmlns:a="http://schemas.openxmlformats.org/drawingml/2006/main">
              <a:ext uri="{FF2B5EF4-FFF2-40B4-BE49-F238E27FC236}">
                <a16:creationId xmlns:a16="http://schemas.microsoft.com/office/drawing/2014/main" id="{F8D7915D-4DD2-49A3-9CB8-FD3ECE61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DF092EAA-A30C-41BA-9E22-7E1FCD5A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t>危险做法</a:t>
            </a:r>
          </a:p>
        </p:txBody>
      </p:sp>
      <p:sp>
        <p:nvSpPr>
          <p:cNvPr id="10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3BC46A35-BAEF-4205-B648-54A63F58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任意 Service 直接赋新状态
• 忽略已完成或已取消状态
• 状态更新与库存 / 任务写入分离
• 把显示文案当作状态编码</a:t>
            </a:r>
          </a:p>
        </p:txBody>
      </p:sp>
    </p:spTree>
    <p:extLst>
      <p:ext uri="{BB962C8B-B14F-4D97-AF65-F5344CB8AC3E}">
        <p14:creationId xmlns:p14="http://schemas.microsoft.com/office/powerpoint/2010/main" val="8063605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8EF04C-FE63-4DF1-B777-FB21B421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策略实现必须通过 IPolicyEngine 被发现和执行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4384A845-FA6E-41A0-B8AB-964DA544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98E08363-A8ED-4F76-87AE-2CF8D724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06 · 配置化业务与策略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BCD356C-9559-43EF-8096-FAA71A10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/ 12</a:t>
            </a:r>
          </a:p>
        </p:txBody>
      </p:sp>
      <p:sp>
        <p:nvSpPr>
          <p:cNvPr id="5" name="statement">
            <a:extLst xmlns:a="http://schemas.openxmlformats.org/drawingml/2006/main">
              <a:ext uri="{FF2B5EF4-FFF2-40B4-BE49-F238E27FC236}">
                <a16:creationId xmlns:a16="http://schemas.microsoft.com/office/drawing/2014/main" id="{37DF31BB-3E0E-4E23-B569-694D8FE6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66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调用方表达目标和上下文，不直接 new 具体策略类。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ECCD253A-4461-4AC5-9C26-FD8081B3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tatement-index-0">
            <a:extLst xmlns:a="http://schemas.openxmlformats.org/drawingml/2006/main">
              <a:ext uri="{FF2B5EF4-FFF2-40B4-BE49-F238E27FC236}">
                <a16:creationId xmlns:a16="http://schemas.microsoft.com/office/drawing/2014/main" id="{6A6EB4E0-64EF-47F9-B7E5-8C5024A8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statement-point-0">
            <a:extLst xmlns:a="http://schemas.openxmlformats.org/drawingml/2006/main">
              <a:ext uri="{FF2B5EF4-FFF2-40B4-BE49-F238E27FC236}">
                <a16:creationId xmlns:a16="http://schemas.microsoft.com/office/drawing/2014/main" id="{24655F58-9805-4217-B47C-C72CA178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策略类型表达解决哪类问题</a:t>
            </a:r>
          </a:p>
        </p:txBody>
      </p:sp>
      <p:sp>
        <p:nvSpPr>
          <p:cNvPr id="9" name="statement-index-1">
            <a:extLst xmlns:a="http://schemas.openxmlformats.org/drawingml/2006/main">
              <a:ext uri="{FF2B5EF4-FFF2-40B4-BE49-F238E27FC236}">
                <a16:creationId xmlns:a16="http://schemas.microsoft.com/office/drawing/2014/main" id="{AC7A34B2-E296-42D0-AFD4-24D082DA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statement-point-1">
            <a:extLst xmlns:a="http://schemas.openxmlformats.org/drawingml/2006/main">
              <a:ext uri="{FF2B5EF4-FFF2-40B4-BE49-F238E27FC236}">
                <a16:creationId xmlns:a16="http://schemas.microsoft.com/office/drawing/2014/main" id="{463E58FD-E2FD-4D56-8972-050CF5C4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策略编码选择一个具体实现</a:t>
            </a:r>
          </a:p>
        </p:txBody>
      </p:sp>
      <p:sp>
        <p:nvSpPr>
          <p:cNvPr id="11" name="statement-index-2">
            <a:extLst xmlns:a="http://schemas.openxmlformats.org/drawingml/2006/main">
              <a:ext uri="{FF2B5EF4-FFF2-40B4-BE49-F238E27FC236}">
                <a16:creationId xmlns:a16="http://schemas.microsoft.com/office/drawing/2014/main" id="{E3DE2012-5B32-4FD4-963B-B22C9978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2" name="statement-point-2">
            <a:extLst xmlns:a="http://schemas.openxmlformats.org/drawingml/2006/main">
              <a:ext uri="{FF2B5EF4-FFF2-40B4-BE49-F238E27FC236}">
                <a16:creationId xmlns:a16="http://schemas.microsoft.com/office/drawing/2014/main" id="{195C5781-495F-462B-B4CE-BD2FF0BF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策略链按配置顺序组合多个步骤</a:t>
            </a:r>
          </a:p>
        </p:txBody>
      </p:sp>
      <p:sp>
        <p:nvSpPr>
          <p:cNvPr id="13" name="statement-index-3">
            <a:extLst xmlns:a="http://schemas.openxmlformats.org/drawingml/2006/main">
              <a:ext uri="{FF2B5EF4-FFF2-40B4-BE49-F238E27FC236}">
                <a16:creationId xmlns:a16="http://schemas.microsoft.com/office/drawing/2014/main" id="{AE4B9AEF-70BB-4767-88DE-AE35116B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4" name="statement-point-3">
            <a:extLst xmlns:a="http://schemas.openxmlformats.org/drawingml/2006/main">
              <a:ext uri="{FF2B5EF4-FFF2-40B4-BE49-F238E27FC236}">
                <a16:creationId xmlns:a16="http://schemas.microsoft.com/office/drawing/2014/main" id="{D3C5C967-A57E-44FC-A8CB-0CA45E88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调用方负责构造上下文并处理失败</a:t>
            </a:r>
          </a:p>
        </p:txBody>
      </p:sp>
    </p:spTree>
    <p:extLst>
      <p:ext uri="{BB962C8B-B14F-4D97-AF65-F5344CB8AC3E}">
        <p14:creationId xmlns:p14="http://schemas.microsoft.com/office/powerpoint/2010/main" val="16858224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45F2A1-A7EB-4E1A-8BD8-ED0E346B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类型、编码和策略链对应三种选择方式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12ADA8D-C56A-4028-8CE5-CB18A039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F4C83E12-4883-461F-8269-7800713A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06 · 配置化业务与策略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631DD38-14A2-4BFD-9B82-33AD7430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10 / 12</a:t>
            </a:r>
          </a:p>
        </p:txBody>
      </p:sp>
      <p:sp>
        <p:nvSpPr>
          <p:cNvPr id="5" name="matrix-header-band-0">
            <a:extLst xmlns:a="http://schemas.openxmlformats.org/drawingml/2006/main">
              <a:ext uri="{FF2B5EF4-FFF2-40B4-BE49-F238E27FC236}">
                <a16:creationId xmlns:a16="http://schemas.microsoft.com/office/drawing/2014/main" id="{CFBE5433-D116-4205-AB44-2928F779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matrix-header-0">
            <a:extLst xmlns:a="http://schemas.openxmlformats.org/drawingml/2006/main">
              <a:ext uri="{FF2B5EF4-FFF2-40B4-BE49-F238E27FC236}">
                <a16:creationId xmlns:a16="http://schemas.microsoft.com/office/drawing/2014/main" id="{ACF63489-9CE6-472A-B4C4-B9F651AE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2628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调用方式</a:t>
            </a:r>
          </a:p>
        </p:txBody>
      </p:sp>
      <p:sp>
        <p:nvSpPr>
          <p:cNvPr id="7" name="matrix-header-band-1">
            <a:extLst xmlns:a="http://schemas.openxmlformats.org/drawingml/2006/main">
              <a:ext uri="{FF2B5EF4-FFF2-40B4-BE49-F238E27FC236}">
                <a16:creationId xmlns:a16="http://schemas.microsoft.com/office/drawing/2014/main" id="{1C1F459B-F709-42C4-85AC-52EF7922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76375"/>
            <a:ext cx="447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matrix-header-1">
            <a:extLst xmlns:a="http://schemas.openxmlformats.org/drawingml/2006/main">
              <a:ext uri="{FF2B5EF4-FFF2-40B4-BE49-F238E27FC236}">
                <a16:creationId xmlns:a16="http://schemas.microsoft.com/office/drawing/2014/main" id="{8F9EB28D-1140-4B36-ABA6-83835131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28775"/>
            <a:ext cx="4248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适用场景</a:t>
            </a:r>
          </a:p>
        </p:txBody>
      </p:sp>
      <p:sp>
        <p:nvSpPr>
          <p:cNvPr id="9" name="matrix-header-band-2">
            <a:extLst xmlns:a="http://schemas.openxmlformats.org/drawingml/2006/main">
              <a:ext uri="{FF2B5EF4-FFF2-40B4-BE49-F238E27FC236}">
                <a16:creationId xmlns:a16="http://schemas.microsoft.com/office/drawing/2014/main" id="{87CAADE6-B535-407D-89D5-4D6333B6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76375"/>
            <a:ext cx="3943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matrix-header-2">
            <a:extLst xmlns:a="http://schemas.openxmlformats.org/drawingml/2006/main">
              <a:ext uri="{FF2B5EF4-FFF2-40B4-BE49-F238E27FC236}">
                <a16:creationId xmlns:a16="http://schemas.microsoft.com/office/drawing/2014/main" id="{8E872FEF-4D6B-4ADD-A84B-E2B514E1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28775"/>
            <a:ext cx="3714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调用方需要提供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A536DF7F-614B-4EDC-B3F0-78A1629C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matrix-cell-0-0">
            <a:extLst xmlns:a="http://schemas.openxmlformats.org/drawingml/2006/main">
              <a:ext uri="{FF2B5EF4-FFF2-40B4-BE49-F238E27FC236}">
                <a16:creationId xmlns:a16="http://schemas.microsoft.com/office/drawing/2014/main" id="{145BBC20-8356-4B88-A4FF-10F6899D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2628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按策略类型</a:t>
            </a:r>
          </a:p>
        </p:txBody>
      </p:sp>
      <p:sp>
        <p:nvSpPr>
          <p:cNvPr id="13" name="matrix-cell-0-1">
            <a:extLst xmlns:a="http://schemas.openxmlformats.org/drawingml/2006/main">
              <a:ext uri="{FF2B5EF4-FFF2-40B4-BE49-F238E27FC236}">
                <a16:creationId xmlns:a16="http://schemas.microsoft.com/office/drawing/2014/main" id="{E99780C8-14BC-4ABE-829E-53A8A9AA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14575"/>
            <a:ext cx="424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只有一组默认实现或由引擎选择</a:t>
            </a:r>
          </a:p>
        </p:txBody>
      </p:sp>
      <p:sp>
        <p:nvSpPr>
          <p:cNvPr id="14" name="matrix-cell-0-2">
            <a:extLst xmlns:a="http://schemas.openxmlformats.org/drawingml/2006/main">
              <a:ext uri="{FF2B5EF4-FFF2-40B4-BE49-F238E27FC236}">
                <a16:creationId xmlns:a16="http://schemas.microsoft.com/office/drawing/2014/main" id="{9181E2A5-FCE4-4479-9B57-71FBA077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14575"/>
            <a:ext cx="3714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策略类型 + 上下文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2827091-FA87-4690-9B72-9280DDAA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matrix-cell-1-0">
            <a:extLst xmlns:a="http://schemas.openxmlformats.org/drawingml/2006/main">
              <a:ext uri="{FF2B5EF4-FFF2-40B4-BE49-F238E27FC236}">
                <a16:creationId xmlns:a16="http://schemas.microsoft.com/office/drawing/2014/main" id="{9DA76FF4-503E-412A-B8B0-08F5DF27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38475"/>
            <a:ext cx="2628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按策略编码</a:t>
            </a:r>
          </a:p>
        </p:txBody>
      </p:sp>
      <p:sp>
        <p:nvSpPr>
          <p:cNvPr id="17" name="matrix-cell-1-1">
            <a:extLst xmlns:a="http://schemas.openxmlformats.org/drawingml/2006/main">
              <a:ext uri="{FF2B5EF4-FFF2-40B4-BE49-F238E27FC236}">
                <a16:creationId xmlns:a16="http://schemas.microsoft.com/office/drawing/2014/main" id="{44B7E32E-2C7B-479C-9106-E1FA354C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38475"/>
            <a:ext cx="424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业务明确指定某个实现</a:t>
            </a:r>
          </a:p>
        </p:txBody>
      </p:sp>
      <p:sp>
        <p:nvSpPr>
          <p:cNvPr id="18" name="matrix-cell-1-2">
            <a:extLst xmlns:a="http://schemas.openxmlformats.org/drawingml/2006/main">
              <a:ext uri="{FF2B5EF4-FFF2-40B4-BE49-F238E27FC236}">
                <a16:creationId xmlns:a16="http://schemas.microsoft.com/office/drawing/2014/main" id="{8AF7CE84-0A7D-492F-BD6B-4D6647C3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38475"/>
            <a:ext cx="3714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类型 + 编码 + 上下文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44A801DE-0AFE-425D-9B57-CD84D8A4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matrix-cell-2-0">
            <a:extLst xmlns:a="http://schemas.openxmlformats.org/drawingml/2006/main">
              <a:ext uri="{FF2B5EF4-FFF2-40B4-BE49-F238E27FC236}">
                <a16:creationId xmlns:a16="http://schemas.microsoft.com/office/drawing/2014/main" id="{BF30AA99-BC2F-4A37-A31E-6F406896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2628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按策略链编码</a:t>
            </a:r>
          </a:p>
        </p:txBody>
      </p:sp>
      <p:sp>
        <p:nvSpPr>
          <p:cNvPr id="21" name="matrix-cell-2-1">
            <a:extLst xmlns:a="http://schemas.openxmlformats.org/drawingml/2006/main">
              <a:ext uri="{FF2B5EF4-FFF2-40B4-BE49-F238E27FC236}">
                <a16:creationId xmlns:a16="http://schemas.microsoft.com/office/drawing/2014/main" id="{2520EDA7-2E06-4070-98A1-939727A4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62375"/>
            <a:ext cx="424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多个步骤按配置组合执行</a:t>
            </a:r>
          </a:p>
        </p:txBody>
      </p:sp>
      <p:sp>
        <p:nvSpPr>
          <p:cNvPr id="22" name="matrix-cell-2-2">
            <a:extLst xmlns:a="http://schemas.openxmlformats.org/drawingml/2006/main">
              <a:ext uri="{FF2B5EF4-FFF2-40B4-BE49-F238E27FC236}">
                <a16:creationId xmlns:a16="http://schemas.microsoft.com/office/drawing/2014/main" id="{C76C0A05-5084-42AF-BFAD-61A2BBE7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62375"/>
            <a:ext cx="3714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策略链编码 + 完整上下文</a:t>
            </a:r>
          </a:p>
        </p:txBody>
      </p:sp>
    </p:spTree>
    <p:extLst>
      <p:ext uri="{BB962C8B-B14F-4D97-AF65-F5344CB8AC3E}">
        <p14:creationId xmlns:p14="http://schemas.microsoft.com/office/powerpoint/2010/main" val="901067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F4BA7E-DC27-443D-9AA0-13CC5FC6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新增配置或策略前先检查边界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1E187F2C-A22B-4D7D-889A-D80C476B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8D24CD69-03E7-4342-A9B7-5DB3D7D0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06 · 配置化业务与策略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01E2801-586B-4B7F-9BAF-38DD6F71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11 / 12</a:t>
            </a:r>
          </a:p>
        </p:txBody>
      </p:sp>
      <p:sp>
        <p:nvSpPr>
          <p:cNvPr id="5" name="checklist-title-0">
            <a:extLst xmlns:a="http://schemas.openxmlformats.org/drawingml/2006/main">
              <a:ext uri="{FF2B5EF4-FFF2-40B4-BE49-F238E27FC236}">
                <a16:creationId xmlns:a16="http://schemas.microsoft.com/office/drawing/2014/main" id="{3AD88B4E-0B17-4B50-9615-0B7DEA57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配置规则</a:t>
            </a:r>
          </a:p>
        </p:txBody>
      </p:sp>
      <p:sp>
        <p:nvSpPr>
          <p:cNvPr id="6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DCF69024-D5A6-4C53-9EF4-CD18DCF6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check-mark">
            <a:extLst xmlns:a="http://schemas.openxmlformats.org/drawingml/2006/main">
              <a:ext uri="{FF2B5EF4-FFF2-40B4-BE49-F238E27FC236}">
                <a16:creationId xmlns:a16="http://schemas.microsoft.com/office/drawing/2014/main" id="{5A2435CD-7A01-4921-A2A8-B07F98E6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574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8" name="check-text-0-0">
            <a:extLst xmlns:a="http://schemas.openxmlformats.org/drawingml/2006/main">
              <a:ext uri="{FF2B5EF4-FFF2-40B4-BE49-F238E27FC236}">
                <a16:creationId xmlns:a16="http://schemas.microsoft.com/office/drawing/2014/main" id="{7DB9B978-50FE-4F17-BA0B-9164F0F7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确认应放 Options、Config 配置库还是系统参数</a:t>
            </a:r>
          </a:p>
        </p:txBody>
      </p:sp>
      <p:sp>
        <p:nvSpPr>
          <p:cNvPr id="9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9C68F9FF-A04F-4166-A248-20B8AC58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check-mark">
            <a:extLst xmlns:a="http://schemas.openxmlformats.org/drawingml/2006/main">
              <a:ext uri="{FF2B5EF4-FFF2-40B4-BE49-F238E27FC236}">
                <a16:creationId xmlns:a16="http://schemas.microsoft.com/office/drawing/2014/main" id="{BB4DBFB2-5923-4A2F-B8DC-5D6C0FFB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1" name="check-text-0-1">
            <a:extLst xmlns:a="http://schemas.openxmlformats.org/drawingml/2006/main">
              <a:ext uri="{FF2B5EF4-FFF2-40B4-BE49-F238E27FC236}">
                <a16:creationId xmlns:a16="http://schemas.microsoft.com/office/drawing/2014/main" id="{A51EB3C9-E4C8-4A48-969C-53E859D2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定义作用域、默认值和缺失策略</a:t>
            </a:r>
          </a:p>
        </p:txBody>
      </p:sp>
      <p:sp>
        <p:nvSpPr>
          <p:cNvPr id="12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541E3400-4C32-4148-A006-3B6BA14C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check-mark">
            <a:extLst xmlns:a="http://schemas.openxmlformats.org/drawingml/2006/main">
              <a:ext uri="{FF2B5EF4-FFF2-40B4-BE49-F238E27FC236}">
                <a16:creationId xmlns:a16="http://schemas.microsoft.com/office/drawing/2014/main" id="{871ACD8F-583B-48B7-81A2-2F6B4633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4" name="check-text-0-2">
            <a:extLst xmlns:a="http://schemas.openxmlformats.org/drawingml/2006/main">
              <a:ext uri="{FF2B5EF4-FFF2-40B4-BE49-F238E27FC236}">
                <a16:creationId xmlns:a16="http://schemas.microsoft.com/office/drawing/2014/main" id="{3E0D4AAE-77BD-4890-80BC-CBB02379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设计缓存 key 与失效方式</a:t>
            </a:r>
          </a:p>
        </p:txBody>
      </p:sp>
      <p:sp>
        <p:nvSpPr>
          <p:cNvPr id="15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EF7E3C15-E256-4E72-8D3E-FF09211A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check-mark">
            <a:extLst xmlns:a="http://schemas.openxmlformats.org/drawingml/2006/main">
              <a:ext uri="{FF2B5EF4-FFF2-40B4-BE49-F238E27FC236}">
                <a16:creationId xmlns:a16="http://schemas.microsoft.com/office/drawing/2014/main" id="{53D80768-5827-48EE-BE39-6FB08C38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7" name="check-text-0-3">
            <a:extLst xmlns:a="http://schemas.openxmlformats.org/drawingml/2006/main">
              <a:ext uri="{FF2B5EF4-FFF2-40B4-BE49-F238E27FC236}">
                <a16:creationId xmlns:a16="http://schemas.microsoft.com/office/drawing/2014/main" id="{1CE516F2-ABC4-4F95-8998-6BF4E77B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避免通过 IConfiguration 绕过业务 Config Contract</a:t>
            </a:r>
          </a:p>
        </p:txBody>
      </p:sp>
      <p:sp>
        <p:nvSpPr>
          <p:cNvPr id="18" name="checklist-title-1">
            <a:extLst xmlns:a="http://schemas.openxmlformats.org/drawingml/2006/main">
              <a:ext uri="{FF2B5EF4-FFF2-40B4-BE49-F238E27FC236}">
                <a16:creationId xmlns:a16="http://schemas.microsoft.com/office/drawing/2014/main" id="{358C1B3B-D3FC-47E5-BBFD-620A9580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24000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策略实现</a:t>
            </a:r>
          </a:p>
        </p:txBody>
      </p:sp>
      <p:sp>
        <p:nvSpPr>
          <p:cNvPr id="19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CBAD5B80-B917-4C0D-B7B9-D5B223B4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check-mark">
            <a:extLst xmlns:a="http://schemas.openxmlformats.org/drawingml/2006/main">
              <a:ext uri="{FF2B5EF4-FFF2-40B4-BE49-F238E27FC236}">
                <a16:creationId xmlns:a16="http://schemas.microsoft.com/office/drawing/2014/main" id="{179DBD83-A6BF-4124-B8AE-0EFF8528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574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1" name="check-text-1-0">
            <a:extLst xmlns:a="http://schemas.openxmlformats.org/drawingml/2006/main">
              <a:ext uri="{FF2B5EF4-FFF2-40B4-BE49-F238E27FC236}">
                <a16:creationId xmlns:a16="http://schemas.microsoft.com/office/drawing/2014/main" id="{7EAF3892-996C-42B2-9D9E-75248121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669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策略类能被正确注册与发现</a:t>
            </a:r>
          </a:p>
        </p:txBody>
      </p:sp>
      <p:sp>
        <p:nvSpPr>
          <p:cNvPr id="22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FB099682-8938-4276-A8A3-533212BA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check-mark">
            <a:extLst xmlns:a="http://schemas.openxmlformats.org/drawingml/2006/main">
              <a:ext uri="{FF2B5EF4-FFF2-40B4-BE49-F238E27FC236}">
                <a16:creationId xmlns:a16="http://schemas.microsoft.com/office/drawing/2014/main" id="{0FC736DB-5186-4370-911C-14A4BA18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241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4" name="check-text-1-1">
            <a:extLst xmlns:a="http://schemas.openxmlformats.org/drawingml/2006/main">
              <a:ext uri="{FF2B5EF4-FFF2-40B4-BE49-F238E27FC236}">
                <a16:creationId xmlns:a16="http://schemas.microsoft.com/office/drawing/2014/main" id="{D228CE0F-9665-4479-92D9-855FDDDC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33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编码和类型与数据库配置一致</a:t>
            </a:r>
          </a:p>
        </p:txBody>
      </p:sp>
      <p:sp>
        <p:nvSpPr>
          <p:cNvPr id="25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A64D58EA-EF4C-4B97-BF8F-C7DF142D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6" name="check-mark">
            <a:extLst xmlns:a="http://schemas.openxmlformats.org/drawingml/2006/main">
              <a:ext uri="{FF2B5EF4-FFF2-40B4-BE49-F238E27FC236}">
                <a16:creationId xmlns:a16="http://schemas.microsoft.com/office/drawing/2014/main" id="{918C5AE7-0427-4721-8BAE-87710A87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909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7" name="check-text-1-2">
            <a:extLst xmlns:a="http://schemas.openxmlformats.org/drawingml/2006/main">
              <a:ext uri="{FF2B5EF4-FFF2-40B4-BE49-F238E27FC236}">
                <a16:creationId xmlns:a16="http://schemas.microsoft.com/office/drawing/2014/main" id="{4D2791ED-0376-4E21-A70D-DDCACBDB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04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调用方构造完整上下文</a:t>
            </a:r>
          </a:p>
        </p:txBody>
      </p:sp>
      <p:sp>
        <p:nvSpPr>
          <p:cNvPr id="28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C33F6605-F4ED-4E34-ABB3-E28A693C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9" name="check-mark">
            <a:extLst xmlns:a="http://schemas.openxmlformats.org/drawingml/2006/main">
              <a:ext uri="{FF2B5EF4-FFF2-40B4-BE49-F238E27FC236}">
                <a16:creationId xmlns:a16="http://schemas.microsoft.com/office/drawing/2014/main" id="{5BC79214-812F-4036-9891-11ABF3F9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576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30" name="check-text-1-3">
            <a:extLst xmlns:a="http://schemas.openxmlformats.org/drawingml/2006/main">
              <a:ext uri="{FF2B5EF4-FFF2-40B4-BE49-F238E27FC236}">
                <a16:creationId xmlns:a16="http://schemas.microsoft.com/office/drawing/2014/main" id="{48284D1C-B58B-4B91-9DF2-C9C90097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672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策略失败有明确结果、日志和事务处理</a:t>
            </a:r>
          </a:p>
        </p:txBody>
      </p:sp>
    </p:spTree>
    <p:extLst>
      <p:ext uri="{BB962C8B-B14F-4D97-AF65-F5344CB8AC3E}">
        <p14:creationId xmlns:p14="http://schemas.microsoft.com/office/powerpoint/2010/main" val="12737242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1AEAB8-7498-4912-9288-F138FF3B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复盘小测：把结论说出来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1C9AEFE1-EAA4-44ED-BF06-A1452A94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7085950F-D366-41BB-B6B0-5D8F2D8B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06 · 配置化业务与策略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E1DACD7-982C-4938-BBE2-BD09ACC9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12 / 12</a:t>
            </a:r>
          </a:p>
        </p:txBody>
      </p:sp>
      <p:sp>
        <p:nvSpPr>
          <p:cNvPr id="5" name="quiz-questions">
            <a:extLst xmlns:a="http://schemas.openxmlformats.org/drawingml/2006/main">
              <a:ext uri="{FF2B5EF4-FFF2-40B4-BE49-F238E27FC236}">
                <a16:creationId xmlns:a16="http://schemas.microsoft.com/office/drawing/2014/main" id="{CFC50629-2320-45D7-8312-A6ACE2E0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68580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01  数据库连接串和是否允许混批分别应该放在哪里？
02  配置缓存 key 为什么必须包含作用域？
03  业务代码为什么不应该自己拼接单号？
04  调用策略时为什么要通过 IPolicyEngine？</a:t>
            </a:r>
          </a:p>
        </p:txBody>
      </p:sp>
      <p:sp>
        <p:nvSpPr>
          <p:cNvPr id="6" name="next-panel">
            <a:extLst xmlns:a="http://schemas.openxmlformats.org/drawingml/2006/main">
              <a:ext uri="{FF2B5EF4-FFF2-40B4-BE49-F238E27FC236}">
                <a16:creationId xmlns:a16="http://schemas.microsoft.com/office/drawing/2014/main" id="{033599D0-F3CA-422B-B0DF-41B52733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24000"/>
            <a:ext cx="38862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next-title">
            <a:extLst xmlns:a="http://schemas.openxmlformats.org/drawingml/2006/main">
              <a:ext uri="{FF2B5EF4-FFF2-40B4-BE49-F238E27FC236}">
                <a16:creationId xmlns:a16="http://schemas.microsoft.com/office/drawing/2014/main" id="{39600C97-2535-467C-A3E0-7BE9E499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</a:t>
            </a:r>
          </a:p>
        </p:txBody>
      </p:sp>
      <p:sp>
        <p:nvSpPr>
          <p:cNvPr id="8" name="next-body">
            <a:extLst xmlns:a="http://schemas.openxmlformats.org/drawingml/2006/main">
              <a:ext uri="{FF2B5EF4-FFF2-40B4-BE49-F238E27FC236}">
                <a16:creationId xmlns:a16="http://schemas.microsoft.com/office/drawing/2014/main" id="{E904ACBA-805A-49BD-BEB7-C3FF37A4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3238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下一讲转向接口接入与安全：API 契约、鉴权、License 和登录密码。</a:t>
            </a:r>
          </a:p>
        </p:txBody>
      </p:sp>
      <p:sp>
        <p:nvSpPr>
          <p:cNvPr id="9" name="answer-hint">
            <a:extLst xmlns:a="http://schemas.openxmlformats.org/drawingml/2006/main">
              <a:ext uri="{FF2B5EF4-FFF2-40B4-BE49-F238E27FC236}">
                <a16:creationId xmlns:a16="http://schemas.microsoft.com/office/drawing/2014/main" id="{0AE0AB70-3136-43A8-91F2-F0B511D7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答案与延伸阅读已放入讲师备注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4CE40FD5-72C8-4338-B659-B922B3B6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685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配置与策略的价值，是让变化可治理，而不是让规则失去边界。</a:t>
            </a:r>
          </a:p>
        </p:txBody>
      </p:sp>
    </p:spTree>
    <p:extLst>
      <p:ext uri="{BB962C8B-B14F-4D97-AF65-F5344CB8AC3E}">
        <p14:creationId xmlns:p14="http://schemas.microsoft.com/office/powerpoint/2010/main" val="9132042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2026-07-10T03:40:06.5220000Z</dcterms:created>
  <dcterms:modified xsi:type="dcterms:W3CDTF">2026-07-10T03:40:06.5220000Z</dcterms:modified>
</coreProperties>
</file>